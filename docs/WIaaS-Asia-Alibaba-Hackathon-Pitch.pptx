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d3e8945c74d05" /><Relationship Type="http://schemas.openxmlformats.org/officeDocument/2006/relationships/extended-properties" Target="/docProps/app.xml" Id="Rd3568f4c69974bd0" /><Relationship Type="http://schemas.openxmlformats.org/officeDocument/2006/relationships/officeDocument" Target="/ppt/presentation.xml" Id="R53fbea53e43e4c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878b1b2b594aa5"/>
  </p:sldMasterIdLst>
  <p:notesMasterIdLst>
    <p:notesMasterId xmlns:r="http://schemas.openxmlformats.org/officeDocument/2006/relationships" r:id="R48cdc3b320564d9b"/>
  </p:notesMasterIdLst>
  <p:sldIdLst>
    <p:sldId xmlns:r="http://schemas.openxmlformats.org/officeDocument/2006/relationships" id="256" r:id="Raff99a747ad34f5a"/>
    <p:sldId xmlns:r="http://schemas.openxmlformats.org/officeDocument/2006/relationships" id="257" r:id="R66dcde6bbf6c432e"/>
    <p:sldId xmlns:r="http://schemas.openxmlformats.org/officeDocument/2006/relationships" id="258" r:id="R462cc406f9484bdc"/>
    <p:sldId xmlns:r="http://schemas.openxmlformats.org/officeDocument/2006/relationships" id="259" r:id="Rc18ca38a6dd14dad"/>
    <p:sldId xmlns:r="http://schemas.openxmlformats.org/officeDocument/2006/relationships" id="260" r:id="Ra1283ed9a0f5480f"/>
    <p:sldId xmlns:r="http://schemas.openxmlformats.org/officeDocument/2006/relationships" id="261" r:id="Rd668caa9ee0744d5"/>
    <p:sldId xmlns:r="http://schemas.openxmlformats.org/officeDocument/2006/relationships" id="262" r:id="R8591a4340ad841c8"/>
    <p:sldId xmlns:r="http://schemas.openxmlformats.org/officeDocument/2006/relationships" id="263" r:id="R7ef8452e529e43dc"/>
    <p:sldId xmlns:r="http://schemas.openxmlformats.org/officeDocument/2006/relationships" id="264" r:id="R7dd2096e9cb74f36"/>
    <p:sldId xmlns:r="http://schemas.openxmlformats.org/officeDocument/2006/relationships" id="265" r:id="R53b1f588440245d6"/>
    <p:sldId xmlns:r="http://schemas.openxmlformats.org/officeDocument/2006/relationships" id="266" r:id="Rb3b02a0c8c8242e4"/>
    <p:sldId xmlns:r="http://schemas.openxmlformats.org/officeDocument/2006/relationships" id="267" r:id="R9c0d181a2c2946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6b2d20fbb64045" /><Relationship Type="http://schemas.openxmlformats.org/officeDocument/2006/relationships/slideMaster" Target="/ppt/slideMasters/slideMaster1.xml" Id="Rf1878b1b2b594aa5" /><Relationship Type="http://schemas.openxmlformats.org/officeDocument/2006/relationships/notesMaster" Target="/ppt/notesMasters/notesMaster1.xml" Id="R48cdc3b320564d9b" /><Relationship Type="http://schemas.openxmlformats.org/officeDocument/2006/relationships/presProps" Target="/ppt/presProps.xml" Id="R64acf26c42c941e1" /><Relationship Type="http://schemas.openxmlformats.org/officeDocument/2006/relationships/tableStyles" Target="/ppt/tableStyles.xml" Id="R854b37abcfe241e5" /><Relationship Type="http://schemas.openxmlformats.org/officeDocument/2006/relationships/slide" Target="/ppt/slides/slide1.xml" Id="Raff99a747ad34f5a" /><Relationship Type="http://schemas.openxmlformats.org/officeDocument/2006/relationships/slide" Target="/ppt/slides/slide2.xml" Id="R66dcde6bbf6c432e" /><Relationship Type="http://schemas.openxmlformats.org/officeDocument/2006/relationships/slide" Target="/ppt/slides/slide3.xml" Id="R462cc406f9484bdc" /><Relationship Type="http://schemas.openxmlformats.org/officeDocument/2006/relationships/slide" Target="/ppt/slides/slide4.xml" Id="Rc18ca38a6dd14dad" /><Relationship Type="http://schemas.openxmlformats.org/officeDocument/2006/relationships/slide" Target="/ppt/slides/slide5.xml" Id="Ra1283ed9a0f5480f" /><Relationship Type="http://schemas.openxmlformats.org/officeDocument/2006/relationships/slide" Target="/ppt/slides/slide6.xml" Id="Rd668caa9ee0744d5" /><Relationship Type="http://schemas.openxmlformats.org/officeDocument/2006/relationships/slide" Target="/ppt/slides/slide7.xml" Id="R8591a4340ad841c8" /><Relationship Type="http://schemas.openxmlformats.org/officeDocument/2006/relationships/slide" Target="/ppt/slides/slide8.xml" Id="R7ef8452e529e43dc" /><Relationship Type="http://schemas.openxmlformats.org/officeDocument/2006/relationships/slide" Target="/ppt/slides/slide9.xml" Id="R7dd2096e9cb74f36" /><Relationship Type="http://schemas.openxmlformats.org/officeDocument/2006/relationships/slide" Target="/ppt/slides/slide10.xml" Id="R53b1f588440245d6" /><Relationship Type="http://schemas.openxmlformats.org/officeDocument/2006/relationships/slide" Target="/ppt/slides/slide11.xml" Id="Rb3b02a0c8c8242e4" /><Relationship Type="http://schemas.openxmlformats.org/officeDocument/2006/relationships/slide" Target="/ppt/slides/slide12.xml" Id="R9c0d181a2c29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f7b1134f640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d874d65d0f48c0" /><Relationship Type="http://schemas.openxmlformats.org/officeDocument/2006/relationships/notesMaster" Target="/ppt/notesMasters/notesMaster1.xml" Id="R31c1d590a4a049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e0adc377d743f7" /><Relationship Type="http://schemas.openxmlformats.org/officeDocument/2006/relationships/notesMaster" Target="/ppt/notesMasters/notesMaster1.xml" Id="R45d590c7abbb4e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b309eab34045e7" /><Relationship Type="http://schemas.openxmlformats.org/officeDocument/2006/relationships/notesMaster" Target="/ppt/notesMasters/notesMaster1.xml" Id="R99a1d3978f764d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ee24ca12ac41a0" /><Relationship Type="http://schemas.openxmlformats.org/officeDocument/2006/relationships/notesMaster" Target="/ppt/notesMasters/notesMaster1.xml" Id="Rd9ac5835970841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a383afa0b74f0f" /><Relationship Type="http://schemas.openxmlformats.org/officeDocument/2006/relationships/notesMaster" Target="/ppt/notesMasters/notesMaster1.xml" Id="Rfefa62b1a91f4b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7e05a172a403e" /><Relationship Type="http://schemas.openxmlformats.org/officeDocument/2006/relationships/notesMaster" Target="/ppt/notesMasters/notesMaster1.xml" Id="R5f462004127d41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b708a8cd674745" /><Relationship Type="http://schemas.openxmlformats.org/officeDocument/2006/relationships/notesMaster" Target="/ppt/notesMasters/notesMaster1.xml" Id="R2dc2ea08582142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932c613b8f4d62" /><Relationship Type="http://schemas.openxmlformats.org/officeDocument/2006/relationships/notesMaster" Target="/ppt/notesMasters/notesMaster1.xml" Id="Ra868e513ac9f4a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1da7a552554e07" /><Relationship Type="http://schemas.openxmlformats.org/officeDocument/2006/relationships/notesMaster" Target="/ppt/notesMasters/notesMaster1.xml" Id="R15874a992c6847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e55de3856a4933" /><Relationship Type="http://schemas.openxmlformats.org/officeDocument/2006/relationships/notesMaster" Target="/ppt/notesMasters/notesMaster1.xml" Id="Rab3814b13a0340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203efee85e435c" /><Relationship Type="http://schemas.openxmlformats.org/officeDocument/2006/relationships/notesMaster" Target="/ppt/notesMasters/notesMaster1.xml" Id="R4176dffcddbb48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07299cbc384fb4" /><Relationship Type="http://schemas.openxmlformats.org/officeDocument/2006/relationships/notesMaster" Target="/ppt/notesMasters/notesMaster1.xml" Id="R52fc38adfd1a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264bc10a343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3735bdbf9f4e5d" /><Relationship Type="http://schemas.openxmlformats.org/officeDocument/2006/relationships/slideLayout" Target="/ppt/slideLayouts/slideLayout1.xml" Id="Rfd6e680277454d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6e680277454d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a8b2acd384c6f" /><Relationship Type="http://schemas.openxmlformats.org/officeDocument/2006/relationships/notesSlide" Target="/ppt/notesSlides/notesSlide1.xml" Id="R068d5ae636d6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1acf8e0334b3d" /><Relationship Type="http://schemas.openxmlformats.org/officeDocument/2006/relationships/notesSlide" Target="/ppt/notesSlides/notesSlide2.xml" Id="R1ccffdf88758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563ca9871431e" /><Relationship Type="http://schemas.openxmlformats.org/officeDocument/2006/relationships/notesSlide" Target="/ppt/notesSlides/notesSlide3.xml" Id="Ra885ae3dc20e4e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912a232e44abc" /><Relationship Type="http://schemas.openxmlformats.org/officeDocument/2006/relationships/image" Target="/ppt/media/image.png" Id="R89ccaae77c77482d" /><Relationship Type="http://schemas.openxmlformats.org/officeDocument/2006/relationships/notesSlide" Target="/ppt/notesSlides/notesSlide4.xml" Id="Rfd16358b2edb49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c8165907b45b0" /><Relationship Type="http://schemas.openxmlformats.org/officeDocument/2006/relationships/notesSlide" Target="/ppt/notesSlides/notesSlide5.xml" Id="Rcd02f584896046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6fa5e6f444e2c" /><Relationship Type="http://schemas.openxmlformats.org/officeDocument/2006/relationships/notesSlide" Target="/ppt/notesSlides/notesSlide6.xml" Id="R98558a7773d847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4e15347254ad0" /><Relationship Type="http://schemas.openxmlformats.org/officeDocument/2006/relationships/notesSlide" Target="/ppt/notesSlides/notesSlide7.xml" Id="R9aa315de368e45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860a88f074516" /><Relationship Type="http://schemas.openxmlformats.org/officeDocument/2006/relationships/notesSlide" Target="/ppt/notesSlides/notesSlide8.xml" Id="Rad1df52a887a4a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c3f2b620b4ed4" /><Relationship Type="http://schemas.openxmlformats.org/officeDocument/2006/relationships/notesSlide" Target="/ppt/notesSlides/notesSlide9.xml" Id="R70d3962e9c794c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f422622474181" /><Relationship Type="http://schemas.openxmlformats.org/officeDocument/2006/relationships/notesSlide" Target="/ppt/notesSlides/notesSlide10.xml" Id="Re5c2d235a51443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74e364f904179" /><Relationship Type="http://schemas.openxmlformats.org/officeDocument/2006/relationships/notesSlide" Target="/ppt/notesSlides/notesSlide11.xml" Id="Reb694d2354074b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2c71ca864244" /><Relationship Type="http://schemas.openxmlformats.org/officeDocument/2006/relationships/notesSlide" Target="/ppt/notesSlides/notesSlide12.xml" Id="Rfe36923da52b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DE27D-E331-47D1-A7A5-2CF81A28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8B4B6-A728-4E69-AAB7-7AA52DB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FIELD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24667-0F0D-463B-9AFD-227A8402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00 · ALIBABA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1C6C8-BECC-427B-B074-1C4662AD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WEATHER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C6DF5-38B6-4F4C-9D5B-B14D0E40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514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6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WIaaS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D08B6-8699-46EF-9823-A9B86FE0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0" i="1">
                <a:solidFill>
                  <a:srgbClr val="6E675E"/>
                </a:solidFill>
                <a:latin typeface="Georgia"/>
                <a:ea typeface="Georgia"/>
                <a:cs typeface="Georgia"/>
              </a:defRPr>
            </a:pPr>
            <a:r>
              <a:rPr sz="2250" b="0" i="1">
                <a:solidFill>
                  <a:srgbClr val="6E675E"/>
                </a:solidFill>
                <a:latin typeface="Georgia"/>
                <a:ea typeface="Georgia"/>
                <a:cs typeface="Georgia"/>
              </a:rPr>
              <a:t>Weather Intelligence as a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07809-912F-435F-BC2B-A521786C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A pan-Asian decision layer that turns weather signals into clear action for farms, grids, logistics teams, and crisis operators.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886C2-C599-4383-A565-758659BA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EC888-063A-45C1-BF52-148B226A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ALIBABA HACKATHON · TWO AGENTS · ASIA-ONLY OPERATING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3697A-4B8C-4019-AFCB-B87710A8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4EB98-14A5-4FF1-8C98-0C5A8F8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71650"/>
            <a:ext cx="1314450" cy="1314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289EA-86F8-4FF4-959C-BABFC3AE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5E"/>
          </a:solidFill>
          <a:ln xmlns:a="http://schemas.openxmlformats.org/drawingml/2006/main" w="0">
            <a:solidFill>
              <a:srgbClr val="6E67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623DD-2E4F-44D3-8FA4-4E0511D0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752600"/>
            <a:ext cx="171450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A69E9-25C0-490D-89ED-7432C76B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24150"/>
            <a:ext cx="171450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675E"/>
          </a:solidFill>
          <a:ln xmlns:a="http://schemas.openxmlformats.org/drawingml/2006/main" w="0">
            <a:solidFill>
              <a:srgbClr val="6E67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1E786-281E-46CD-9A7E-2F67A7AC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380F3-E1A2-431D-B0B0-88913432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824078-405E-436A-A9F4-AB773CF4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5305517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BFE05-957B-4619-896A-B8984DE1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CD106-47EF-49CF-86C7-ADF1904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EDD9E-203D-4228-B59B-F617A12F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81A64-789F-456A-8E63-99ECAB05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ED5D2-21A8-476A-BE2B-242EE2EE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88F60-2CA1-4ED9-9D61-D8B69E0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DIAGNOSTICS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ABE7E-FE66-4754-90A0-8E2C56D9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The operational disconnect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9BBF5-546B-48D6-B3A2-21CD0C9F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238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FE96B-1194-455D-A53E-4A15ECFF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E6EDF-292B-46CB-B923-E4FEB0D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AA79B-5C5C-483B-9312-9F7693DF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FORECASTS STOP AT 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EEDFC-D56E-4726-AC71-7D88193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481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6C797-0826-4B1A-8643-88F27334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4819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A temperature, humidity, or rain probability is useful only after an operator translates it into a decision. That translation still happens manually across agriculture, energy, transport, and emergency desks.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41CB5-D011-4B3E-B3CE-931A7CD6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543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50AEA-D62B-4F44-9073-6998B0B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4075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0528A-B606-4285-BEFC-05CA343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79246-0B68-4F5F-923C-5360176D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512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ASIA COMPOUNDS THE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770D1-F0A7-4580-B913-D627AD0A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47975"/>
            <a:ext cx="512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BF790-0C51-451A-9C25-77A68FBC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5124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Monsoon rain, coastal humidity, heat domes, typhoon corridors, and mountain runoff can affect the same city in different ways. A single regional view needs local context, not one global average.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E2040-42C4-4765-9F0F-CAB2B1E0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The gap is operational, not informational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80239-6720-42D7-8BFC-F91164D7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2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WIaaS Asia closes that gap by keeping calculations deterministic and using language models only when interpretation or action planning is needed.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2EA1A-7C07-48F1-AE14-9E52462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98176-D947-4E5F-924F-5BBC1E13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85C63-302A-4F1E-80E1-8FDA01E1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9382642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26A34-E85C-48CF-B9CC-AAEEA190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53F4B-7E92-45D9-8BC4-51F18776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7DDA6-1A2B-48C4-998F-BCE27A8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47B8E-8B31-4742-8772-8A01FABE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27F23-F5A8-44B3-A9A1-D90F5F8F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58841-FD96-4F06-B8EA-1F501E0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RESPONSE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CAD31-DFBF-4CED-A59D-ABEB4A2C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A decision layer for Asian weather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73232-FFE1-48B0-B02E-ACD66C17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22AF4-D5E6-4B87-AFB3-26B435C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The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3A7F9-D9F0-4442-A39D-547E1CAB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FastAPI computes the physical state. Two n8n decision graphs interpret that state and return a structured answer that people can act 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1B199-2DE1-4166-AD9D-24B9A514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8BF55-A0F5-447B-95FC-6EDD6A00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526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Action over observation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8E7A3-F694-4BF2-9FBD-191B9D0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The operator can ask for a metric, a sector plan, a research summary, or a threat assessment. The response keeps the selected city and its evidence in 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27FFB-81C8-41B9-AA08-68EB01CC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09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98080-FF0F-4797-B7C6-436EE2AC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DATA INGEST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F7244-F65C-49B6-867F-342C92C4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B5A9D-2DE4-4119-8AE6-3A337C50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95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726C4-DF22-4A83-AABC-3B34D4F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48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PHYSICS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8FD9C-6DDE-4115-A165-DE489A2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434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B50F2-5FD8-4679-B130-3DAAF8B9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695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C6DE6-FE22-4A6E-B7A9-3E0B71FC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DECISION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6A19D-C228-48FC-979F-9912AE24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59F1C-C0B4-4776-AAFF-04B6B2CC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95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97EED-0049-4EA1-8FCA-CF149E41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48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FIELD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50D43-2B3B-4BC2-BC12-E6134937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VPD, wet-bulb, heat index, grid headroom, water loss, fuel reserve, radar and wind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986EA-26D5-4733-8CD6-A2C9F7C0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7E1B1B-46B4-40FE-820B-C93B2A84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D41C0A-62CC-4192-BC7C-C3A5F368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3516261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E16393-846E-4C73-8219-3A293616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41C76-E41F-42E1-8F2E-B19EFC54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B3AA9-F352-4E54-BDC8-7BFAFC2A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C002B-D607-4274-9637-6933398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45151-A1A3-4741-A760-1F03C8D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08FA0-B05E-4BB1-81A4-6798734B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OPERATOR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680D8-A08E-453C-9ED9-D784B83A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One screen, four kinds of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14859-F19E-4CBB-AA35-A00D484B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53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Select a country or city, then inspect the same location through map layers and conversational guidance.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caae77c77482d"/>
          <a:srcRect xmlns:a="http://schemas.openxmlformats.org/drawingml/2006/main" l="331" t="0" r="3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334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B249D-E268-4DDB-B18C-9ECAC35C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2571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7F763-A6CC-4E0D-A313-AFA4D3F4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641CF-DEF8-46F5-95E8-6970F02E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27272-0EF4-4D54-A56D-969884F8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THERMAL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D3BBA-079C-4DC2-8D98-0A3635D3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974BC-2277-4ABC-AA84-A2DF5A6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City-level heat bands expose urban stress and cooler buffers.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63C45-94E6-407B-8C2E-FC63140B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2571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F8D48-4F35-4976-B89C-47E158D1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29641-1353-4572-ABEE-89503346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DE207-AF5B-48AD-898E-C5B71CAA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RAIN RADAR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AAC97-912E-40BA-B2FC-DFFC15D2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3ACC0-D5A5-474D-8BC0-B31DAF95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Localized circles show where precipitation is most likely.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36108E-1989-4561-9558-00784A65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90992-3D95-4B99-9C44-7E9A37FA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C9F8A-194E-4E25-AC93-BCB9786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66878-2BBC-4595-A74D-46BB42F3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E4D1A4-5EAB-4E7C-BDEA-3ABE6E5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9D"/>
          </a:solidFill>
          <a:ln xmlns:a="http://schemas.openxmlformats.org/drawingml/2006/main" w="0">
            <a:solidFill>
              <a:srgbClr val="167C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BFA6BB-3DB9-416D-9166-8998743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Direction and speed stay tied to the selected place.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03474-61BB-4F47-9B85-A42AA6A2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46723-E65F-440E-B492-0325B918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F67FA-26C1-482A-B889-42F29171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67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34F09-F5CF-4262-963E-149F03F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768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061AF3-E69E-4C01-ACF3-20280E37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625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989441-B77C-431F-83A0-11DF08C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959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61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English and Urdu input and playback keep the interface accessible.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A824E-7392-4B94-BA93-BFD4B6B3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Product UI shown from the current WIaaS Asia build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D70BD-9D4D-46E7-967A-DF5B40A1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B9258F-77D0-4975-AE10-7F1F852F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A50952-66CA-4315-A79E-5993ECA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8252508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819D03-8CA7-4120-BD12-89A07C1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03A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C316F-BF38-4414-9A24-8E49B3B5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2E2CC-2816-4C8C-8BE2-4BB2BB4C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6CA46-6F8A-4CAA-A1C4-2CB98C4F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7C7AA-4291-4296-ABC0-27C10F83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0C491-93F6-4A43-807C-40992C03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TOKEN ECONOMY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41FF7-5122-4F56-B7A2-C852D98A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Token-efficient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9CC2A-3C32-484D-B66E-E515DC5F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1087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2B9D2-1E0B-47BC-AF95-4B0256C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08901-2272-44AB-B2B5-1889698E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3640F-B7C5-4FFB-956F-77A36F5C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716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Operating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E72FC-4564-4551-9440-B560DA2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431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Rules, APIs, and memory handle predictable work first. The model is called for interpretation, correlation, or action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B8353-1F11-4C56-BF1D-620C422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9D047-C37E-48DF-B02B-729E62C8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60768-18BD-44B6-9909-732F11D3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03316-C4E4-4055-8596-FA43B488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DETERMINISTIC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74217-0892-49AE-AF3C-A30518A3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36C38-3E06-4370-BEED-A8A7829D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Intent routing separates greetings, FAQs, direct metrics, and full analysis. The fast path answers predictable requests without spending a model call.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93D66-0D5D-4E50-ABB0-409949EB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289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2CF9D-7043-4602-9BFE-26EC9CE6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46468-5C9C-4910-84A7-84DB05E0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49A3B-F151-4AC9-A421-D37CD5B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CONTEXT COMPRESSION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0CC69C-4E2E-41B9-A13A-5C490F37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F2199-6BC2-4FC8-AA70-7CFF4408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Backend payloads become a compact state vector. Each specialist sees only task-relevant fields, and telemetry is reused from short-lived caches.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79D81E-1AD6-424D-BFCE-687FFB1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FB04A-A31C-4864-BBE1-134B52AD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AAD63-8077-4C7A-BDF1-0713BD68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3FF18C-88D3-4C0D-93BE-653C4E1F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OUTPUT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B169A8-4682-492A-A560-26186243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9C2ED9-1FD4-4CD4-B01C-4DD3346B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Strict response fields keep parsing stable. When evidence is missing, the workflow returns a safe limitation instead of inventing certainty.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F66E9-C91E-4B34-A8DD-176B641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6E80F6-7849-4205-8891-2A675B2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0475EC-7C3B-4A08-9632-0547F2A5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63A794-9826-4250-A58D-DB4BF99E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911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056E41-00FE-4830-8915-62BE3E2C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62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6DA874-D498-48FD-B95F-CD0A263A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0C31B4-2BA3-4FB3-8AA5-78B443BA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5911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B0E51-90E3-4FC0-907A-9858AB94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62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COMPACT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078827-197B-45F8-8124-553B4133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F3A4AA-C0FC-4537-9B13-FFF40EE6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5911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40244B-8CB0-4E4A-802E-707CBFB2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62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ONLY REQUIRED AGENT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5F420A-A0C4-4A07-903B-7D8FEB16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388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B88D3B-A341-41D1-9402-5857E506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5911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F009C6-775A-4DA2-9751-83CDB77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STRUCTURED RESPONSE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DF5D8A-C044-44B9-A290-5036E203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FBF0A8-FAA4-4891-B333-F2E5EDDF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04178B-EC2C-4C66-BE3E-E6CEC269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9745577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687920-4D8B-4F3F-8911-9AD67807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03B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8DEB2-FDF3-4B54-8AAE-BD79BAF0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83CC2-56B9-4D25-9ED4-958A374D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9A845-F741-44EC-880D-F6228A96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B061C-12E1-4290-ABB8-3780F407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3C7CF-7CF4-476D-AA50-C67C67B3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WORKFLOW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1C0DF-505C-4832-A55D-458CD915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WIaaS operational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C40F5-AA38-4D9A-810F-9D222AEF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One workflow coordinates the operational domains that must agree on the same weather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C4337-B426-4EC3-8AF0-6584D911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430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58 NODES IN CURRENT EXPORT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A484A-2DE4-479E-9902-50C9996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0EE4B-9C1C-4B27-96B0-194B1131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D050F-6459-4C76-A4F0-F514E90F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Webhook, message, session, region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EE2E2-A8E0-4256-AA18-FA0B9C2C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A9885-ED2F-4C1D-BF61-5891FAF1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97D11-E4C0-4878-B78C-1FDBC9A3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1F5E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2E6C2-F596-4B26-A50B-A85DDDF6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051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AC9D9-C275-417D-8827-88446A6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81325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Region resolver, intent router, fast or deep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66C11-67C4-40EE-AEE9-938E4E24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7E7E5-B85D-4BCE-9F56-5B289E5E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906CC-5393-47B8-A646-44D6591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167C9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E6DAE-C54D-434F-8941-136DAF16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051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7C9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AECCF-1743-475D-916E-741F533C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81325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Telemetry, climate matrix, ledger, cached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249C6-56B6-4317-99C6-1D877A4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9D"/>
          </a:solidFill>
          <a:ln xmlns:a="http://schemas.openxmlformats.org/drawingml/2006/main" w="0">
            <a:solidFill>
              <a:srgbClr val="167C9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9A4E0-A2BB-46B1-99F6-3C6EA075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7C9D"/>
          </a:solidFill>
          <a:ln xmlns:a="http://schemas.openxmlformats.org/drawingml/2006/main" w="0">
            <a:solidFill>
              <a:srgbClr val="167C9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9F885-7965-49F6-A403-8A7E1B6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287A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5C0F0-BC83-4B68-B5BF-0D796916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A5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87A57"/>
                </a:solidFill>
                <a:latin typeface="Arial"/>
                <a:ea typeface="Arial"/>
                <a:cs typeface="Arial"/>
              </a:rPr>
              <a:t>Specialists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57CDE-B0DB-4C9C-90A3-02017427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Research, Agriculture, Grid, Logistics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E4538-7252-4022-A62C-3DCBD063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385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73A092-633E-4A01-B649-40ACA6E0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A269D4-B289-4385-ABDB-F2A79985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71750"/>
            <a:ext cx="1104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31FA1-D6EA-498F-9AD2-5A69972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05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57B8A-4D10-40C4-903C-54A9718C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81325"/>
            <a:ext cx="87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Chat or full 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2F53AF-B6EC-48FC-9907-DEBC08E6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087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CEA94E-9A38-4DED-8FDF-00977183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WHAT IT RETURNS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274721-2FB0-49E0-A772-29EE9DCC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8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A single answer can carry the selected region, exact metrics, sector interpretation, one prioritized action, a research summary, and a clear evidence boundary.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68E75-8723-4AA9-B448-922C24AE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FBEB2-964E-4217-8DEA-586C8116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E4D747-3F10-42D5-987E-B6DA787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3363177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53B3B1-7EFF-4CA5-9C3F-4D6CAC47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03C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B2777-DFCE-4B5E-88C0-86DFBD9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34DB-078B-4413-ACC9-4F11C198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900C8-F79D-422C-BAC8-2111AF5A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6A91B-9877-44E3-AA41-9A47F452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9D093-7F7A-415E-B1C0-832F67C1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WORKFLOW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61F14-5487-4433-BE69-51DDB723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CrisisLens threat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14396-61F2-4F0C-8BA0-A422F8ED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CrisisLens focuses the same regional context on multi-hazard evidence, severity, and safe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14E85-61D3-432A-A5D5-A57841B2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430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B23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23A2B"/>
                </a:solidFill>
                <a:latin typeface="Arial"/>
                <a:ea typeface="Arial"/>
                <a:cs typeface="Arial"/>
              </a:rPr>
              <a:t>47 NODES IN CURRENT EXPORT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02699-A9A8-49DD-84D4-2D9DC2A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857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63881-5E6E-40A5-9927-933ECC36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628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Input +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8A40A-4BD5-49EB-8A6C-47978693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628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Message, user state, previous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C14E4-EADE-4C0B-967F-E1C15DA8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385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A3FD3-FC5B-44FA-AA5B-9EA940BA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9C3EA-E3B1-49FD-B9B7-76B63E19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71750"/>
            <a:ext cx="1857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1F5E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3FA3B-5630-4718-9C1B-241DBB36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05100"/>
            <a:ext cx="1628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Geo +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57499-F2BE-4EBB-93C7-45198C01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981325"/>
            <a:ext cx="1628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Resolve city, coordinates, intent and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84796-6D32-4A2D-9AA7-3524D53E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CFA04-F7B6-4721-AD9F-D0383424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D96A6-6A41-4913-BB2E-8A387AA0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1857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B23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10447-B987-4E61-9ECD-5D81B3DD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628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3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23A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E555A-0BF1-4FAB-BB5C-D824C7B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81325"/>
            <a:ext cx="1628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Open-Meteo, GDACS, FIRMS, GDELT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ED847-7C8E-4BC0-B846-A2940130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385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solidFill>
              <a:srgbClr val="B23A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D20FB-2844-4351-AD62-036538C6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solidFill>
              <a:srgbClr val="B23A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1A978-F50A-4686-972C-F1399FF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71750"/>
            <a:ext cx="1857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287A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A1AF3-7EA4-40BE-B4B8-8BC42885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05100"/>
            <a:ext cx="1628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A5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87A57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28AFB4-C9F4-4D76-99EA-AC49D98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81325"/>
            <a:ext cx="1628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Correlate severity, confidence and stakeholders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CE853-8A35-44FC-A18C-8476B0FB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62EFF-0E8D-4EF8-9894-0650563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FF17D-B399-4BED-889D-58949742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1600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41440-BAFC-4710-84CC-39A1AE98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05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Safety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C449F5-0F4E-4656-9055-14C16878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81325"/>
            <a:ext cx="137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Actions, limits, source list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860380-9E7D-470D-8CD2-B30065DA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430DFD-0EDB-4427-B243-49A6C38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6F94E-0AB5-4881-A35A-12653D27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1277B3-EA1D-4136-ADC5-CE4B80E4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HAZARD COVERAGE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A4B6A7-970A-4E70-A7F8-EFDAEFED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solidFill>
              <a:srgbClr val="B23A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E8C8BF-32DC-452D-97E7-7DDAED43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Heat, flood, wildfire, cyclone, earthquake and other alerts when evidence supports them.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BD6065-EA7D-4843-AEEB-3D73908D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143D6-463F-4981-8DB4-15C835EA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05325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42D234-FA1F-4DE5-88DA-DD53077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243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049222-4DA3-451E-BD74-530D260F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339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CAUTION BY DESIGN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4CEBD7-A7AB-4473-846B-CCC88558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19675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9846E8-AAF0-4ECB-B1E1-4C4A3311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5302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Separates observed signals from inference and keeps uncertainty visible.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49B9DF-DF44-4BDD-97B5-E4DA83F8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C297A6-2937-45E2-B567-151A93DA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05325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FD952A-F4EC-4404-ABEE-E4775400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243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8AB7F7-1CCD-4E48-BE65-50E19922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FOLLOW-UP REUSE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913236-86E6-420F-92F4-DA0FB5E2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9675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36533A-0F32-4A0A-AADB-0D4CA36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5302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Cached severity and evidence paths reduce repeated work in the same session.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EB4187-7BDF-47F8-9A86-B6FABCFD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3980A2-408B-4A20-98E0-800CFA8E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ABF4CF-2743-466E-A1AD-A1A908B2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711024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A768A9-8A1B-4FB4-8720-6E6657CD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1A5B2-8A33-43C1-8244-A1FAF1E7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B172F-6DF6-4C07-A20A-09934D40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70401-67CA-4F40-8664-F32E3985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961B6-22BC-460F-881D-9B81F3B9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2DB28-F85E-4E93-B497-AE58CA1C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REGIONAL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9248E-34A9-42CA-B2CA-EF95877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Asia-wide coverage with local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BA8E8-DC47-4FE7-ACD0-DCD55AFA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4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The registry stores 29 Asian countries and 67 regional or microclimate profiles. The same engine can move from a continental view to a city-level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6E778-6B64-4F19-A490-4A57A868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14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D0224-9761-43A6-9670-3A17E6B4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South Asia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02013-485C-42FF-8668-5DEF437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Pakistan, India, Bangladesh, Nepal, Sri Lanka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CBEC4-7743-47FD-9CA4-32552B12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heat domes, monsoon runoff, coastal humidity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9C306-338F-435C-AF02-B351E160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9778A-7660-4FBA-87BE-D3B7AE0E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East Asia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47D15-A118-4468-8AC9-34D8D7C5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China, Japan, Korea, Mongolia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52989-BBFD-42FF-BF8A-11932496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194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typhoon wind, urban heat, continental extremes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E2FFE-7F07-47A9-9B33-0806749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95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86692-3045-41FF-B8E4-BC0116C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Southeast Asia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0B2BD-4D5D-4F50-827B-D42E7F5E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099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Indonesia, Philippines, Thailand, Malaysia, Vietnam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4B00E-00E5-42A3-857E-7A7E1D5E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convective rain, storm surge, maritime logistics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893B0-5843-4A91-9456-A9BF0D6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DD8A1-BDE6-4724-9AF5-31C5CDFC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Central Asia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F5949-81AF-4B93-8F02-035E2CE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005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Kazakhstan, Uzbekistan, Kyrgyzstan, Tajikistan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2C709-FEBD-46E7-9FD2-5F97906F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00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arid steppe, glacier-fed water, cold resilience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7FC4C-5BF7-4E66-875F-EAC3D480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767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6CBBA-35E1-42A7-8FC3-9963519D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West Asia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D2E38-8B33-46DF-A53E-B209B5F2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910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UAE, Saudi Arabia, Qatar, Oman and neighbors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C3F56-01EB-4916-9FBC-CA5E3EDB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91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hyper-arid heat, desalination, peak cooling 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DDD78-5C85-4943-ADF1-A68B9E6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1E3E6-70FD-493E-BDF2-CEFD8FB4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E675E"/>
                </a:solidFill>
                <a:latin typeface="Arial"/>
                <a:ea typeface="Arial"/>
                <a:cs typeface="Arial"/>
              </a:rPr>
              <a:t>Coverage means the same schema travels with the location: city, province, country, coordinates, timezone, and biome.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3D26F-756A-4E83-BE57-A776ABA9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58EDF3-BCCA-4D5F-8FBD-D0761712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D8FE7-2FFB-40EB-B505-D09F196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4811910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9F9FD-7979-4A67-881B-79DECF7E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B733E-FB20-4494-B298-2328B087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1285E-0C3E-477B-AD8A-2DB3D655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1D998-C5D1-4F1D-852B-CE9B6B95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322B7-6A3C-487B-9D3A-F2E726AE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BC7EE-0CFE-45CD-BC93-24390C8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DETERMINISTIC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7B74E-0196-458C-995B-393B76B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Physics keeps the answer 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34C78-C033-4C19-ABC7-AB2B3C63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6920C-46A6-4CD5-BA70-B11A4FC1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58FAC-E516-42C6-967E-97D53C21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688E5-3A7F-4A43-B45A-D096F748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THERMAL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D1BFA-3124-4274-B2C9-7DB2805C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83612-3D0F-44DD-9E2B-4F356F1B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Tetens saturation pressure feeds VPD. Stull wet-bulb and heat-index thresholds surface heat stress before a language model writes the explanation.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576E2-2770-4059-B270-EC50C539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D17A6-2575-43B5-BCC4-5CD1C783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E2ECE-FBC4-47AF-85A9-6622FF2A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33186-8C39-40C6-8968-8736CD97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RESOURCE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6DB84-BAA7-4C8F-986C-6FFE173C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68B2C-95BC-4318-AFBA-E20ECA69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Water evaporation, grid demand surge, fuel reserve, and transformer headroom remain explicit values in the ledger.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5D4FF-9169-4B8C-8405-31E2F20A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779B7-D38A-4865-B194-2A52F1BD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9A330-9FC0-4DA5-B94D-A71289E4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5DA7C-1C2B-4645-A51E-3E46E6B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EVIDENCE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37979-96FE-4D75-855F-8EA4C75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BEE9D1-59EC-4E98-966E-BDA8344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Open-Meteo telemetry, NASA POWER climate context, RainViewer radar, and CrisisLens sources are labeled by their role and limitation.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2F354-C642-494F-82D5-B0AD8BD8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11087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80E15-E371-4615-BD0E-B8E9FB7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CORE EQUATIONS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AC9E2-F7EB-4FA9-A220-CA0D4B16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eₛ(T) = 0.61078 × exp(17.27T / (T + 237.3))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B65E35-2CB9-45A3-95B5-CCD57DF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VPD = eₛ(T) × (1 − RH / 100)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BF8F3-52A7-4918-B795-95544BF7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The workflow can explain a number because the backend calculated it first.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FDBBE-4E79-4DC4-B6AC-E2A00225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D87C0-B2C3-49B4-A922-13514492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B7E967-06EA-46F8-97AF-391CB949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7261726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A7DAFB-047B-43DF-8C25-EA68A3FA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5E08A-CFF0-4B1D-962E-CBDF4C18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A619F-457F-4E9C-BA73-B12382B7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733C8-ACB1-4C28-8417-44CA751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531CC-6DA1-4FDE-AD4D-DF8708FA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719F-1CCB-48D6-BD0B-8CB6AB5A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ENGINEERING DISCIPLINE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90E43-CCB3-4780-9697-31EE45A2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Efficiency without hiding the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4FE15-D658-4AA8-B5A5-38BAA06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364EC-013D-4B54-8096-FC4FA26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40210-2C7A-4D9B-A7EC-FD61FFD4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401FC-5750-40D7-B802-90CA15D6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WHAT IS VERIFIED IN THE CURRENT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13837-C01E-4014-AFC5-26A65921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53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2CD74-8C1A-4E06-9FF1-ED9AF3FC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9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Two local endpoint probes returned HTTP 200. WIaaS returned in 3.3 seconds with a concise answer. CrisisLens returned in 2.6 seconds with a detailed evidence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3392A-7B47-498C-BD62-748B7C84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236F6-B25D-4084-9C9C-F9713074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A8ADE-51D2-49DF-B998-E017ED4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634A6-D333-4C91-A2DF-393051C6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WHAT DRIVES LOWER SPEND BY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1C2D4-71FE-41CE-A26D-20D6B90A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53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9963C-64D5-4732-8429-FD2F82CA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9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The app keeps the last eight turns, routes predictable requests before model calls, caches the spatial grid for four minutes, and limits specialist output lengths.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12558-5E69-4DE0-9D39-3E316C53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448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69019-216D-4EC5-888C-3F132CD1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CURRENT SIGNALS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6E7B7-A1F9-42F2-89C6-AAF1B37F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F3093-F628-48A1-A549-19376167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WIaaS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DB724-0025-4363-B417-834AF680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58 nodes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CCCAB-CF98-4A77-80FA-8D331BAA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72444-FFAA-4623-86D1-96505FA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CrisisLens workflow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C39F5-04E6-4FC5-BFF2-6613C8DA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B23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23A2B"/>
                </a:solidFill>
                <a:latin typeface="Arial"/>
                <a:ea typeface="Arial"/>
                <a:cs typeface="Arial"/>
              </a:rPr>
              <a:t>47 nodes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EDCB7-854A-4E3C-A58B-A6C7676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4428B-3F5A-4454-9BF9-1B2796B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Conversation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135CB-1CFF-43B9-9A27-50443C67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87A5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87A57"/>
                </a:solidFill>
                <a:latin typeface="Arial"/>
                <a:ea typeface="Arial"/>
                <a:cs typeface="Arial"/>
              </a:rPr>
              <a:t>8 turns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80A1B3-81AA-49A8-BF3D-12312E0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F69B0B-4871-4B9D-AAE9-D8526FCC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57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Spatial-grid cache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8F24A-2E9E-44EA-B21F-10D2A001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240 seconds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34051-818C-49C1-9E0E-AE328239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2396E6-0BB3-42DC-8B1B-E09C61DB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52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Smoke test reliability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7C8189-F3F1-4147-8B32-236ED433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F5E8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5E82"/>
                </a:solidFill>
                <a:latin typeface="Arial"/>
                <a:ea typeface="Arial"/>
                <a:cs typeface="Arial"/>
              </a:rPr>
              <a:t>2 / 2 HTTP 200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947B99-00BF-47EF-B3D0-4CD7A804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6E675E"/>
                </a:solidFill>
                <a:latin typeface="Arial"/>
                <a:ea typeface="Arial"/>
                <a:cs typeface="Arial"/>
              </a:rPr>
              <a:t>These are implementation and smoke-test signals, not a production SLA. Alibaba deployment should add token counters, p95 latency, and provider-level accuracy evaluation.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A5D7FC-81EB-4573-AE79-66495AB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DF15D4-62B2-445A-B137-BD4A5DD9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450060-258A-47D8-BE7E-E878E7A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2586233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9C1B61-BD36-48AA-8CAA-43A23B61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AE914-2BA6-485F-B9FB-4EC6009F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5DFA5-BBA6-4E3E-9745-CF8D8E7F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96B5B-444E-4A4B-B9B3-B120D6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741B5-DD22-4448-BC73-8268BA73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E0276-D986-4AA7-878B-CD5E968B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INCLUSIVE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477F1-4F27-44CC-A345-2CB3E7DA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The operator can speak 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F8E6A-4C3D-43EB-924B-5F334AB5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907ED-74AC-4335-AC91-8C07E8AF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BE6E2-80E7-4734-A1E9-437606E4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7282F-B6C7-4C28-812C-4CE053CB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ENGLISH AND URDU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71710-1132-4B34-AE0E-A6E194A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3BCDD-4D3D-4DC6-B119-66C240CE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The chat layer detects Urdu input, keeps the regional context, and returns a parallel Urdu response instead of a generic translation.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CF7B3-D09F-40AE-B1AB-5ECE088E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14BB1-C228-4B71-9B7C-59242B0A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72326-0DA1-4E1E-BDA2-98B01BDA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042AA-6FFC-4D28-910F-CB9223A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VOICE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37261-592C-4427-B3A1-35B947E6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B295D-072A-4ACE-A052-61E56AC3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A microphone button captures a spoken question. The composer shows listening state and stops cleanly when the user ends the turn.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A7FF2-EC7D-466C-8D40-6616C73B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37997-49C5-422E-AFAA-12C8D220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510BA-01B2-4E3D-AA12-70CD3DF1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EF505-815E-43C0-8909-32EF9930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NEURAL PLAYBACK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3DB13-51AD-4D6E-8035-944FBB9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6C945C-86D6-4052-93EA-4D78294A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Speaker controls use Edge neural voices: en-US-JennyNeural and ur-PK-UzmaNeural. A stop control cancels active playback.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1597C-55C1-4390-B2B6-2E74C78E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8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60502-A1F6-4631-A6E5-B79B5D4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ACCESSIBLE BY DEFAULT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4A59E-18F2-4D39-9632-63F4BC43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101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A field operator can ask in natural language, receive a structured answer, and hear the same answer in English or Urdu while keeping the map and selected region visible.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D3516-5A08-4227-9D09-E92D5FB0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67303F-3BCF-41D0-896C-0996D3E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ABA653-F267-4B77-AA52-ECD64DB5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6269629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311E25-8A32-40E0-ABF4-8D350E7D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SECTION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AF227-F2C3-423A-ADC6-C02B73E8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PLATE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DCEA6-43A9-459B-809A-DF1F884F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9E02C-FDD4-4223-A041-C37498D0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BE5C2-EA78-43FF-B2BF-DD2EF8A1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1FA63-48BC-4A1E-AB73-16A06BCB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◇  ALIBABA HACKATHON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26042-38B7-40B7-8FD0-7FA548A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A practical path to regional climate resilience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47FDB-ED65-4C8D-8E56-FD82DBF8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825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WIaaS Asia is ready to demonstrate the core loop: resolve a place, calculate the physical state, route to the right agent, and return an action that a person can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65F06-4427-4B3F-8201-35CAD3E6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50403-4824-4B5E-83DA-8847FCD2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DC20B-1CAD-4701-87E7-EDE32124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DC86B-E0AB-4F00-BCB9-12666952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5782D-3E8E-4239-92ED-E4916F7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2"/>
          </a:solidFill>
          <a:ln xmlns:a="http://schemas.openxmlformats.org/drawingml/2006/main" w="0">
            <a:solidFill>
              <a:srgbClr val="1F5E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0B843-AF1F-4083-9197-D6B9F870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FastAPI telemetry, MapLibre Asia map, two active n8n exports, bilingual chat, voice input, and localized overlays.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D1A25-68F8-476E-B804-47A5FA4B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24F9F-AB39-4B92-B707-D6F1642E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7F348-7F42-45A2-91DD-9992BE3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FC035-6214-4A5B-912C-4559BE0F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NEXT ON ALIBABA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823B4-BC0E-48FA-B76E-0973146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B2F5E-38AB-41FA-9C0F-145A73B8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2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Instrument tokens and p95 latency, connect managed secrets, add provider accuracy checks, and package the webhooks for repeatable deployment.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26651-32F8-47D5-96E1-402B2B77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D7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F8D83-8F2F-47E3-B6C4-27A141F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304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A"/>
          </a:solidFill>
          <a:ln xmlns:a="http://schemas.openxmlformats.org/drawingml/2006/main" w="9525">
            <a:solidFill>
              <a:srgbClr val="6E67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49171-E482-4115-9432-165F6C3F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75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DB5A4-2541-47C7-9405-3995395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THE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81CB7-8BAE-4300-B31E-FD6DA1C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7"/>
          </a:solidFill>
          <a:ln xmlns:a="http://schemas.openxmlformats.org/drawingml/2006/main" w="0">
            <a:solidFill>
              <a:srgbClr val="287A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2D0736-EA14-44BE-BBD5-9A929553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11E1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1E1B"/>
                </a:solidFill>
                <a:latin typeface="Arial"/>
                <a:ea typeface="Arial"/>
                <a:cs typeface="Arial"/>
              </a:rPr>
              <a:t>One regional interface for decisions that usually live in separate weather, grid, agriculture, logistics, and emergency systems.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ECD60-7A7D-4CD8-8AD3-B337B5D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11E1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11E1B"/>
                </a:solidFill>
                <a:latin typeface="Georgia"/>
                <a:ea typeface="Georgia"/>
                <a:cs typeface="Georgia"/>
              </a:rPr>
              <a:t>From a weather signal to a defensible next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F459A-4D14-4B41-BCC5-FBEDE6D7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WIaaS ASIA · ALIBABA HACKATHON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5508A-3079-455B-9E82-A8F05F13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930BB6-A727-485B-B763-5E11A57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WIAAS ASIA · ALIBABA HACKATHON BRIEF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FC0A3C-EC61-4D73-9879-A552E023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675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75E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439640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2026-09-04T16:05:00.9280000Z</dcterms:created>
  <dcterms:modified xsi:type="dcterms:W3CDTF">2026-09-04T16:05:00.9280000Z</dcterms:modified>
</coreProperties>
</file>