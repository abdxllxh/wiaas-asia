
<file path=[Content_Types].xml><?xml version="1.0" encoding="utf-8"?>
<Types xmlns="http://schemas.openxmlformats.org/package/2006/content-types">
  <Default Extension="bin" ContentType="application/vnd.openxmlformats-officedocument.oleObject"/>
  <Default Extension="jpeg" ContentType="image/jpeg"/>
  <Default Extension="rels" ContentType="application/vnd.openxmlformats-package.relationships+xml"/>
  <Default Extension="xml" ContentType="application/xml"/>
  <Default Extension="png" ContentType="image/png"/>
  <Default Extension="wmf" ContentType="image/x-wmf"/>
  <Override PartName="/ppt/notesMasters/notesMaster1.xml" ContentType="application/vnd.openxmlformats-officedocument.presentationml.notesMaster+xml"/>
  <Override PartName="/ppt/presentation.xml" ContentType="application/vnd.openxmlformats-officedocument.presentationml.presentation.main+xml"/>
  <Override PartName="/ppt/tableStyles.xml" ContentType="application/vnd.openxmlformats-officedocument.presentationml.tableStyles+xml"/>
  <Override PartName="/ppt/presProps.xml" ContentType="application/vnd.openxmlformats-officedocument.presentationml.presProps+xml"/>
  <Override PartName="/docProps/app.xml" ContentType="application/vnd.openxmlformats-officedocument.extended-properties+xml"/>
  <Override PartName="/ppt/viewProps.xml" ContentType="application/vnd.openxmlformats-officedocument.presentationml.viewProps+xml"/>
  <Override PartName="/docProps/core.xml" ContentType="application/vnd.openxmlformats-package.core-properties+xml"/>
  <Override PartName="/ppt/theme/theme1.xml" ContentType="application/vnd.openxmlformats-officedocument.theme+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notesSlides/notesSlide1.xml" ContentType="application/vnd.openxmlformats-officedocument.presentationml.notesSlide+xml"/>
  <Override PartName="/ppt/slides/slide1.xml" ContentType="application/vnd.openxmlformats-officedocument.presentationml.slide+xml"/>
  <Override PartName="/ppt/notesSlides/notesSlide2.xml" ContentType="application/vnd.openxmlformats-officedocument.presentationml.notesSlide+xml"/>
  <Override PartName="/ppt/slides/slide2.xml" ContentType="application/vnd.openxmlformats-officedocument.presentationml.slide+xml"/>
  <Override PartName="/ppt/notesSlides/notesSlide3.xml" ContentType="application/vnd.openxmlformats-officedocument.presentationml.notesSlide+xml"/>
  <Override PartName="/ppt/slides/slide3.xml" ContentType="application/vnd.openxmlformats-officedocument.presentationml.slide+xml"/>
  <Override PartName="/ppt/notesSlides/notesSlide4.xml" ContentType="application/vnd.openxmlformats-officedocument.presentationml.notesSlide+xml"/>
  <Override PartName="/ppt/slides/slide4.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Override PartName="/ppt/notesSlides/notesSlide6.xml" ContentType="application/vnd.openxmlformats-officedocument.presentationml.notesSlide+xml"/>
  <Override PartName="/ppt/slides/slide6.xml" ContentType="application/vnd.openxmlformats-officedocument.presentationml.slide+xml"/>
  <Override PartName="/ppt/notesSlides/notesSlide7.xml" ContentType="application/vnd.openxmlformats-officedocument.presentationml.notesSlide+xml"/>
  <Override PartName="/ppt/slides/slide7.xml" ContentType="application/vnd.openxmlformats-officedocument.presentationml.slide+xml"/>
  <Override PartName="/ppt/notesSlides/notesSlide11.xml" ContentType="application/vnd.openxmlformats-officedocument.presentationml.notesSlide+xml"/>
  <Override PartName="/ppt/notesSlides/notesSlide8.xml" ContentType="application/vnd.openxmlformats-officedocument.presentationml.notesSlide+xml"/>
  <Override PartName="/ppt/slides/slide11.xml" ContentType="application/vnd.openxmlformats-officedocument.presentationml.slide+xml"/>
  <Override PartName="/ppt/slides/slide8.xml" ContentType="application/vnd.openxmlformats-officedocument.presentationml.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slides/slide10.xml" ContentType="application/vnd.openxmlformats-officedocument.presentationml.slide+xml"/>
  <Override PartName="/ppt/slides/slide9.xml" ContentType="application/vnd.openxmlformats-officedocument.presentationml.slide+xml"/>
  <Override PartName="/ppt/notesSlides/notesSlide12.xml" ContentType="application/vnd.openxmlformats-officedocument.presentationml.notesSlide+xml"/>
  <Override PartName="/ppt/slides/slide12.xml" ContentType="application/vnd.openxmlformats-officedocument.presentationml.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autoCompressPictures="0" saveSubsetFonts="1">
  <p:sldMasterIdLst>
    <p:sldMasterId id="2147483648" r:id="rId1"/>
  </p:sldMasterIdLst>
  <p:notesMasterIdLst>
    <p:notesMasterId r:id="rId15"/>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Lst>
  <p:sldSz cx="12192000" cy="6858000"/>
  <p:notesSz cx="6858000" cy="12192000"/>
  <p:defaultTextStyle>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snapToObjects="1">
      <p:cViewPr varScale="1">
        <p:scale>
          <a:sx n="136" d="100"/>
          <a:sy n="136" d="100"/>
        </p:scale>
        <p:origin x="216" y="312"/>
      </p:cViewPr>
      <p:guideLst>
        <p:guide pos="3840"/>
        <p:guide pos="2160" orient="horz"/>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notesMaster" Target="notesMasters/notesMaster1.xml"/><Relationship Id="rId16" Type="http://schemas.openxmlformats.org/officeDocument/2006/relationships/presProps" Target="presProps.xml" /><Relationship Id="rId17" Type="http://schemas.openxmlformats.org/officeDocument/2006/relationships/tableStyles" Target="tableStyles.xml" /><Relationship Id="rId18"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1274664285"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1164050989"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5282F153-3F37-0F45-9E97-73ACFA13230C}" type="datetimeFigureOut">
              <a:rPr lang="en-US"/>
              <a:t>7/23/19</a:t>
            </a:fld>
            <a:endParaRPr lang="en-US"/>
          </a:p>
        </p:txBody>
      </p:sp>
      <p:sp>
        <p:nvSpPr>
          <p:cNvPr id="1893946936" name="Slide Image Placeholder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US"/>
          </a:p>
        </p:txBody>
      </p:sp>
      <p:sp>
        <p:nvSpPr>
          <p:cNvPr id="1929823329"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593966884"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1672924586"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CE5E9CC1-C706-0F49-92D6-E571CC5EEA8F}"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44467697" name="Slide Image Placeholder 1"/>
          <p:cNvSpPr>
            <a:spLocks noChangeAspect="1" noGrp="1" noRot="1"/>
          </p:cNvSpPr>
          <p:nvPr>
            <p:ph type="sldImg"/>
          </p:nvPr>
        </p:nvSpPr>
        <p:spPr bwMode="auto"/>
      </p:sp>
      <p:sp>
        <p:nvSpPr>
          <p:cNvPr id="1923099496" name="Notes Placeholder 2"/>
          <p:cNvSpPr>
            <a:spLocks noGrp="1"/>
          </p:cNvSpPr>
          <p:nvPr>
            <p:ph type="body" idx="1"/>
          </p:nvPr>
        </p:nvSpPr>
        <p:spPr bwMode="auto"/>
        <p:txBody>
          <a:bodyPr/>
          <a:lstStyle/>
          <a:p>
            <a:pPr>
              <a:defRPr/>
            </a:pPr>
            <a:endParaRPr lang="en-US"/>
          </a:p>
        </p:txBody>
      </p:sp>
      <p:sp>
        <p:nvSpPr>
          <p:cNvPr id="1366453510" name="Slide Number Placeholder 3"/>
          <p:cNvSpPr>
            <a:spLocks noGrp="1"/>
          </p:cNvSpPr>
          <p:nvPr>
            <p:ph type="sldNum" sz="quarter" idx="10"/>
          </p:nvPr>
        </p:nvSpPr>
        <p:spPr bwMode="auto"/>
        <p:txBody>
          <a:bodyPr/>
          <a:lstStyle/>
          <a:p>
            <a:pPr>
              <a:defRPr/>
            </a:pPr>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70471207" name="Slide Image Placeholder 1"/>
          <p:cNvSpPr>
            <a:spLocks noChangeAspect="1" noGrp="1" noRot="1"/>
          </p:cNvSpPr>
          <p:nvPr>
            <p:ph type="sldImg"/>
          </p:nvPr>
        </p:nvSpPr>
        <p:spPr bwMode="auto"/>
      </p:sp>
      <p:sp>
        <p:nvSpPr>
          <p:cNvPr id="2021496403" name="Notes Placeholder 2"/>
          <p:cNvSpPr>
            <a:spLocks noGrp="1"/>
          </p:cNvSpPr>
          <p:nvPr>
            <p:ph type="body" idx="1"/>
          </p:nvPr>
        </p:nvSpPr>
        <p:spPr bwMode="auto"/>
        <p:txBody>
          <a:bodyPr/>
          <a:lstStyle/>
          <a:p>
            <a:pPr>
              <a:defRPr/>
            </a:pPr>
            <a:endParaRPr lang="en-US"/>
          </a:p>
        </p:txBody>
      </p:sp>
      <p:sp>
        <p:nvSpPr>
          <p:cNvPr id="1956674642" name="Slide Number Placeholder 3"/>
          <p:cNvSpPr>
            <a:spLocks noGrp="1"/>
          </p:cNvSpPr>
          <p:nvPr>
            <p:ph type="sldNum" sz="quarter" idx="10"/>
          </p:nvPr>
        </p:nvSpPr>
        <p:spPr bwMode="auto"/>
        <p:txBody>
          <a:bodyPr/>
          <a:lstStyle/>
          <a:p>
            <a:pPr>
              <a:defRPr/>
            </a:pPr>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08344053" name="Slide Image Placeholder 1"/>
          <p:cNvSpPr>
            <a:spLocks noChangeAspect="1" noGrp="1" noRot="1"/>
          </p:cNvSpPr>
          <p:nvPr>
            <p:ph type="sldImg"/>
          </p:nvPr>
        </p:nvSpPr>
        <p:spPr bwMode="auto"/>
      </p:sp>
      <p:sp>
        <p:nvSpPr>
          <p:cNvPr id="1392214672" name="Notes Placeholder 2"/>
          <p:cNvSpPr>
            <a:spLocks noGrp="1"/>
          </p:cNvSpPr>
          <p:nvPr>
            <p:ph type="body" idx="1"/>
          </p:nvPr>
        </p:nvSpPr>
        <p:spPr bwMode="auto"/>
        <p:txBody>
          <a:bodyPr/>
          <a:lstStyle/>
          <a:p>
            <a:pPr>
              <a:defRPr/>
            </a:pPr>
            <a:endParaRPr lang="en-US"/>
          </a:p>
        </p:txBody>
      </p:sp>
      <p:sp>
        <p:nvSpPr>
          <p:cNvPr id="214479886" name="Slide Number Placeholder 3"/>
          <p:cNvSpPr>
            <a:spLocks noGrp="1"/>
          </p:cNvSpPr>
          <p:nvPr>
            <p:ph type="sldNum" sz="quarter" idx="10"/>
          </p:nvPr>
        </p:nvSpPr>
        <p:spPr bwMode="auto"/>
        <p:txBody>
          <a:bodyPr/>
          <a:lstStyle/>
          <a:p>
            <a:pPr>
              <a:defRPr/>
            </a:pPr>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8219880" name="Slide Image Placeholder 1"/>
          <p:cNvSpPr>
            <a:spLocks noChangeAspect="1" noGrp="1" noRot="1"/>
          </p:cNvSpPr>
          <p:nvPr>
            <p:ph type="sldImg"/>
          </p:nvPr>
        </p:nvSpPr>
        <p:spPr bwMode="auto"/>
      </p:sp>
      <p:sp>
        <p:nvSpPr>
          <p:cNvPr id="835593777" name="Notes Placeholder 2"/>
          <p:cNvSpPr>
            <a:spLocks noGrp="1"/>
          </p:cNvSpPr>
          <p:nvPr>
            <p:ph type="body" idx="1"/>
          </p:nvPr>
        </p:nvSpPr>
        <p:spPr bwMode="auto"/>
        <p:txBody>
          <a:bodyPr/>
          <a:lstStyle/>
          <a:p>
            <a:pPr>
              <a:defRPr/>
            </a:pPr>
            <a:endParaRPr lang="en-US"/>
          </a:p>
        </p:txBody>
      </p:sp>
      <p:sp>
        <p:nvSpPr>
          <p:cNvPr id="1610090742" name="Slide Number Placeholder 3"/>
          <p:cNvSpPr>
            <a:spLocks noGrp="1"/>
          </p:cNvSpPr>
          <p:nvPr>
            <p:ph type="sldNum" sz="quarter" idx="10"/>
          </p:nvPr>
        </p:nvSpPr>
        <p:spPr bwMode="auto"/>
        <p:txBody>
          <a:bodyPr/>
          <a:lstStyle/>
          <a:p>
            <a:pPr>
              <a:defRPr/>
            </a:pPr>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34314169" name="Slide Image Placeholder 1"/>
          <p:cNvSpPr>
            <a:spLocks noChangeAspect="1" noGrp="1" noRot="1"/>
          </p:cNvSpPr>
          <p:nvPr>
            <p:ph type="sldImg"/>
          </p:nvPr>
        </p:nvSpPr>
        <p:spPr bwMode="auto"/>
      </p:sp>
      <p:sp>
        <p:nvSpPr>
          <p:cNvPr id="1081032213" name="Notes Placeholder 2"/>
          <p:cNvSpPr>
            <a:spLocks noGrp="1"/>
          </p:cNvSpPr>
          <p:nvPr>
            <p:ph type="body" idx="1"/>
          </p:nvPr>
        </p:nvSpPr>
        <p:spPr bwMode="auto"/>
        <p:txBody>
          <a:bodyPr/>
          <a:lstStyle/>
          <a:p>
            <a:pPr>
              <a:defRPr/>
            </a:pPr>
            <a:endParaRPr lang="en-US"/>
          </a:p>
        </p:txBody>
      </p:sp>
      <p:sp>
        <p:nvSpPr>
          <p:cNvPr id="691384056" name="Slide Number Placeholder 3"/>
          <p:cNvSpPr>
            <a:spLocks noGrp="1"/>
          </p:cNvSpPr>
          <p:nvPr>
            <p:ph type="sldNum" sz="quarter" idx="10"/>
          </p:nvPr>
        </p:nvSpPr>
        <p:spPr bwMode="auto"/>
        <p:txBody>
          <a:bodyPr/>
          <a:lstStyle/>
          <a:p>
            <a:pPr>
              <a:defRPr/>
            </a:pPr>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85970798" name="Slide Image Placeholder 1"/>
          <p:cNvSpPr>
            <a:spLocks noChangeAspect="1" noGrp="1" noRot="1"/>
          </p:cNvSpPr>
          <p:nvPr>
            <p:ph type="sldImg"/>
          </p:nvPr>
        </p:nvSpPr>
        <p:spPr bwMode="auto"/>
      </p:sp>
      <p:sp>
        <p:nvSpPr>
          <p:cNvPr id="223566289" name="Notes Placeholder 2"/>
          <p:cNvSpPr>
            <a:spLocks noGrp="1"/>
          </p:cNvSpPr>
          <p:nvPr>
            <p:ph type="body" idx="1"/>
          </p:nvPr>
        </p:nvSpPr>
        <p:spPr bwMode="auto"/>
        <p:txBody>
          <a:bodyPr/>
          <a:lstStyle/>
          <a:p>
            <a:pPr>
              <a:defRPr/>
            </a:pPr>
            <a:endParaRPr lang="en-US"/>
          </a:p>
        </p:txBody>
      </p:sp>
      <p:sp>
        <p:nvSpPr>
          <p:cNvPr id="1124382150" name="Slide Number Placeholder 3"/>
          <p:cNvSpPr>
            <a:spLocks noGrp="1"/>
          </p:cNvSpPr>
          <p:nvPr>
            <p:ph type="sldNum" sz="quarter" idx="10"/>
          </p:nvPr>
        </p:nvSpPr>
        <p:spPr bwMode="auto"/>
        <p:txBody>
          <a:bodyPr/>
          <a:lstStyle/>
          <a:p>
            <a:pPr>
              <a:defRPr/>
            </a:pPr>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578819" name="Slide Image Placeholder 1"/>
          <p:cNvSpPr>
            <a:spLocks noChangeAspect="1" noGrp="1" noRot="1"/>
          </p:cNvSpPr>
          <p:nvPr>
            <p:ph type="sldImg"/>
          </p:nvPr>
        </p:nvSpPr>
        <p:spPr bwMode="auto"/>
      </p:sp>
      <p:sp>
        <p:nvSpPr>
          <p:cNvPr id="1737563017" name="Notes Placeholder 2"/>
          <p:cNvSpPr>
            <a:spLocks noGrp="1"/>
          </p:cNvSpPr>
          <p:nvPr>
            <p:ph type="body" idx="1"/>
          </p:nvPr>
        </p:nvSpPr>
        <p:spPr bwMode="auto"/>
        <p:txBody>
          <a:bodyPr/>
          <a:lstStyle/>
          <a:p>
            <a:pPr>
              <a:defRPr/>
            </a:pPr>
            <a:endParaRPr lang="en-US"/>
          </a:p>
        </p:txBody>
      </p:sp>
      <p:sp>
        <p:nvSpPr>
          <p:cNvPr id="1991424579" name="Slide Number Placeholder 3"/>
          <p:cNvSpPr>
            <a:spLocks noGrp="1"/>
          </p:cNvSpPr>
          <p:nvPr>
            <p:ph type="sldNum" sz="quarter" idx="10"/>
          </p:nvPr>
        </p:nvSpPr>
        <p:spPr bwMode="auto"/>
        <p:txBody>
          <a:bodyPr/>
          <a:lstStyle/>
          <a:p>
            <a:pPr>
              <a:defRPr/>
            </a:pPr>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62555172" name="Slide Image Placeholder 1"/>
          <p:cNvSpPr>
            <a:spLocks noChangeAspect="1" noGrp="1" noRot="1"/>
          </p:cNvSpPr>
          <p:nvPr>
            <p:ph type="sldImg"/>
          </p:nvPr>
        </p:nvSpPr>
        <p:spPr bwMode="auto"/>
      </p:sp>
      <p:sp>
        <p:nvSpPr>
          <p:cNvPr id="118878007" name="Notes Placeholder 2"/>
          <p:cNvSpPr>
            <a:spLocks noGrp="1"/>
          </p:cNvSpPr>
          <p:nvPr>
            <p:ph type="body" idx="1"/>
          </p:nvPr>
        </p:nvSpPr>
        <p:spPr bwMode="auto"/>
        <p:txBody>
          <a:bodyPr/>
          <a:lstStyle/>
          <a:p>
            <a:pPr>
              <a:defRPr/>
            </a:pPr>
            <a:endParaRPr lang="en-US"/>
          </a:p>
        </p:txBody>
      </p:sp>
      <p:sp>
        <p:nvSpPr>
          <p:cNvPr id="2011536602" name="Slide Number Placeholder 3"/>
          <p:cNvSpPr>
            <a:spLocks noGrp="1"/>
          </p:cNvSpPr>
          <p:nvPr>
            <p:ph type="sldNum" sz="quarter" idx="10"/>
          </p:nvPr>
        </p:nvSpPr>
        <p:spPr bwMode="auto"/>
        <p:txBody>
          <a:bodyPr/>
          <a:lstStyle/>
          <a:p>
            <a:pPr>
              <a:defRPr/>
            </a:pPr>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20799662" name="Slide Image Placeholder 1"/>
          <p:cNvSpPr>
            <a:spLocks noChangeAspect="1" noGrp="1" noRot="1"/>
          </p:cNvSpPr>
          <p:nvPr>
            <p:ph type="sldImg"/>
          </p:nvPr>
        </p:nvSpPr>
        <p:spPr bwMode="auto"/>
      </p:sp>
      <p:sp>
        <p:nvSpPr>
          <p:cNvPr id="324676817" name="Notes Placeholder 2"/>
          <p:cNvSpPr>
            <a:spLocks noGrp="1"/>
          </p:cNvSpPr>
          <p:nvPr>
            <p:ph type="body" idx="1"/>
          </p:nvPr>
        </p:nvSpPr>
        <p:spPr bwMode="auto"/>
        <p:txBody>
          <a:bodyPr/>
          <a:lstStyle/>
          <a:p>
            <a:pPr>
              <a:defRPr/>
            </a:pPr>
            <a:endParaRPr lang="en-US"/>
          </a:p>
        </p:txBody>
      </p:sp>
      <p:sp>
        <p:nvSpPr>
          <p:cNvPr id="57992850" name="Slide Number Placeholder 3"/>
          <p:cNvSpPr>
            <a:spLocks noGrp="1"/>
          </p:cNvSpPr>
          <p:nvPr>
            <p:ph type="sldNum" sz="quarter" idx="10"/>
          </p:nvPr>
        </p:nvSpPr>
        <p:spPr bwMode="auto"/>
        <p:txBody>
          <a:bodyPr/>
          <a:lstStyle/>
          <a:p>
            <a:pPr>
              <a:defRPr/>
            </a:pPr>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80954652" name="Slide Image Placeholder 1"/>
          <p:cNvSpPr>
            <a:spLocks noChangeAspect="1" noGrp="1" noRot="1"/>
          </p:cNvSpPr>
          <p:nvPr>
            <p:ph type="sldImg"/>
          </p:nvPr>
        </p:nvSpPr>
        <p:spPr bwMode="auto"/>
      </p:sp>
      <p:sp>
        <p:nvSpPr>
          <p:cNvPr id="1232969811" name="Notes Placeholder 2"/>
          <p:cNvSpPr>
            <a:spLocks noGrp="1"/>
          </p:cNvSpPr>
          <p:nvPr>
            <p:ph type="body" idx="1"/>
          </p:nvPr>
        </p:nvSpPr>
        <p:spPr bwMode="auto"/>
        <p:txBody>
          <a:bodyPr/>
          <a:lstStyle/>
          <a:p>
            <a:pPr>
              <a:defRPr/>
            </a:pPr>
            <a:endParaRPr lang="en-US"/>
          </a:p>
        </p:txBody>
      </p:sp>
      <p:sp>
        <p:nvSpPr>
          <p:cNvPr id="1755996784" name="Slide Number Placeholder 3"/>
          <p:cNvSpPr>
            <a:spLocks noGrp="1"/>
          </p:cNvSpPr>
          <p:nvPr>
            <p:ph type="sldNum" sz="quarter" idx="10"/>
          </p:nvPr>
        </p:nvSpPr>
        <p:spPr bwMode="auto"/>
        <p:txBody>
          <a:bodyPr/>
          <a:lstStyle/>
          <a:p>
            <a:pPr>
              <a:defRPr/>
            </a:pPr>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22608372" name="Slide Image Placeholder 1"/>
          <p:cNvSpPr>
            <a:spLocks noChangeAspect="1" noGrp="1" noRot="1"/>
          </p:cNvSpPr>
          <p:nvPr>
            <p:ph type="sldImg"/>
          </p:nvPr>
        </p:nvSpPr>
        <p:spPr bwMode="auto"/>
      </p:sp>
      <p:sp>
        <p:nvSpPr>
          <p:cNvPr id="1487127539" name="Notes Placeholder 2"/>
          <p:cNvSpPr>
            <a:spLocks noGrp="1"/>
          </p:cNvSpPr>
          <p:nvPr>
            <p:ph type="body" idx="1"/>
          </p:nvPr>
        </p:nvSpPr>
        <p:spPr bwMode="auto"/>
        <p:txBody>
          <a:bodyPr/>
          <a:lstStyle/>
          <a:p>
            <a:pPr>
              <a:defRPr/>
            </a:pPr>
            <a:endParaRPr lang="en-US"/>
          </a:p>
        </p:txBody>
      </p:sp>
      <p:sp>
        <p:nvSpPr>
          <p:cNvPr id="1385103341" name="Slide Number Placeholder 3"/>
          <p:cNvSpPr>
            <a:spLocks noGrp="1"/>
          </p:cNvSpPr>
          <p:nvPr>
            <p:ph type="sldNum" sz="quarter" idx="10"/>
          </p:nvPr>
        </p:nvSpPr>
        <p:spPr bwMode="auto"/>
        <p:txBody>
          <a:bodyPr/>
          <a:lstStyle/>
          <a:p>
            <a:pPr>
              <a:defRPr/>
            </a:pPr>
            <a:fld id="{F7021451-1387-4CA6-816F-3879F97B5CBC}"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89474569" name="Slide Image Placeholder 1"/>
          <p:cNvSpPr>
            <a:spLocks noChangeAspect="1" noGrp="1" noRot="1"/>
          </p:cNvSpPr>
          <p:nvPr>
            <p:ph type="sldImg"/>
          </p:nvPr>
        </p:nvSpPr>
        <p:spPr bwMode="auto"/>
      </p:sp>
      <p:sp>
        <p:nvSpPr>
          <p:cNvPr id="1704319943" name="Notes Placeholder 2"/>
          <p:cNvSpPr>
            <a:spLocks noGrp="1"/>
          </p:cNvSpPr>
          <p:nvPr>
            <p:ph type="body" idx="1"/>
          </p:nvPr>
        </p:nvSpPr>
        <p:spPr bwMode="auto"/>
        <p:txBody>
          <a:bodyPr/>
          <a:lstStyle/>
          <a:p>
            <a:pPr>
              <a:defRPr/>
            </a:pPr>
            <a:endParaRPr lang="en-US"/>
          </a:p>
        </p:txBody>
      </p:sp>
      <p:sp>
        <p:nvSpPr>
          <p:cNvPr id="1968321086" name="Slide Number Placeholder 3"/>
          <p:cNvSpPr>
            <a:spLocks noGrp="1"/>
          </p:cNvSpPr>
          <p:nvPr>
            <p:ph type="sldNum" sz="quarter" idx="10"/>
          </p:nvPr>
        </p:nvSpPr>
        <p:spPr bwMode="auto"/>
        <p:txBody>
          <a:bodyPr/>
          <a:lstStyle/>
          <a:p>
            <a:pPr>
              <a:defRPr/>
            </a:pPr>
            <a:fld id="{F7021451-1387-4CA6-816F-3879F97B5CBC}" type="slidenum">
              <a:rPr lang="en-US"/>
              <a:t>12</a:t>
            </a:fld>
            <a:endParaRPr lang="en-US"/>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DEFAULT">
    <p:bg>
      <p:bgRef idx="1001">
        <a:schemeClr val="bg1"/>
      </p:bgRef>
    </p:bg>
    <p:spTree>
      <p:nvGrpSpPr>
        <p:cNvPr id="1" name=""/>
        <p:cNvGrpSpPr/>
        <p:nvPr/>
      </p:nvGrpSpPr>
      <p:grpSpPr bwMode="auto">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spTree>
      <p:nvGrpSpPr>
        <p:cNvPr id="1" name=""/>
        <p:cNvGrpSpPr/>
        <p:nvPr/>
      </p:nvGrpSpPr>
      <p:grpSpPr bwMode="auto">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dt="0" ftr="0" hdr="0" sldNum="0"/>
  <p:txStyles>
    <p:titleStyle>
      <a:lvl1pPr algn="ctr" defTabSz="914400" rtl="0">
        <a:spcBef>
          <a:spcPts val="0"/>
        </a:spcBef>
        <a:buNone/>
        <a:defRPr sz="4400">
          <a:solidFill>
            <a:schemeClr val="tx1"/>
          </a:solidFill>
          <a:latin typeface="+mj-lt"/>
          <a:ea typeface="+mj-ea"/>
          <a:cs typeface="+mj-cs"/>
        </a:defRPr>
      </a:lvl1pPr>
    </p:titleStyle>
    <p:bodyStyle>
      <a:lvl1pPr marL="342900" indent="-342900" algn="l" defTabSz="914400" rtl="0">
        <a:spcBef>
          <a:spcPts val="0"/>
        </a:spcBef>
        <a:buFont typeface="Arial"/>
        <a:buChar char="•"/>
        <a:defRPr sz="3200">
          <a:solidFill>
            <a:schemeClr val="tx1"/>
          </a:solidFill>
          <a:latin typeface="+mn-lt"/>
          <a:ea typeface="+mn-ea"/>
          <a:cs typeface="+mn-cs"/>
        </a:defRPr>
      </a:lvl1pPr>
      <a:lvl2pPr marL="742950" indent="-285750" algn="l" defTabSz="914400" rtl="0">
        <a:spcBef>
          <a:spcPts val="0"/>
        </a:spcBef>
        <a:buFont typeface="Arial"/>
        <a:buChar char="–"/>
        <a:defRPr sz="2800">
          <a:solidFill>
            <a:schemeClr val="tx1"/>
          </a:solidFill>
          <a:latin typeface="+mn-lt"/>
          <a:ea typeface="+mn-ea"/>
          <a:cs typeface="+mn-cs"/>
        </a:defRPr>
      </a:lvl2pPr>
      <a:lvl3pPr marL="1143000" indent="-228600" algn="l" defTabSz="914400" rtl="0">
        <a:spcBef>
          <a:spcPts val="0"/>
        </a:spcBef>
        <a:buFont typeface="Arial"/>
        <a:buChar char="•"/>
        <a:defRPr sz="2400">
          <a:solidFill>
            <a:schemeClr val="tx1"/>
          </a:solidFill>
          <a:latin typeface="+mn-lt"/>
          <a:ea typeface="+mn-ea"/>
          <a:cs typeface="+mn-cs"/>
        </a:defRPr>
      </a:lvl3pPr>
      <a:lvl4pPr marL="1600200" indent="-228600" algn="l" defTabSz="914400" rtl="0">
        <a:spcBef>
          <a:spcPts val="0"/>
        </a:spcBef>
        <a:buFont typeface="Arial"/>
        <a:buChar char="–"/>
        <a:defRPr sz="2000">
          <a:solidFill>
            <a:schemeClr val="tx1"/>
          </a:solidFill>
          <a:latin typeface="+mn-lt"/>
          <a:ea typeface="+mn-ea"/>
          <a:cs typeface="+mn-cs"/>
        </a:defRPr>
      </a:lvl4pPr>
      <a:lvl5pPr marL="2057400" indent="-228600" algn="l" defTabSz="914400" rtl="0">
        <a:spcBef>
          <a:spcPts val="0"/>
        </a:spcBef>
        <a:buFont typeface="Arial"/>
        <a:buChar char="»"/>
        <a:defRPr sz="2000">
          <a:solidFill>
            <a:schemeClr val="tx1"/>
          </a:solidFill>
          <a:latin typeface="+mn-lt"/>
          <a:ea typeface="+mn-ea"/>
          <a:cs typeface="+mn-cs"/>
        </a:defRPr>
      </a:lvl5pPr>
      <a:lvl6pPr marL="2514600" indent="-228600" algn="l" defTabSz="914400" rtl="0">
        <a:spcBef>
          <a:spcPts val="0"/>
        </a:spcBef>
        <a:buFont typeface="Arial"/>
        <a:buChar char="•"/>
        <a:defRPr sz="2000">
          <a:solidFill>
            <a:schemeClr val="tx1"/>
          </a:solidFill>
          <a:latin typeface="+mn-lt"/>
          <a:ea typeface="+mn-ea"/>
          <a:cs typeface="+mn-cs"/>
        </a:defRPr>
      </a:lvl6pPr>
      <a:lvl7pPr marL="2971800" indent="-228600" algn="l" defTabSz="914400" rtl="0">
        <a:spcBef>
          <a:spcPts val="0"/>
        </a:spcBef>
        <a:buFont typeface="Arial"/>
        <a:buChar char="•"/>
        <a:defRPr sz="2000">
          <a:solidFill>
            <a:schemeClr val="tx1"/>
          </a:solidFill>
          <a:latin typeface="+mn-lt"/>
          <a:ea typeface="+mn-ea"/>
          <a:cs typeface="+mn-cs"/>
        </a:defRPr>
      </a:lvl7pPr>
      <a:lvl8pPr marL="3429000" indent="-228600" algn="l" defTabSz="914400" rtl="0">
        <a:spcBef>
          <a:spcPts val="0"/>
        </a:spcBef>
        <a:buFont typeface="Arial"/>
        <a:buChar char="•"/>
        <a:defRPr sz="2000">
          <a:solidFill>
            <a:schemeClr val="tx1"/>
          </a:solidFill>
          <a:latin typeface="+mn-lt"/>
          <a:ea typeface="+mn-ea"/>
          <a:cs typeface="+mn-cs"/>
        </a:defRPr>
      </a:lvl8pPr>
      <a:lvl9pPr marL="3886200" indent="-228600" algn="l" defTabSz="9144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
    <p:bg>
      <p:bgPr shadeToTitle="0">
        <a:solidFill>
          <a:srgbClr val="F4EFEA"/>
        </a:solidFill>
      </p:bgPr>
    </p:bg>
    <p:spTree>
      <p:nvGrpSpPr>
        <p:cNvPr id="1" name=""/>
        <p:cNvGrpSpPr/>
        <p:nvPr/>
      </p:nvGrpSpPr>
      <p:grpSpPr bwMode="auto">
        <a:xfrm>
          <a:off x="0" y="0"/>
          <a:ext cx="0" cy="0"/>
          <a:chOff x="0" y="0"/>
          <a:chExt cx="0" cy="0"/>
        </a:xfrm>
      </p:grpSpPr>
      <p:sp>
        <p:nvSpPr>
          <p:cNvPr id="869568516" name="Shape 0"/>
          <p:cNvSpPr/>
          <p:nvPr/>
        </p:nvSpPr>
        <p:spPr bwMode="auto">
          <a:xfrm>
            <a:off x="166115" y="164592"/>
            <a:ext cx="11859768" cy="6528816"/>
          </a:xfrm>
          <a:prstGeom prst="rect">
            <a:avLst/>
          </a:prstGeom>
          <a:solidFill>
            <a:srgbClr val="F4EFEA">
              <a:alpha val="0"/>
            </a:srgbClr>
          </a:solidFill>
          <a:ln w="10160">
            <a:solidFill>
              <a:srgbClr val="27343A"/>
            </a:solidFill>
            <a:prstDash val="solid"/>
          </a:ln>
        </p:spPr>
      </p:sp>
      <p:sp>
        <p:nvSpPr>
          <p:cNvPr id="1309533029" name="Shape 1"/>
          <p:cNvSpPr/>
          <p:nvPr/>
        </p:nvSpPr>
        <p:spPr bwMode="auto">
          <a:xfrm>
            <a:off x="36576" y="164592"/>
            <a:ext cx="256032" cy="0"/>
          </a:xfrm>
          <a:prstGeom prst="line">
            <a:avLst/>
          </a:prstGeom>
          <a:noFill/>
          <a:ln w="9525">
            <a:solidFill>
              <a:srgbClr val="27343A"/>
            </a:solidFill>
            <a:prstDash val="solid"/>
          </a:ln>
        </p:spPr>
      </p:sp>
      <p:sp>
        <p:nvSpPr>
          <p:cNvPr id="6382888" name="Shape 2"/>
          <p:cNvSpPr/>
          <p:nvPr/>
        </p:nvSpPr>
        <p:spPr bwMode="auto">
          <a:xfrm>
            <a:off x="164592" y="36576"/>
            <a:ext cx="0" cy="256032"/>
          </a:xfrm>
          <a:prstGeom prst="line">
            <a:avLst/>
          </a:prstGeom>
          <a:noFill/>
          <a:ln w="9525">
            <a:solidFill>
              <a:srgbClr val="27343A"/>
            </a:solidFill>
            <a:prstDash val="solid"/>
          </a:ln>
        </p:spPr>
      </p:sp>
      <p:sp>
        <p:nvSpPr>
          <p:cNvPr id="1602806929" name="Shape 3"/>
          <p:cNvSpPr/>
          <p:nvPr/>
        </p:nvSpPr>
        <p:spPr bwMode="auto">
          <a:xfrm>
            <a:off x="11896344" y="164592"/>
            <a:ext cx="256032" cy="0"/>
          </a:xfrm>
          <a:prstGeom prst="line">
            <a:avLst/>
          </a:prstGeom>
          <a:noFill/>
          <a:ln w="9525">
            <a:solidFill>
              <a:srgbClr val="27343A"/>
            </a:solidFill>
            <a:prstDash val="solid"/>
          </a:ln>
        </p:spPr>
      </p:sp>
      <p:sp>
        <p:nvSpPr>
          <p:cNvPr id="257604336" name="Shape 4"/>
          <p:cNvSpPr/>
          <p:nvPr/>
        </p:nvSpPr>
        <p:spPr bwMode="auto">
          <a:xfrm>
            <a:off x="12024360" y="36576"/>
            <a:ext cx="0" cy="256032"/>
          </a:xfrm>
          <a:prstGeom prst="line">
            <a:avLst/>
          </a:prstGeom>
          <a:noFill/>
          <a:ln w="9525">
            <a:solidFill>
              <a:srgbClr val="27343A"/>
            </a:solidFill>
            <a:prstDash val="solid"/>
          </a:ln>
        </p:spPr>
      </p:sp>
      <p:sp>
        <p:nvSpPr>
          <p:cNvPr id="118023097" name="Shape 5"/>
          <p:cNvSpPr/>
          <p:nvPr/>
        </p:nvSpPr>
        <p:spPr bwMode="auto">
          <a:xfrm>
            <a:off x="36576" y="6693408"/>
            <a:ext cx="256032" cy="0"/>
          </a:xfrm>
          <a:prstGeom prst="line">
            <a:avLst/>
          </a:prstGeom>
          <a:noFill/>
          <a:ln w="9525">
            <a:solidFill>
              <a:srgbClr val="27343A"/>
            </a:solidFill>
            <a:prstDash val="solid"/>
          </a:ln>
        </p:spPr>
      </p:sp>
      <p:sp>
        <p:nvSpPr>
          <p:cNvPr id="2006684676" name="Shape 6"/>
          <p:cNvSpPr/>
          <p:nvPr/>
        </p:nvSpPr>
        <p:spPr bwMode="auto">
          <a:xfrm>
            <a:off x="164592" y="6565392"/>
            <a:ext cx="0" cy="256032"/>
          </a:xfrm>
          <a:prstGeom prst="line">
            <a:avLst/>
          </a:prstGeom>
          <a:noFill/>
          <a:ln w="9525">
            <a:solidFill>
              <a:srgbClr val="27343A"/>
            </a:solidFill>
            <a:prstDash val="solid"/>
          </a:ln>
        </p:spPr>
      </p:sp>
      <p:sp>
        <p:nvSpPr>
          <p:cNvPr id="655192505" name="Shape 7"/>
          <p:cNvSpPr/>
          <p:nvPr/>
        </p:nvSpPr>
        <p:spPr bwMode="auto">
          <a:xfrm>
            <a:off x="11896344" y="6693408"/>
            <a:ext cx="256032" cy="0"/>
          </a:xfrm>
          <a:prstGeom prst="line">
            <a:avLst/>
          </a:prstGeom>
          <a:noFill/>
          <a:ln w="9525">
            <a:solidFill>
              <a:srgbClr val="27343A"/>
            </a:solidFill>
            <a:prstDash val="solid"/>
          </a:ln>
        </p:spPr>
      </p:sp>
      <p:sp>
        <p:nvSpPr>
          <p:cNvPr id="794454968" name="Shape 8"/>
          <p:cNvSpPr/>
          <p:nvPr/>
        </p:nvSpPr>
        <p:spPr bwMode="auto">
          <a:xfrm>
            <a:off x="12024360" y="6565392"/>
            <a:ext cx="0" cy="256032"/>
          </a:xfrm>
          <a:prstGeom prst="line">
            <a:avLst/>
          </a:prstGeom>
          <a:noFill/>
          <a:ln w="9525">
            <a:solidFill>
              <a:srgbClr val="27343A"/>
            </a:solidFill>
            <a:prstDash val="solid"/>
          </a:ln>
        </p:spPr>
      </p:sp>
      <p:sp>
        <p:nvSpPr>
          <p:cNvPr id="587875291" name="Text 9"/>
          <p:cNvSpPr/>
          <p:nvPr/>
        </p:nvSpPr>
        <p:spPr bwMode="auto">
          <a:xfrm>
            <a:off x="393192" y="393192"/>
            <a:ext cx="2834640" cy="109728"/>
          </a:xfrm>
          <a:prstGeom prst="rect">
            <a:avLst/>
          </a:prstGeom>
          <a:noFill/>
          <a:ln/>
        </p:spPr>
        <p:txBody>
          <a:bodyPr wrap="square" lIns="0" tIns="0" rIns="0" bIns="0" rtlCol="0" anchor="ctr"/>
          <a:lstStyle/>
          <a:p>
            <a:pPr marL="0" indent="0">
              <a:buNone/>
              <a:defRPr/>
            </a:pPr>
            <a:r>
              <a:rPr lang="en-US" sz="500">
                <a:solidFill>
                  <a:srgbClr val="6C6B65"/>
                </a:solidFill>
                <a:latin typeface="Courier New"/>
                <a:ea typeface="Courier New"/>
                <a:cs typeface="Courier New"/>
              </a:rPr>
              <a:t>WIAAS ASIA FIELD ATLAS</a:t>
            </a:r>
            <a:endParaRPr lang="en-US" sz="500"/>
          </a:p>
        </p:txBody>
      </p:sp>
      <p:sp>
        <p:nvSpPr>
          <p:cNvPr id="2146304322" name="Text 10"/>
          <p:cNvSpPr/>
          <p:nvPr/>
        </p:nvSpPr>
        <p:spPr bwMode="auto">
          <a:xfrm>
            <a:off x="9418320" y="393192"/>
            <a:ext cx="2331720" cy="109728"/>
          </a:xfrm>
          <a:prstGeom prst="rect">
            <a:avLst/>
          </a:prstGeom>
          <a:noFill/>
          <a:ln/>
        </p:spPr>
        <p:txBody>
          <a:bodyPr wrap="square" lIns="0" tIns="0" rIns="0" bIns="0" rtlCol="0" anchor="ctr"/>
          <a:lstStyle/>
          <a:p>
            <a:pPr marL="0" indent="0" algn="r">
              <a:buNone/>
              <a:defRPr/>
            </a:pPr>
            <a:r>
              <a:rPr lang="en-US" sz="700" b="1">
                <a:solidFill>
                  <a:srgbClr val="6C6B65"/>
                </a:solidFill>
                <a:latin typeface="Courier New"/>
                <a:ea typeface="Courier New"/>
                <a:cs typeface="Courier New"/>
              </a:rPr>
              <a:t>PLATE 01 - FIELD BRIEFING</a:t>
            </a:r>
            <a:endParaRPr sz="700" b="1"/>
          </a:p>
        </p:txBody>
      </p:sp>
      <p:sp>
        <p:nvSpPr>
          <p:cNvPr id="1746840299" name="Text 11"/>
          <p:cNvSpPr/>
          <p:nvPr/>
        </p:nvSpPr>
        <p:spPr bwMode="auto">
          <a:xfrm>
            <a:off x="393192" y="6492240"/>
            <a:ext cx="3017519" cy="109728"/>
          </a:xfrm>
          <a:prstGeom prst="rect">
            <a:avLst/>
          </a:prstGeom>
          <a:noFill/>
          <a:ln/>
        </p:spPr>
        <p:txBody>
          <a:bodyPr wrap="square" lIns="0" tIns="0" rIns="0" bIns="0" rtlCol="0" anchor="ctr"/>
          <a:lstStyle/>
          <a:p>
            <a:pPr marL="0" indent="0">
              <a:buNone/>
              <a:defRPr/>
            </a:pPr>
            <a:r>
              <a:rPr lang="en-US" sz="450">
                <a:solidFill>
                  <a:srgbClr val="6C6B65"/>
                </a:solidFill>
                <a:latin typeface="Courier New"/>
                <a:ea typeface="Courier New"/>
                <a:cs typeface="Courier New"/>
              </a:rPr>
              <a:t>DEVELOPED WITH QODER + N8N ORCHESTRATION</a:t>
            </a:r>
            <a:endParaRPr lang="en-US" sz="450"/>
          </a:p>
        </p:txBody>
      </p:sp>
      <p:sp>
        <p:nvSpPr>
          <p:cNvPr id="54516212" name="Text 12"/>
          <p:cNvSpPr/>
          <p:nvPr/>
        </p:nvSpPr>
        <p:spPr bwMode="auto">
          <a:xfrm>
            <a:off x="11411712" y="6492240"/>
            <a:ext cx="329184" cy="109728"/>
          </a:xfrm>
          <a:prstGeom prst="rect">
            <a:avLst/>
          </a:prstGeom>
          <a:noFill/>
          <a:ln/>
        </p:spPr>
        <p:txBody>
          <a:bodyPr wrap="square" lIns="0" tIns="0" rIns="0" bIns="0" rtlCol="0" anchor="ctr"/>
          <a:lstStyle/>
          <a:p>
            <a:pPr marL="0" indent="0" algn="r">
              <a:buNone/>
              <a:defRPr/>
            </a:pPr>
            <a:r>
              <a:rPr lang="en-US" sz="450">
                <a:solidFill>
                  <a:srgbClr val="6C6B65"/>
                </a:solidFill>
                <a:latin typeface="Courier New"/>
                <a:ea typeface="Courier New"/>
                <a:cs typeface="Courier New"/>
              </a:rPr>
              <a:t>01 / 12</a:t>
            </a:r>
            <a:endParaRPr lang="en-US" sz="450"/>
          </a:p>
        </p:txBody>
      </p:sp>
      <p:sp>
        <p:nvSpPr>
          <p:cNvPr id="1114859211" name="Shape 13"/>
          <p:cNvSpPr/>
          <p:nvPr/>
        </p:nvSpPr>
        <p:spPr bwMode="auto">
          <a:xfrm>
            <a:off x="530352" y="923544"/>
            <a:ext cx="365760" cy="0"/>
          </a:xfrm>
          <a:prstGeom prst="line">
            <a:avLst/>
          </a:prstGeom>
          <a:noFill/>
          <a:ln w="16510">
            <a:solidFill>
              <a:srgbClr val="B4533B"/>
            </a:solidFill>
            <a:prstDash val="solid"/>
          </a:ln>
        </p:spPr>
      </p:sp>
      <p:sp>
        <p:nvSpPr>
          <p:cNvPr id="1693409343" name="Text 14"/>
          <p:cNvSpPr/>
          <p:nvPr/>
        </p:nvSpPr>
        <p:spPr bwMode="auto">
          <a:xfrm>
            <a:off x="1060704" y="859536"/>
            <a:ext cx="1828800" cy="146304"/>
          </a:xfrm>
          <a:prstGeom prst="rect">
            <a:avLst/>
          </a:prstGeom>
          <a:noFill/>
          <a:ln/>
        </p:spPr>
        <p:txBody>
          <a:bodyPr wrap="square" lIns="0" tIns="0" rIns="0" bIns="0" rtlCol="0" anchor="ctr"/>
          <a:lstStyle/>
          <a:p>
            <a:pPr marL="0" indent="0">
              <a:buNone/>
              <a:defRPr/>
            </a:pPr>
            <a:r>
              <a:rPr lang="en-US" sz="700" b="1">
                <a:solidFill>
                  <a:srgbClr val="B4533B"/>
                </a:solidFill>
                <a:latin typeface="Courier New"/>
                <a:ea typeface="Courier New"/>
                <a:cs typeface="Courier New"/>
              </a:rPr>
              <a:t>ALIBABA CLOUD </a:t>
            </a:r>
            <a:r>
              <a:rPr lang="en-US" sz="700" b="1">
                <a:solidFill>
                  <a:srgbClr val="B4533B"/>
                </a:solidFill>
                <a:latin typeface="Courier New"/>
                <a:ea typeface="Courier New"/>
                <a:cs typeface="Courier New"/>
              </a:rPr>
              <a:t>HACKATHON </a:t>
            </a:r>
            <a:r>
              <a:rPr lang="en-US" sz="700" b="1">
                <a:solidFill>
                  <a:srgbClr val="B4533B"/>
                </a:solidFill>
                <a:latin typeface="Courier New"/>
                <a:ea typeface="Courier New"/>
                <a:cs typeface="Courier New"/>
              </a:rPr>
              <a:t>SUBMISSION</a:t>
            </a:r>
            <a:endParaRPr sz="700" b="1"/>
          </a:p>
        </p:txBody>
      </p:sp>
      <p:sp>
        <p:nvSpPr>
          <p:cNvPr id="1921573142" name="Text 15"/>
          <p:cNvSpPr/>
          <p:nvPr/>
        </p:nvSpPr>
        <p:spPr bwMode="auto">
          <a:xfrm>
            <a:off x="530352" y="1325880"/>
            <a:ext cx="3794760" cy="530352"/>
          </a:xfrm>
          <a:prstGeom prst="rect">
            <a:avLst/>
          </a:prstGeom>
          <a:noFill/>
          <a:ln/>
        </p:spPr>
        <p:txBody>
          <a:bodyPr wrap="square" lIns="0" tIns="0" rIns="0" bIns="0" rtlCol="0" anchor="ctr"/>
          <a:lstStyle/>
          <a:p>
            <a:pPr marL="0" indent="0">
              <a:buNone/>
              <a:defRPr/>
            </a:pPr>
            <a:r>
              <a:rPr lang="en-US" sz="3700" b="1">
                <a:solidFill>
                  <a:srgbClr val="0D1B21"/>
                </a:solidFill>
                <a:latin typeface="Georgia"/>
                <a:ea typeface="Georgia"/>
                <a:cs typeface="Georgia"/>
              </a:rPr>
              <a:t>WIaaS Asia</a:t>
            </a:r>
            <a:endParaRPr lang="en-US" sz="3700"/>
          </a:p>
        </p:txBody>
      </p:sp>
      <p:sp>
        <p:nvSpPr>
          <p:cNvPr id="901825154" name="Text 16"/>
          <p:cNvSpPr/>
          <p:nvPr/>
        </p:nvSpPr>
        <p:spPr bwMode="auto">
          <a:xfrm>
            <a:off x="530352" y="1993392"/>
            <a:ext cx="3977640" cy="347472"/>
          </a:xfrm>
          <a:prstGeom prst="rect">
            <a:avLst/>
          </a:prstGeom>
          <a:noFill/>
          <a:ln/>
        </p:spPr>
        <p:txBody>
          <a:bodyPr wrap="square" lIns="0" tIns="0" rIns="0" bIns="0" rtlCol="0" anchor="ctr"/>
          <a:lstStyle/>
          <a:p>
            <a:pPr marL="0" indent="0">
              <a:buNone/>
              <a:defRPr/>
            </a:pPr>
            <a:r>
              <a:rPr lang="en-US" sz="1700" i="1">
                <a:solidFill>
                  <a:srgbClr val="B4533B"/>
                </a:solidFill>
                <a:latin typeface="Georgia"/>
                <a:ea typeface="Georgia"/>
                <a:cs typeface="Georgia"/>
              </a:rPr>
              <a:t>Weather Intelligence as a Service</a:t>
            </a:r>
            <a:endParaRPr lang="en-US" sz="1700"/>
          </a:p>
        </p:txBody>
      </p:sp>
      <p:sp>
        <p:nvSpPr>
          <p:cNvPr id="1451679722" name="Text 17"/>
          <p:cNvSpPr/>
          <p:nvPr/>
        </p:nvSpPr>
        <p:spPr bwMode="auto">
          <a:xfrm>
            <a:off x="530352" y="2633472"/>
            <a:ext cx="3840480" cy="621792"/>
          </a:xfrm>
          <a:prstGeom prst="rect">
            <a:avLst/>
          </a:prstGeom>
          <a:noFill/>
          <a:ln/>
        </p:spPr>
        <p:txBody>
          <a:bodyPr wrap="square" lIns="254" tIns="254" rIns="254" bIns="254" rtlCol="0" anchor="t">
            <a:normAutofit/>
          </a:bodyPr>
          <a:lstStyle/>
          <a:p>
            <a:pPr marL="0" indent="0" algn="l">
              <a:buNone/>
              <a:defRPr/>
            </a:pPr>
            <a:r>
              <a:rPr lang="en-US" sz="1050">
                <a:solidFill>
                  <a:srgbClr val="0D1B21"/>
                </a:solidFill>
                <a:latin typeface="Asana"/>
                <a:ea typeface="Asana"/>
                <a:cs typeface="Asana"/>
              </a:rPr>
              <a:t>A pan-Asian decision layer that turns weather evidence into practical operational intelligence for farms, utilities, logistics teams, outdoor workers, and emergency coordinators.</a:t>
            </a:r>
            <a:endParaRPr sz="1050">
              <a:latin typeface="Asana"/>
              <a:cs typeface="Asana"/>
            </a:endParaRPr>
          </a:p>
        </p:txBody>
      </p:sp>
      <p:sp>
        <p:nvSpPr>
          <p:cNvPr id="253139409" name="Shape 18"/>
          <p:cNvSpPr/>
          <p:nvPr/>
        </p:nvSpPr>
        <p:spPr bwMode="auto">
          <a:xfrm>
            <a:off x="530352" y="3456432"/>
            <a:ext cx="3566160" cy="0"/>
          </a:xfrm>
          <a:prstGeom prst="line">
            <a:avLst/>
          </a:prstGeom>
          <a:noFill/>
          <a:ln w="10160">
            <a:solidFill>
              <a:srgbClr val="A9A193"/>
            </a:solidFill>
            <a:prstDash val="solid"/>
          </a:ln>
        </p:spPr>
      </p:sp>
      <p:sp>
        <p:nvSpPr>
          <p:cNvPr id="2144527214" name="Text 19"/>
          <p:cNvSpPr/>
          <p:nvPr/>
        </p:nvSpPr>
        <p:spPr bwMode="auto">
          <a:xfrm flipH="0" flipV="0">
            <a:off x="475646" y="3631882"/>
            <a:ext cx="4123785" cy="566928"/>
          </a:xfrm>
          <a:prstGeom prst="rect">
            <a:avLst/>
          </a:prstGeom>
          <a:noFill/>
          <a:ln/>
        </p:spPr>
        <p:txBody>
          <a:bodyPr wrap="square" lIns="253" tIns="253" rIns="253" bIns="253" rtlCol="0" anchor="t">
            <a:normAutofit/>
          </a:bodyPr>
          <a:lstStyle/>
          <a:p>
            <a:pPr marL="0" indent="0" algn="l">
              <a:buNone/>
              <a:defRPr/>
            </a:pPr>
            <a:r>
              <a:rPr lang="en-US" sz="950" b="0">
                <a:solidFill>
                  <a:srgbClr val="0D1B21"/>
                </a:solidFill>
                <a:latin typeface="Asana"/>
                <a:ea typeface="Asana"/>
                <a:cs typeface="Asana"/>
              </a:rPr>
              <a:t>Developed </a:t>
            </a:r>
            <a:r>
              <a:rPr lang="en-US" sz="950" b="0">
                <a:solidFill>
                  <a:srgbClr val="0D1B21"/>
                </a:solidFill>
                <a:latin typeface="Asana"/>
                <a:ea typeface="Asana"/>
                <a:cs typeface="Asana"/>
              </a:rPr>
              <a:t>with Qoder. Orchestrated with n8n. FastAPI calculates deterministic weather, grid, water, and resource metrics before any language model interprets them.</a:t>
            </a:r>
            <a:endParaRPr sz="950" b="0">
              <a:latin typeface="Asana"/>
              <a:cs typeface="Asana"/>
            </a:endParaRPr>
          </a:p>
        </p:txBody>
      </p:sp>
      <p:sp>
        <p:nvSpPr>
          <p:cNvPr id="283018281" name="Text 20"/>
          <p:cNvSpPr/>
          <p:nvPr/>
        </p:nvSpPr>
        <p:spPr bwMode="auto">
          <a:xfrm>
            <a:off x="530352" y="5230368"/>
            <a:ext cx="2468880" cy="182880"/>
          </a:xfrm>
          <a:prstGeom prst="rect">
            <a:avLst/>
          </a:prstGeom>
          <a:noFill/>
          <a:ln/>
        </p:spPr>
        <p:txBody>
          <a:bodyPr wrap="square" lIns="254" tIns="254" rIns="254" bIns="254" rtlCol="0" anchor="t">
            <a:normAutofit/>
          </a:bodyPr>
          <a:lstStyle/>
          <a:p>
            <a:pPr marL="0" indent="0" algn="l">
              <a:buNone/>
              <a:defRPr/>
            </a:pPr>
            <a:r>
              <a:rPr lang="en-US" sz="950" b="0">
                <a:solidFill>
                  <a:srgbClr val="0D1B21"/>
                </a:solidFill>
                <a:latin typeface="Asana"/>
                <a:ea typeface="Asana"/>
                <a:cs typeface="Asana"/>
              </a:rPr>
              <a:t>Made by Muhammad Abdullah</a:t>
            </a:r>
            <a:endParaRPr sz="950" b="0">
              <a:latin typeface="Asana"/>
              <a:cs typeface="Asana"/>
            </a:endParaRPr>
          </a:p>
        </p:txBody>
      </p:sp>
      <p:sp>
        <p:nvSpPr>
          <p:cNvPr id="881541516" name="Text 21"/>
          <p:cNvSpPr/>
          <p:nvPr/>
        </p:nvSpPr>
        <p:spPr bwMode="auto">
          <a:xfrm>
            <a:off x="530352" y="5650992"/>
            <a:ext cx="2743200" cy="365760"/>
          </a:xfrm>
          <a:prstGeom prst="rect">
            <a:avLst/>
          </a:prstGeom>
          <a:noFill/>
          <a:ln/>
        </p:spPr>
        <p:txBody>
          <a:bodyPr wrap="square" lIns="254" tIns="254" rIns="254" bIns="254" rtlCol="0" anchor="t">
            <a:normAutofit/>
          </a:bodyPr>
          <a:lstStyle/>
          <a:p>
            <a:pPr marL="0" indent="0" algn="l">
              <a:buNone/>
              <a:defRPr/>
            </a:pPr>
            <a:r>
              <a:rPr lang="en-US" sz="600">
                <a:solidFill>
                  <a:srgbClr val="6C6B65"/>
                </a:solidFill>
                <a:latin typeface="Arial Narrow"/>
                <a:ea typeface="Arial Narrow"/>
                <a:cs typeface="Arial Narrow"/>
              </a:rPr>
              <a:t>LinkedIn: mohammad-abdullah-25ba1721b</a:t>
            </a:r>
            <a:endParaRPr lang="en-US" sz="600"/>
          </a:p>
          <a:p>
            <a:pPr marL="0" indent="0" algn="l">
              <a:buNone/>
              <a:defRPr/>
            </a:pPr>
            <a:r>
              <a:rPr lang="en-US" sz="600">
                <a:solidFill>
                  <a:srgbClr val="6C6B65"/>
                </a:solidFill>
                <a:latin typeface="Arial Narrow"/>
                <a:ea typeface="Arial Narrow"/>
                <a:cs typeface="Arial Narrow"/>
              </a:rPr>
              <a:t>GitHub: abdxllxh/WIAAS---Asia</a:t>
            </a:r>
            <a:endParaRPr lang="en-US" sz="600"/>
          </a:p>
        </p:txBody>
      </p:sp>
      <p:pic>
        <p:nvPicPr>
          <p:cNvPr id="1571104461" name="Image 0" descr="/mnt/data/asia_map_clean_crop.png"/>
          <p:cNvPicPr>
            <a:picLocks noChangeAspect="1"/>
          </p:cNvPicPr>
          <p:nvPr/>
        </p:nvPicPr>
        <p:blipFill rotWithShape="1">
          <a:blip r:embed="rId3"/>
          <a:stretch/>
        </p:blipFill>
        <p:spPr bwMode="auto">
          <a:xfrm>
            <a:off x="4599432" y="1124712"/>
            <a:ext cx="7086600" cy="4709160"/>
          </a:xfrm>
          <a:prstGeom prst="rect">
            <a:avLst/>
          </a:prstGeom>
        </p:spPr>
      </p:pic>
      <p:sp>
        <p:nvSpPr>
          <p:cNvPr id="1154897952" name="Text 23"/>
          <p:cNvSpPr/>
          <p:nvPr/>
        </p:nvSpPr>
        <p:spPr bwMode="auto">
          <a:xfrm>
            <a:off x="5065776" y="1042416"/>
            <a:ext cx="2377440" cy="109728"/>
          </a:xfrm>
          <a:prstGeom prst="rect">
            <a:avLst/>
          </a:prstGeom>
          <a:noFill/>
          <a:ln/>
        </p:spPr>
        <p:txBody>
          <a:bodyPr wrap="square" lIns="0" tIns="0" rIns="0" bIns="0" rtlCol="0" anchor="ctr"/>
          <a:lstStyle/>
          <a:p>
            <a:pPr marL="0" indent="0" algn="ctr">
              <a:buNone/>
              <a:defRPr/>
            </a:pPr>
            <a:r>
              <a:rPr lang="en-US" sz="450">
                <a:solidFill>
                  <a:srgbClr val="108A98"/>
                </a:solidFill>
                <a:latin typeface="Courier New"/>
                <a:ea typeface="Courier New"/>
                <a:cs typeface="Courier New"/>
              </a:rPr>
              <a:t>Asia operating scope / theme-matched country borders</a:t>
            </a:r>
            <a:endParaRPr lang="en-US" sz="45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500" advClick="1">
        <p:fade thruBlk="0"/>
      </p:transition>
    </mc:Choice>
    <mc:Fallback>
      <p:transition spd="fast" advClick="1">
        <p:fade thruBlk="0"/>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2">
    <p:bg>
      <p:bgPr shadeToTitle="0">
        <a:solidFill>
          <a:srgbClr val="F4EFEA"/>
        </a:solidFill>
      </p:bgPr>
    </p:bg>
    <p:spTree>
      <p:nvGrpSpPr>
        <p:cNvPr id="1" name=""/>
        <p:cNvGrpSpPr/>
        <p:nvPr/>
      </p:nvGrpSpPr>
      <p:grpSpPr bwMode="auto">
        <a:xfrm>
          <a:off x="0" y="0"/>
          <a:ext cx="0" cy="0"/>
          <a:chOff x="0" y="0"/>
          <a:chExt cx="0" cy="0"/>
        </a:xfrm>
      </p:grpSpPr>
      <p:sp>
        <p:nvSpPr>
          <p:cNvPr id="1882265188" name="Shape 0"/>
          <p:cNvSpPr/>
          <p:nvPr/>
        </p:nvSpPr>
        <p:spPr bwMode="auto">
          <a:xfrm>
            <a:off x="164592" y="164592"/>
            <a:ext cx="11859768" cy="6528816"/>
          </a:xfrm>
          <a:prstGeom prst="rect">
            <a:avLst/>
          </a:prstGeom>
          <a:solidFill>
            <a:srgbClr val="F4EFEA">
              <a:alpha val="0"/>
            </a:srgbClr>
          </a:solidFill>
          <a:ln w="10160">
            <a:solidFill>
              <a:srgbClr val="27343A"/>
            </a:solidFill>
            <a:prstDash val="solid"/>
          </a:ln>
        </p:spPr>
        <p:txBody>
          <a:bodyPr anchor="ctr"/>
          <a:p>
            <a:pPr algn="ctr">
              <a:defRPr/>
            </a:pPr>
            <a:endParaRPr>
              <a:latin typeface="Asana"/>
              <a:cs typeface="Asana"/>
            </a:endParaRPr>
          </a:p>
        </p:txBody>
      </p:sp>
      <p:sp>
        <p:nvSpPr>
          <p:cNvPr id="1549451687" name="Shape 1"/>
          <p:cNvSpPr/>
          <p:nvPr/>
        </p:nvSpPr>
        <p:spPr bwMode="auto">
          <a:xfrm>
            <a:off x="36576" y="164592"/>
            <a:ext cx="256032" cy="0"/>
          </a:xfrm>
          <a:prstGeom prst="line">
            <a:avLst/>
          </a:prstGeom>
          <a:noFill/>
          <a:ln w="9525">
            <a:solidFill>
              <a:srgbClr val="27343A"/>
            </a:solidFill>
            <a:prstDash val="solid"/>
          </a:ln>
        </p:spPr>
      </p:sp>
      <p:sp>
        <p:nvSpPr>
          <p:cNvPr id="2070834214" name="Shape 2"/>
          <p:cNvSpPr/>
          <p:nvPr/>
        </p:nvSpPr>
        <p:spPr bwMode="auto">
          <a:xfrm>
            <a:off x="164592" y="36576"/>
            <a:ext cx="0" cy="256032"/>
          </a:xfrm>
          <a:prstGeom prst="line">
            <a:avLst/>
          </a:prstGeom>
          <a:noFill/>
          <a:ln w="9525">
            <a:solidFill>
              <a:srgbClr val="27343A"/>
            </a:solidFill>
            <a:prstDash val="solid"/>
          </a:ln>
        </p:spPr>
      </p:sp>
      <p:sp>
        <p:nvSpPr>
          <p:cNvPr id="890666036" name="Shape 3"/>
          <p:cNvSpPr/>
          <p:nvPr/>
        </p:nvSpPr>
        <p:spPr bwMode="auto">
          <a:xfrm>
            <a:off x="11896344" y="164592"/>
            <a:ext cx="256032" cy="0"/>
          </a:xfrm>
          <a:prstGeom prst="line">
            <a:avLst/>
          </a:prstGeom>
          <a:noFill/>
          <a:ln w="9525">
            <a:solidFill>
              <a:srgbClr val="27343A"/>
            </a:solidFill>
            <a:prstDash val="solid"/>
          </a:ln>
        </p:spPr>
      </p:sp>
      <p:sp>
        <p:nvSpPr>
          <p:cNvPr id="608727773" name="Shape 4"/>
          <p:cNvSpPr/>
          <p:nvPr/>
        </p:nvSpPr>
        <p:spPr bwMode="auto">
          <a:xfrm>
            <a:off x="12024360" y="36576"/>
            <a:ext cx="0" cy="256032"/>
          </a:xfrm>
          <a:prstGeom prst="line">
            <a:avLst/>
          </a:prstGeom>
          <a:noFill/>
          <a:ln w="9525">
            <a:solidFill>
              <a:srgbClr val="27343A"/>
            </a:solidFill>
            <a:prstDash val="solid"/>
          </a:ln>
        </p:spPr>
      </p:sp>
      <p:sp>
        <p:nvSpPr>
          <p:cNvPr id="2015658174" name="Shape 5"/>
          <p:cNvSpPr/>
          <p:nvPr/>
        </p:nvSpPr>
        <p:spPr bwMode="auto">
          <a:xfrm>
            <a:off x="36576" y="6693408"/>
            <a:ext cx="256032" cy="0"/>
          </a:xfrm>
          <a:prstGeom prst="line">
            <a:avLst/>
          </a:prstGeom>
          <a:noFill/>
          <a:ln w="9525">
            <a:solidFill>
              <a:srgbClr val="27343A"/>
            </a:solidFill>
            <a:prstDash val="solid"/>
          </a:ln>
        </p:spPr>
      </p:sp>
      <p:sp>
        <p:nvSpPr>
          <p:cNvPr id="661649726" name="Shape 6"/>
          <p:cNvSpPr/>
          <p:nvPr/>
        </p:nvSpPr>
        <p:spPr bwMode="auto">
          <a:xfrm>
            <a:off x="164592" y="6565392"/>
            <a:ext cx="0" cy="256032"/>
          </a:xfrm>
          <a:prstGeom prst="line">
            <a:avLst/>
          </a:prstGeom>
          <a:noFill/>
          <a:ln w="9525">
            <a:solidFill>
              <a:srgbClr val="27343A"/>
            </a:solidFill>
            <a:prstDash val="solid"/>
          </a:ln>
        </p:spPr>
      </p:sp>
      <p:sp>
        <p:nvSpPr>
          <p:cNvPr id="1153681681" name="Shape 7"/>
          <p:cNvSpPr/>
          <p:nvPr/>
        </p:nvSpPr>
        <p:spPr bwMode="auto">
          <a:xfrm>
            <a:off x="11896344" y="6693408"/>
            <a:ext cx="256032" cy="0"/>
          </a:xfrm>
          <a:prstGeom prst="line">
            <a:avLst/>
          </a:prstGeom>
          <a:noFill/>
          <a:ln w="9525">
            <a:solidFill>
              <a:srgbClr val="27343A"/>
            </a:solidFill>
            <a:prstDash val="solid"/>
          </a:ln>
        </p:spPr>
      </p:sp>
      <p:sp>
        <p:nvSpPr>
          <p:cNvPr id="349309548" name="Shape 8"/>
          <p:cNvSpPr/>
          <p:nvPr/>
        </p:nvSpPr>
        <p:spPr bwMode="auto">
          <a:xfrm>
            <a:off x="12024360" y="6565392"/>
            <a:ext cx="0" cy="256032"/>
          </a:xfrm>
          <a:prstGeom prst="line">
            <a:avLst/>
          </a:prstGeom>
          <a:noFill/>
          <a:ln w="9525">
            <a:solidFill>
              <a:srgbClr val="27343A"/>
            </a:solidFill>
            <a:prstDash val="solid"/>
          </a:ln>
        </p:spPr>
      </p:sp>
      <p:sp>
        <p:nvSpPr>
          <p:cNvPr id="2078005679" name="Text 9"/>
          <p:cNvSpPr/>
          <p:nvPr/>
        </p:nvSpPr>
        <p:spPr bwMode="auto">
          <a:xfrm>
            <a:off x="393192" y="393192"/>
            <a:ext cx="2834640" cy="109728"/>
          </a:xfrm>
          <a:prstGeom prst="rect">
            <a:avLst/>
          </a:prstGeom>
          <a:noFill/>
          <a:ln/>
        </p:spPr>
        <p:txBody>
          <a:bodyPr wrap="square" lIns="0" tIns="0" rIns="0" bIns="0" rtlCol="0" anchor="ctr"/>
          <a:lstStyle/>
          <a:p>
            <a:pPr marL="0" indent="0">
              <a:buNone/>
              <a:defRPr/>
            </a:pPr>
            <a:r>
              <a:rPr lang="en-US" sz="500">
                <a:solidFill>
                  <a:srgbClr val="6C6B65"/>
                </a:solidFill>
                <a:latin typeface="Asana"/>
                <a:ea typeface="Asana"/>
                <a:cs typeface="Asana"/>
              </a:rPr>
              <a:t>WIAAS ASIA FIELD ATLAS</a:t>
            </a:r>
            <a:endParaRPr sz="500">
              <a:latin typeface="Asana"/>
              <a:cs typeface="Asana"/>
            </a:endParaRPr>
          </a:p>
        </p:txBody>
      </p:sp>
      <p:sp>
        <p:nvSpPr>
          <p:cNvPr id="1238185333" name="Text 10"/>
          <p:cNvSpPr/>
          <p:nvPr/>
        </p:nvSpPr>
        <p:spPr bwMode="auto">
          <a:xfrm>
            <a:off x="9418320" y="393192"/>
            <a:ext cx="2331720" cy="109728"/>
          </a:xfrm>
          <a:prstGeom prst="rect">
            <a:avLst/>
          </a:prstGeom>
          <a:noFill/>
          <a:ln/>
        </p:spPr>
        <p:txBody>
          <a:bodyPr wrap="square" lIns="0" tIns="0" rIns="0" bIns="0" rtlCol="0" anchor="ctr"/>
          <a:lstStyle/>
          <a:p>
            <a:pPr marL="0" indent="0" algn="r">
              <a:buNone/>
              <a:defRPr/>
            </a:pPr>
            <a:r>
              <a:rPr lang="en-US" sz="700" b="1">
                <a:solidFill>
                  <a:srgbClr val="6C6B65"/>
                </a:solidFill>
                <a:latin typeface="Asana"/>
                <a:ea typeface="Asana"/>
                <a:cs typeface="Asana"/>
              </a:rPr>
              <a:t>PLATE 02 - PROBLEM DEFINITION</a:t>
            </a:r>
            <a:endParaRPr sz="700" b="1">
              <a:latin typeface="Asana"/>
              <a:cs typeface="Asana"/>
            </a:endParaRPr>
          </a:p>
        </p:txBody>
      </p:sp>
      <p:sp>
        <p:nvSpPr>
          <p:cNvPr id="1735902498" name="Text 11"/>
          <p:cNvSpPr/>
          <p:nvPr/>
        </p:nvSpPr>
        <p:spPr bwMode="auto">
          <a:xfrm>
            <a:off x="393192" y="6492240"/>
            <a:ext cx="3017519" cy="109728"/>
          </a:xfrm>
          <a:prstGeom prst="rect">
            <a:avLst/>
          </a:prstGeom>
          <a:noFill/>
          <a:ln/>
        </p:spPr>
        <p:txBody>
          <a:bodyPr wrap="square" lIns="0" tIns="0" rIns="0" bIns="0" rtlCol="0" anchor="ctr"/>
          <a:lstStyle/>
          <a:p>
            <a:pPr marL="0" indent="0">
              <a:buNone/>
              <a:defRPr/>
            </a:pPr>
            <a:r>
              <a:rPr lang="en-US" sz="450">
                <a:solidFill>
                  <a:srgbClr val="6C6B65"/>
                </a:solidFill>
                <a:latin typeface="Asana"/>
                <a:ea typeface="Asana"/>
                <a:cs typeface="Asana"/>
              </a:rPr>
              <a:t>DEVELOPED WITH QODER + N8N ORCHESTRATION</a:t>
            </a:r>
            <a:endParaRPr sz="450">
              <a:latin typeface="Asana"/>
              <a:cs typeface="Asana"/>
            </a:endParaRPr>
          </a:p>
        </p:txBody>
      </p:sp>
      <p:sp>
        <p:nvSpPr>
          <p:cNvPr id="1896446098" name="Text 12"/>
          <p:cNvSpPr/>
          <p:nvPr/>
        </p:nvSpPr>
        <p:spPr bwMode="auto">
          <a:xfrm>
            <a:off x="11411712" y="6492240"/>
            <a:ext cx="329184" cy="109728"/>
          </a:xfrm>
          <a:prstGeom prst="rect">
            <a:avLst/>
          </a:prstGeom>
          <a:noFill/>
          <a:ln/>
        </p:spPr>
        <p:txBody>
          <a:bodyPr wrap="square" lIns="0" tIns="0" rIns="0" bIns="0" rtlCol="0" anchor="ctr"/>
          <a:lstStyle/>
          <a:p>
            <a:pPr marL="0" indent="0" algn="r">
              <a:buNone/>
              <a:defRPr/>
            </a:pPr>
            <a:r>
              <a:rPr lang="en-US" sz="450">
                <a:solidFill>
                  <a:srgbClr val="6C6B65"/>
                </a:solidFill>
                <a:latin typeface="Asana"/>
                <a:ea typeface="Asana"/>
                <a:cs typeface="Asana"/>
              </a:rPr>
              <a:t>02 / 12</a:t>
            </a:r>
            <a:endParaRPr sz="450">
              <a:latin typeface="Asana"/>
              <a:cs typeface="Asana"/>
            </a:endParaRPr>
          </a:p>
        </p:txBody>
      </p:sp>
      <p:sp>
        <p:nvSpPr>
          <p:cNvPr id="1294826593" name="Shape 13"/>
          <p:cNvSpPr/>
          <p:nvPr/>
        </p:nvSpPr>
        <p:spPr bwMode="auto">
          <a:xfrm>
            <a:off x="530352" y="914400"/>
            <a:ext cx="365760" cy="0"/>
          </a:xfrm>
          <a:prstGeom prst="line">
            <a:avLst/>
          </a:prstGeom>
          <a:noFill/>
          <a:ln w="16510">
            <a:solidFill>
              <a:srgbClr val="B4533B"/>
            </a:solidFill>
            <a:prstDash val="solid"/>
          </a:ln>
        </p:spPr>
      </p:sp>
      <p:sp>
        <p:nvSpPr>
          <p:cNvPr id="1898469113" name="Text 14"/>
          <p:cNvSpPr/>
          <p:nvPr/>
        </p:nvSpPr>
        <p:spPr bwMode="auto">
          <a:xfrm>
            <a:off x="1060704" y="850392"/>
            <a:ext cx="1828800" cy="146304"/>
          </a:xfrm>
          <a:prstGeom prst="rect">
            <a:avLst/>
          </a:prstGeom>
          <a:noFill/>
          <a:ln/>
        </p:spPr>
        <p:txBody>
          <a:bodyPr wrap="square" lIns="0" tIns="0" rIns="0" bIns="0" rtlCol="0" anchor="ctr"/>
          <a:lstStyle/>
          <a:p>
            <a:pPr marL="0" indent="0">
              <a:buNone/>
              <a:defRPr/>
            </a:pPr>
            <a:r>
              <a:rPr lang="en-US" sz="600" b="1">
                <a:solidFill>
                  <a:srgbClr val="B4533B"/>
                </a:solidFill>
                <a:latin typeface="Asana"/>
                <a:ea typeface="Asana"/>
                <a:cs typeface="Asana"/>
              </a:rPr>
              <a:t>DIAGNOSTICS</a:t>
            </a:r>
            <a:endParaRPr sz="550">
              <a:latin typeface="Asana"/>
              <a:cs typeface="Asana"/>
            </a:endParaRPr>
          </a:p>
        </p:txBody>
      </p:sp>
      <p:sp>
        <p:nvSpPr>
          <p:cNvPr id="2046090574" name="Text 15"/>
          <p:cNvSpPr/>
          <p:nvPr/>
        </p:nvSpPr>
        <p:spPr bwMode="auto">
          <a:xfrm>
            <a:off x="530352" y="1115568"/>
            <a:ext cx="9875520" cy="384048"/>
          </a:xfrm>
          <a:prstGeom prst="rect">
            <a:avLst/>
          </a:prstGeom>
          <a:noFill/>
          <a:ln/>
        </p:spPr>
        <p:txBody>
          <a:bodyPr wrap="square" lIns="0" tIns="0" rIns="0" bIns="0" rtlCol="0" anchor="ctr"/>
          <a:lstStyle/>
          <a:p>
            <a:pPr marL="0" indent="0">
              <a:buNone/>
              <a:defRPr/>
            </a:pPr>
            <a:r>
              <a:rPr lang="en-US" sz="2800" b="1">
                <a:solidFill>
                  <a:srgbClr val="0D1B21"/>
                </a:solidFill>
                <a:latin typeface="Asana"/>
                <a:ea typeface="Asana"/>
                <a:cs typeface="Asana"/>
              </a:rPr>
              <a:t>The operational gap</a:t>
            </a:r>
            <a:endParaRPr sz="2800">
              <a:latin typeface="Asana"/>
              <a:cs typeface="Asana"/>
            </a:endParaRPr>
          </a:p>
        </p:txBody>
      </p:sp>
      <p:sp>
        <p:nvSpPr>
          <p:cNvPr id="690976092" name="Text 16"/>
          <p:cNvSpPr/>
          <p:nvPr/>
        </p:nvSpPr>
        <p:spPr bwMode="auto">
          <a:xfrm>
            <a:off x="530352" y="1645920"/>
            <a:ext cx="9601200" cy="256032"/>
          </a:xfrm>
          <a:prstGeom prst="rect">
            <a:avLst/>
          </a:prstGeom>
          <a:noFill/>
          <a:ln/>
        </p:spPr>
        <p:txBody>
          <a:bodyPr wrap="square" lIns="0" tIns="0" rIns="0" bIns="0" rtlCol="0" anchor="ctr"/>
          <a:lstStyle/>
          <a:p>
            <a:pPr marL="0" indent="0">
              <a:buNone/>
              <a:defRPr/>
            </a:pPr>
            <a:r>
              <a:rPr lang="en-US" sz="1100">
                <a:solidFill>
                  <a:srgbClr val="0D1B21"/>
                </a:solidFill>
                <a:latin typeface="Asana"/>
                <a:ea typeface="Asana"/>
                <a:cs typeface="Asana"/>
              </a:rPr>
              <a:t>Forecast data exists. Teams still spend critical time translating it into a decision.</a:t>
            </a:r>
            <a:endParaRPr sz="1100">
              <a:latin typeface="Asana"/>
              <a:cs typeface="Asana"/>
            </a:endParaRPr>
          </a:p>
        </p:txBody>
      </p:sp>
      <p:sp>
        <p:nvSpPr>
          <p:cNvPr id="1591994633" name="Shape 17"/>
          <p:cNvSpPr/>
          <p:nvPr/>
        </p:nvSpPr>
        <p:spPr bwMode="auto">
          <a:xfrm>
            <a:off x="603504" y="2331720"/>
            <a:ext cx="2999232" cy="1920240"/>
          </a:xfrm>
          <a:prstGeom prst="rect">
            <a:avLst/>
          </a:prstGeom>
          <a:solidFill>
            <a:srgbClr val="EFE7D5"/>
          </a:solidFill>
          <a:ln w="10160">
            <a:solidFill>
              <a:srgbClr val="A9A193"/>
            </a:solidFill>
            <a:prstDash val="solid"/>
          </a:ln>
        </p:spPr>
        <p:txBody>
          <a:bodyPr anchor="ctr"/>
          <a:p>
            <a:pPr algn="ctr">
              <a:defRPr/>
            </a:pPr>
            <a:endParaRPr>
              <a:latin typeface="Asana"/>
              <a:cs typeface="Asana"/>
            </a:endParaRPr>
          </a:p>
        </p:txBody>
      </p:sp>
      <p:sp>
        <p:nvSpPr>
          <p:cNvPr id="1040357650" name="Shape 18"/>
          <p:cNvSpPr/>
          <p:nvPr/>
        </p:nvSpPr>
        <p:spPr bwMode="auto">
          <a:xfrm>
            <a:off x="768096" y="2487168"/>
            <a:ext cx="155448" cy="155448"/>
          </a:xfrm>
          <a:prstGeom prst="ellipse">
            <a:avLst/>
          </a:prstGeom>
          <a:solidFill>
            <a:srgbClr val="F4EFEA">
              <a:alpha val="0"/>
            </a:srgbClr>
          </a:solidFill>
          <a:ln w="11430">
            <a:solidFill>
              <a:srgbClr val="108A98"/>
            </a:solidFill>
            <a:prstDash val="solid"/>
          </a:ln>
        </p:spPr>
        <p:txBody>
          <a:bodyPr anchor="ctr"/>
          <a:p>
            <a:pPr algn="ctr">
              <a:defRPr/>
            </a:pPr>
            <a:endParaRPr>
              <a:latin typeface="Asana"/>
              <a:cs typeface="Asana"/>
            </a:endParaRPr>
          </a:p>
        </p:txBody>
      </p:sp>
      <p:sp>
        <p:nvSpPr>
          <p:cNvPr id="94834755" name="Text 19"/>
          <p:cNvSpPr/>
          <p:nvPr/>
        </p:nvSpPr>
        <p:spPr bwMode="auto">
          <a:xfrm>
            <a:off x="789127" y="2519172"/>
            <a:ext cx="118872" cy="45720"/>
          </a:xfrm>
          <a:prstGeom prst="rect">
            <a:avLst/>
          </a:prstGeom>
          <a:noFill/>
          <a:ln/>
        </p:spPr>
        <p:txBody>
          <a:bodyPr wrap="square" lIns="0" tIns="0" rIns="0" bIns="0" rtlCol="0" anchor="ctr"/>
          <a:lstStyle/>
          <a:p>
            <a:pPr marL="0" indent="0" algn="ctr">
              <a:buNone/>
              <a:defRPr/>
            </a:pPr>
            <a:r>
              <a:rPr lang="en-US" sz="500" b="1">
                <a:solidFill>
                  <a:srgbClr val="108A98"/>
                </a:solidFill>
                <a:latin typeface="Asana"/>
                <a:ea typeface="Asana"/>
                <a:cs typeface="Asana"/>
              </a:rPr>
              <a:t>01</a:t>
            </a:r>
            <a:endParaRPr sz="500" b="1">
              <a:latin typeface="Asana"/>
              <a:cs typeface="Asana"/>
            </a:endParaRPr>
          </a:p>
        </p:txBody>
      </p:sp>
      <p:sp>
        <p:nvSpPr>
          <p:cNvPr id="225902821" name="Shape 20"/>
          <p:cNvSpPr/>
          <p:nvPr/>
        </p:nvSpPr>
        <p:spPr bwMode="auto">
          <a:xfrm>
            <a:off x="896112" y="2624328"/>
            <a:ext cx="438912" cy="0"/>
          </a:xfrm>
          <a:prstGeom prst="line">
            <a:avLst/>
          </a:prstGeom>
          <a:noFill/>
          <a:ln w="19050">
            <a:solidFill>
              <a:srgbClr val="108A98"/>
            </a:solidFill>
            <a:prstDash val="solid"/>
          </a:ln>
        </p:spPr>
      </p:sp>
      <p:sp>
        <p:nvSpPr>
          <p:cNvPr id="549046114" name="Text 21"/>
          <p:cNvSpPr/>
          <p:nvPr/>
        </p:nvSpPr>
        <p:spPr bwMode="auto">
          <a:xfrm>
            <a:off x="896112" y="2761488"/>
            <a:ext cx="2377440" cy="164592"/>
          </a:xfrm>
          <a:prstGeom prst="rect">
            <a:avLst/>
          </a:prstGeom>
          <a:noFill/>
          <a:ln/>
        </p:spPr>
        <p:txBody>
          <a:bodyPr wrap="square" lIns="0" tIns="0" rIns="0" bIns="0" rtlCol="0" anchor="ctr"/>
          <a:lstStyle/>
          <a:p>
            <a:pPr marL="0" indent="0">
              <a:buNone/>
              <a:defRPr/>
            </a:pPr>
            <a:r>
              <a:rPr lang="en-US" sz="1350" b="1">
                <a:solidFill>
                  <a:srgbClr val="0D1B21"/>
                </a:solidFill>
                <a:latin typeface="Asana"/>
                <a:ea typeface="Asana"/>
                <a:cs typeface="Asana"/>
              </a:rPr>
              <a:t>Forecasts stop before the decision</a:t>
            </a:r>
            <a:endParaRPr sz="1350">
              <a:latin typeface="Asana"/>
              <a:cs typeface="Asana"/>
            </a:endParaRPr>
          </a:p>
        </p:txBody>
      </p:sp>
      <p:sp>
        <p:nvSpPr>
          <p:cNvPr id="608035771" name="Text 22"/>
          <p:cNvSpPr/>
          <p:nvPr/>
        </p:nvSpPr>
        <p:spPr bwMode="auto">
          <a:xfrm>
            <a:off x="896112" y="3246120"/>
            <a:ext cx="2377440" cy="640080"/>
          </a:xfrm>
          <a:prstGeom prst="rect">
            <a:avLst/>
          </a:prstGeom>
          <a:noFill/>
          <a:ln/>
        </p:spPr>
        <p:txBody>
          <a:bodyPr wrap="square" lIns="254" tIns="254" rIns="254" bIns="254" rtlCol="0" anchor="t">
            <a:normAutofit/>
          </a:bodyPr>
          <a:lstStyle/>
          <a:p>
            <a:pPr marL="0" indent="0" algn="l">
              <a:buNone/>
              <a:defRPr/>
            </a:pPr>
            <a:r>
              <a:rPr lang="en-US" sz="950">
                <a:solidFill>
                  <a:srgbClr val="0D1B21"/>
                </a:solidFill>
                <a:latin typeface="Asana"/>
                <a:ea typeface="Asana"/>
                <a:cs typeface="Asana"/>
              </a:rPr>
              <a:t>Weather products report conditions and probabilities. Operators still decide when to irrigate, slow outdoor work, protect grid capacity, or reroute deliveries.</a:t>
            </a:r>
            <a:endParaRPr sz="950">
              <a:latin typeface="Asana"/>
              <a:cs typeface="Asana"/>
            </a:endParaRPr>
          </a:p>
        </p:txBody>
      </p:sp>
      <p:sp>
        <p:nvSpPr>
          <p:cNvPr id="820846881" name="Shape 23"/>
          <p:cNvSpPr/>
          <p:nvPr/>
        </p:nvSpPr>
        <p:spPr bwMode="auto">
          <a:xfrm>
            <a:off x="4160519" y="2331720"/>
            <a:ext cx="2999232" cy="1920240"/>
          </a:xfrm>
          <a:prstGeom prst="rect">
            <a:avLst/>
          </a:prstGeom>
          <a:solidFill>
            <a:srgbClr val="EFE7D5"/>
          </a:solidFill>
          <a:ln w="10160">
            <a:solidFill>
              <a:srgbClr val="A9A193"/>
            </a:solidFill>
            <a:prstDash val="solid"/>
          </a:ln>
        </p:spPr>
        <p:txBody>
          <a:bodyPr anchor="ctr"/>
          <a:p>
            <a:pPr algn="ctr">
              <a:defRPr/>
            </a:pPr>
            <a:endParaRPr>
              <a:latin typeface="Asana"/>
              <a:cs typeface="Asana"/>
            </a:endParaRPr>
          </a:p>
        </p:txBody>
      </p:sp>
      <p:sp>
        <p:nvSpPr>
          <p:cNvPr id="760797897" name="Shape 24"/>
          <p:cNvSpPr/>
          <p:nvPr/>
        </p:nvSpPr>
        <p:spPr bwMode="auto">
          <a:xfrm>
            <a:off x="4325112" y="2487168"/>
            <a:ext cx="155448" cy="155448"/>
          </a:xfrm>
          <a:prstGeom prst="ellipse">
            <a:avLst/>
          </a:prstGeom>
          <a:solidFill>
            <a:srgbClr val="F4EFEA">
              <a:alpha val="0"/>
            </a:srgbClr>
          </a:solidFill>
          <a:ln w="11430">
            <a:solidFill>
              <a:srgbClr val="C28722"/>
            </a:solidFill>
            <a:prstDash val="solid"/>
          </a:ln>
        </p:spPr>
        <p:txBody>
          <a:bodyPr anchor="ctr"/>
          <a:p>
            <a:pPr algn="ctr">
              <a:defRPr/>
            </a:pPr>
            <a:endParaRPr>
              <a:latin typeface="Asana"/>
              <a:cs typeface="Asana"/>
            </a:endParaRPr>
          </a:p>
        </p:txBody>
      </p:sp>
      <p:sp>
        <p:nvSpPr>
          <p:cNvPr id="1551499083" name="Text 25"/>
          <p:cNvSpPr/>
          <p:nvPr/>
        </p:nvSpPr>
        <p:spPr bwMode="auto">
          <a:xfrm>
            <a:off x="4346143" y="2519172"/>
            <a:ext cx="118872" cy="45720"/>
          </a:xfrm>
          <a:prstGeom prst="rect">
            <a:avLst/>
          </a:prstGeom>
          <a:noFill/>
          <a:ln/>
        </p:spPr>
        <p:txBody>
          <a:bodyPr wrap="square" lIns="0" tIns="0" rIns="0" bIns="0" rtlCol="0" anchor="ctr"/>
          <a:lstStyle/>
          <a:p>
            <a:pPr marL="0" indent="0" algn="ctr">
              <a:buNone/>
              <a:defRPr/>
            </a:pPr>
            <a:r>
              <a:rPr lang="en-US" sz="500" b="1">
                <a:solidFill>
                  <a:srgbClr val="C28722"/>
                </a:solidFill>
                <a:latin typeface="Asana"/>
                <a:ea typeface="Asana"/>
                <a:cs typeface="Asana"/>
              </a:rPr>
              <a:t>02</a:t>
            </a:r>
            <a:endParaRPr sz="450">
              <a:latin typeface="Asana"/>
              <a:cs typeface="Asana"/>
            </a:endParaRPr>
          </a:p>
        </p:txBody>
      </p:sp>
      <p:sp>
        <p:nvSpPr>
          <p:cNvPr id="138426664" name="Shape 26"/>
          <p:cNvSpPr/>
          <p:nvPr/>
        </p:nvSpPr>
        <p:spPr bwMode="auto">
          <a:xfrm>
            <a:off x="4453128" y="2624328"/>
            <a:ext cx="438912" cy="0"/>
          </a:xfrm>
          <a:prstGeom prst="line">
            <a:avLst/>
          </a:prstGeom>
          <a:noFill/>
          <a:ln w="19050">
            <a:solidFill>
              <a:srgbClr val="C28722"/>
            </a:solidFill>
            <a:prstDash val="solid"/>
          </a:ln>
        </p:spPr>
      </p:sp>
      <p:sp>
        <p:nvSpPr>
          <p:cNvPr id="633478529" name="Text 27"/>
          <p:cNvSpPr/>
          <p:nvPr/>
        </p:nvSpPr>
        <p:spPr bwMode="auto">
          <a:xfrm>
            <a:off x="4453128" y="2761488"/>
            <a:ext cx="2377440" cy="164592"/>
          </a:xfrm>
          <a:prstGeom prst="rect">
            <a:avLst/>
          </a:prstGeom>
          <a:noFill/>
          <a:ln/>
        </p:spPr>
        <p:txBody>
          <a:bodyPr wrap="square" lIns="0" tIns="0" rIns="0" bIns="0" rtlCol="0" anchor="ctr"/>
          <a:lstStyle/>
          <a:p>
            <a:pPr marL="0" indent="0">
              <a:buNone/>
              <a:defRPr/>
            </a:pPr>
            <a:r>
              <a:rPr lang="en-US" sz="1350" b="1">
                <a:solidFill>
                  <a:srgbClr val="0D1B21"/>
                </a:solidFill>
                <a:latin typeface="Asana"/>
                <a:ea typeface="Asana"/>
                <a:cs typeface="Asana"/>
              </a:rPr>
              <a:t>Teams interpret separate views</a:t>
            </a:r>
            <a:endParaRPr sz="1350">
              <a:latin typeface="Asana"/>
              <a:cs typeface="Asana"/>
            </a:endParaRPr>
          </a:p>
        </p:txBody>
      </p:sp>
      <p:sp>
        <p:nvSpPr>
          <p:cNvPr id="1745470196" name="Text 28"/>
          <p:cNvSpPr/>
          <p:nvPr/>
        </p:nvSpPr>
        <p:spPr bwMode="auto">
          <a:xfrm>
            <a:off x="4453128" y="3246120"/>
            <a:ext cx="2377440" cy="640080"/>
          </a:xfrm>
          <a:prstGeom prst="rect">
            <a:avLst/>
          </a:prstGeom>
          <a:noFill/>
          <a:ln/>
        </p:spPr>
        <p:txBody>
          <a:bodyPr wrap="square" lIns="254" tIns="254" rIns="254" bIns="254" rtlCol="0" anchor="t">
            <a:normAutofit/>
          </a:bodyPr>
          <a:lstStyle/>
          <a:p>
            <a:pPr marL="0" indent="0" algn="l">
              <a:buNone/>
              <a:defRPr/>
            </a:pPr>
            <a:r>
              <a:rPr lang="en-US" sz="950">
                <a:solidFill>
                  <a:srgbClr val="0D1B21"/>
                </a:solidFill>
                <a:latin typeface="Asana"/>
                <a:ea typeface="Asana"/>
                <a:cs typeface="Asana"/>
              </a:rPr>
              <a:t>Farms, utilities, logistics teams, and crisis desks often work from different dashboards. The result can be slower and inconsistent action.</a:t>
            </a:r>
            <a:endParaRPr sz="950">
              <a:latin typeface="Asana"/>
              <a:cs typeface="Asana"/>
            </a:endParaRPr>
          </a:p>
        </p:txBody>
      </p:sp>
      <p:sp>
        <p:nvSpPr>
          <p:cNvPr id="331169120" name="Shape 29"/>
          <p:cNvSpPr/>
          <p:nvPr/>
        </p:nvSpPr>
        <p:spPr bwMode="auto">
          <a:xfrm>
            <a:off x="7717536" y="2331720"/>
            <a:ext cx="2999232" cy="1920240"/>
          </a:xfrm>
          <a:prstGeom prst="rect">
            <a:avLst/>
          </a:prstGeom>
          <a:solidFill>
            <a:srgbClr val="EFE7D5"/>
          </a:solidFill>
          <a:ln w="10160">
            <a:solidFill>
              <a:srgbClr val="A9A193"/>
            </a:solidFill>
            <a:prstDash val="solid"/>
          </a:ln>
        </p:spPr>
        <p:txBody>
          <a:bodyPr anchor="ctr"/>
          <a:p>
            <a:pPr algn="ctr">
              <a:defRPr/>
            </a:pPr>
            <a:endParaRPr>
              <a:latin typeface="Asana"/>
              <a:cs typeface="Asana"/>
            </a:endParaRPr>
          </a:p>
        </p:txBody>
      </p:sp>
      <p:sp>
        <p:nvSpPr>
          <p:cNvPr id="383393578" name="Shape 30"/>
          <p:cNvSpPr/>
          <p:nvPr/>
        </p:nvSpPr>
        <p:spPr bwMode="auto">
          <a:xfrm>
            <a:off x="7882128" y="2487168"/>
            <a:ext cx="155448" cy="155448"/>
          </a:xfrm>
          <a:prstGeom prst="ellipse">
            <a:avLst/>
          </a:prstGeom>
          <a:solidFill>
            <a:srgbClr val="F4EFEA">
              <a:alpha val="0"/>
            </a:srgbClr>
          </a:solidFill>
          <a:ln w="11430">
            <a:solidFill>
              <a:srgbClr val="B4533B"/>
            </a:solidFill>
            <a:prstDash val="solid"/>
          </a:ln>
        </p:spPr>
        <p:txBody>
          <a:bodyPr anchor="ctr"/>
          <a:p>
            <a:pPr algn="ctr">
              <a:defRPr/>
            </a:pPr>
            <a:endParaRPr>
              <a:latin typeface="Asana"/>
              <a:cs typeface="Asana"/>
            </a:endParaRPr>
          </a:p>
        </p:txBody>
      </p:sp>
      <p:sp>
        <p:nvSpPr>
          <p:cNvPr id="745375485" name="Text 31"/>
          <p:cNvSpPr/>
          <p:nvPr/>
        </p:nvSpPr>
        <p:spPr bwMode="auto">
          <a:xfrm>
            <a:off x="7903159" y="2519172"/>
            <a:ext cx="118872" cy="45720"/>
          </a:xfrm>
          <a:prstGeom prst="rect">
            <a:avLst/>
          </a:prstGeom>
          <a:noFill/>
          <a:ln/>
        </p:spPr>
        <p:txBody>
          <a:bodyPr wrap="square" lIns="0" tIns="0" rIns="0" bIns="0" rtlCol="0" anchor="ctr"/>
          <a:lstStyle/>
          <a:p>
            <a:pPr marL="0" indent="0" algn="ctr">
              <a:buNone/>
              <a:defRPr/>
            </a:pPr>
            <a:r>
              <a:rPr lang="en-US" sz="500" b="1">
                <a:solidFill>
                  <a:srgbClr val="B4533B"/>
                </a:solidFill>
                <a:latin typeface="Asana"/>
                <a:ea typeface="Asana"/>
                <a:cs typeface="Asana"/>
              </a:rPr>
              <a:t>03</a:t>
            </a:r>
            <a:endParaRPr sz="500" b="1">
              <a:latin typeface="Asana"/>
              <a:cs typeface="Asana"/>
            </a:endParaRPr>
          </a:p>
        </p:txBody>
      </p:sp>
      <p:sp>
        <p:nvSpPr>
          <p:cNvPr id="1404108469" name="Shape 32"/>
          <p:cNvSpPr/>
          <p:nvPr/>
        </p:nvSpPr>
        <p:spPr bwMode="auto">
          <a:xfrm>
            <a:off x="8010144" y="2624328"/>
            <a:ext cx="438912" cy="0"/>
          </a:xfrm>
          <a:prstGeom prst="line">
            <a:avLst/>
          </a:prstGeom>
          <a:noFill/>
          <a:ln w="19050">
            <a:solidFill>
              <a:srgbClr val="B4533B"/>
            </a:solidFill>
            <a:prstDash val="solid"/>
          </a:ln>
        </p:spPr>
      </p:sp>
      <p:sp>
        <p:nvSpPr>
          <p:cNvPr id="415918348" name="Text 33"/>
          <p:cNvSpPr/>
          <p:nvPr/>
        </p:nvSpPr>
        <p:spPr bwMode="auto">
          <a:xfrm>
            <a:off x="8010144" y="2761488"/>
            <a:ext cx="2377440" cy="164592"/>
          </a:xfrm>
          <a:prstGeom prst="rect">
            <a:avLst/>
          </a:prstGeom>
          <a:noFill/>
          <a:ln/>
        </p:spPr>
        <p:txBody>
          <a:bodyPr wrap="square" lIns="0" tIns="0" rIns="0" bIns="0" rtlCol="0" anchor="ctr"/>
          <a:lstStyle/>
          <a:p>
            <a:pPr marL="0" indent="0">
              <a:buNone/>
              <a:defRPr/>
            </a:pPr>
            <a:r>
              <a:rPr lang="en-US" sz="1350" b="1">
                <a:solidFill>
                  <a:srgbClr val="0D1B21"/>
                </a:solidFill>
                <a:latin typeface="Asana"/>
                <a:ea typeface="Asana"/>
                <a:cs typeface="Asana"/>
              </a:rPr>
              <a:t>Local context changes the risk</a:t>
            </a:r>
            <a:endParaRPr sz="1350">
              <a:latin typeface="Asana"/>
              <a:cs typeface="Asana"/>
            </a:endParaRPr>
          </a:p>
        </p:txBody>
      </p:sp>
      <p:sp>
        <p:nvSpPr>
          <p:cNvPr id="692754980" name="Text 34"/>
          <p:cNvSpPr/>
          <p:nvPr/>
        </p:nvSpPr>
        <p:spPr bwMode="auto">
          <a:xfrm>
            <a:off x="8010144" y="3246120"/>
            <a:ext cx="2377440" cy="640080"/>
          </a:xfrm>
          <a:prstGeom prst="rect">
            <a:avLst/>
          </a:prstGeom>
          <a:noFill/>
          <a:ln/>
        </p:spPr>
        <p:txBody>
          <a:bodyPr wrap="square" lIns="254" tIns="254" rIns="254" bIns="254" rtlCol="0" anchor="t">
            <a:normAutofit/>
          </a:bodyPr>
          <a:lstStyle/>
          <a:p>
            <a:pPr marL="0" indent="0" algn="l">
              <a:buNone/>
              <a:defRPr/>
            </a:pPr>
            <a:r>
              <a:rPr lang="en-US" sz="950">
                <a:solidFill>
                  <a:srgbClr val="0D1B21"/>
                </a:solidFill>
                <a:latin typeface="Asana"/>
                <a:ea typeface="Asana"/>
                <a:cs typeface="Asana"/>
              </a:rPr>
              <a:t>Coastal humidity, desert heat, monsoon runoff, typhoon exposure, and mountain hydrology require city and district-level decisions.</a:t>
            </a:r>
            <a:endParaRPr sz="950">
              <a:latin typeface="Asana"/>
              <a:cs typeface="Asana"/>
            </a:endParaRPr>
          </a:p>
        </p:txBody>
      </p:sp>
      <p:sp>
        <p:nvSpPr>
          <p:cNvPr id="542834931" name="Shape 35"/>
          <p:cNvSpPr/>
          <p:nvPr/>
        </p:nvSpPr>
        <p:spPr bwMode="auto">
          <a:xfrm>
            <a:off x="1005840" y="4892039"/>
            <a:ext cx="10149840" cy="804672"/>
          </a:xfrm>
          <a:prstGeom prst="rect">
            <a:avLst/>
          </a:prstGeom>
          <a:solidFill>
            <a:srgbClr val="E8DFC9"/>
          </a:solidFill>
          <a:ln w="10160">
            <a:solidFill>
              <a:srgbClr val="A9A193"/>
            </a:solidFill>
            <a:prstDash val="solid"/>
          </a:ln>
        </p:spPr>
        <p:txBody>
          <a:bodyPr anchor="ctr"/>
          <a:p>
            <a:pPr algn="ctr">
              <a:defRPr/>
            </a:pPr>
            <a:endParaRPr>
              <a:latin typeface="Asana"/>
              <a:cs typeface="Asana"/>
            </a:endParaRPr>
          </a:p>
        </p:txBody>
      </p:sp>
      <p:sp>
        <p:nvSpPr>
          <p:cNvPr id="463151267" name="Text 36"/>
          <p:cNvSpPr/>
          <p:nvPr/>
        </p:nvSpPr>
        <p:spPr bwMode="auto">
          <a:xfrm>
            <a:off x="1234440" y="5102352"/>
            <a:ext cx="1417320" cy="109728"/>
          </a:xfrm>
          <a:prstGeom prst="rect">
            <a:avLst/>
          </a:prstGeom>
          <a:noFill/>
          <a:ln/>
        </p:spPr>
        <p:txBody>
          <a:bodyPr wrap="square" lIns="0" tIns="0" rIns="0" bIns="0" rtlCol="0" anchor="ctr"/>
          <a:lstStyle/>
          <a:p>
            <a:pPr marL="0" indent="0">
              <a:buNone/>
              <a:defRPr/>
            </a:pPr>
            <a:r>
              <a:rPr lang="en-US" sz="700" b="1">
                <a:solidFill>
                  <a:srgbClr val="B4533B"/>
                </a:solidFill>
                <a:latin typeface="Asana"/>
                <a:ea typeface="Asana"/>
                <a:cs typeface="Asana"/>
              </a:rPr>
              <a:t>WHY WIAAS EXISTS</a:t>
            </a:r>
            <a:endParaRPr sz="700" b="1">
              <a:latin typeface="Asana"/>
              <a:cs typeface="Asana"/>
            </a:endParaRPr>
          </a:p>
        </p:txBody>
      </p:sp>
      <p:sp>
        <p:nvSpPr>
          <p:cNvPr id="1768685159" name="Text 37"/>
          <p:cNvSpPr/>
          <p:nvPr/>
        </p:nvSpPr>
        <p:spPr bwMode="auto">
          <a:xfrm>
            <a:off x="2788920" y="5010912"/>
            <a:ext cx="7955280" cy="329184"/>
          </a:xfrm>
          <a:prstGeom prst="rect">
            <a:avLst/>
          </a:prstGeom>
          <a:noFill/>
          <a:ln/>
        </p:spPr>
        <p:txBody>
          <a:bodyPr wrap="square" lIns="254" tIns="254" rIns="254" bIns="254" rtlCol="0" anchor="t">
            <a:normAutofit/>
          </a:bodyPr>
          <a:lstStyle/>
          <a:p>
            <a:pPr marL="0" indent="0" algn="l">
              <a:buNone/>
              <a:defRPr/>
            </a:pPr>
            <a:r>
              <a:rPr lang="en-US" sz="1000" b="1">
                <a:solidFill>
                  <a:srgbClr val="0D1B21"/>
                </a:solidFill>
                <a:latin typeface="Asana"/>
                <a:ea typeface="Asana"/>
                <a:cs typeface="Asana"/>
              </a:rPr>
              <a:t>WIaaS keeps the selected location attached to a shared physics-based state. The workflow then activates only the decision path needed by the operator, instead of forcing every question through the same large prompt.</a:t>
            </a:r>
            <a:endParaRPr sz="1000">
              <a:latin typeface="Asana"/>
              <a:cs typeface="Asana"/>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500" advClick="1">
        <p:fade thruBlk="0"/>
      </p:transition>
    </mc:Choice>
    <mc:Fallback>
      <p:transition spd="fast" advClick="1">
        <p:fade thruBlk="0"/>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3">
    <p:bg>
      <p:bgPr shadeToTitle="0">
        <a:solidFill>
          <a:srgbClr val="F4EFEA"/>
        </a:solidFill>
      </p:bgPr>
    </p:bg>
    <p:spTree>
      <p:nvGrpSpPr>
        <p:cNvPr id="1" name=""/>
        <p:cNvGrpSpPr/>
        <p:nvPr/>
      </p:nvGrpSpPr>
      <p:grpSpPr bwMode="auto">
        <a:xfrm>
          <a:off x="0" y="0"/>
          <a:ext cx="0" cy="0"/>
          <a:chOff x="0" y="0"/>
          <a:chExt cx="0" cy="0"/>
        </a:xfrm>
      </p:grpSpPr>
      <p:sp>
        <p:nvSpPr>
          <p:cNvPr id="1080450609" name="Shape 0"/>
          <p:cNvSpPr/>
          <p:nvPr/>
        </p:nvSpPr>
        <p:spPr bwMode="auto">
          <a:xfrm>
            <a:off x="164592" y="164592"/>
            <a:ext cx="11859768" cy="6528816"/>
          </a:xfrm>
          <a:prstGeom prst="rect">
            <a:avLst/>
          </a:prstGeom>
          <a:solidFill>
            <a:srgbClr val="F4EFEA">
              <a:alpha val="0"/>
            </a:srgbClr>
          </a:solidFill>
          <a:ln w="10160">
            <a:solidFill>
              <a:srgbClr val="27343A"/>
            </a:solidFill>
            <a:prstDash val="solid"/>
          </a:ln>
        </p:spPr>
        <p:txBody>
          <a:bodyPr anchor="ctr"/>
          <a:p>
            <a:pPr algn="ctr">
              <a:defRPr/>
            </a:pPr>
            <a:endParaRPr>
              <a:latin typeface="Asana"/>
              <a:cs typeface="Asana"/>
            </a:endParaRPr>
          </a:p>
        </p:txBody>
      </p:sp>
      <p:sp>
        <p:nvSpPr>
          <p:cNvPr id="320097431" name="Shape 1"/>
          <p:cNvSpPr/>
          <p:nvPr/>
        </p:nvSpPr>
        <p:spPr bwMode="auto">
          <a:xfrm>
            <a:off x="36576" y="164592"/>
            <a:ext cx="256032" cy="0"/>
          </a:xfrm>
          <a:prstGeom prst="line">
            <a:avLst/>
          </a:prstGeom>
          <a:noFill/>
          <a:ln w="9525">
            <a:solidFill>
              <a:srgbClr val="27343A"/>
            </a:solidFill>
            <a:prstDash val="solid"/>
          </a:ln>
        </p:spPr>
      </p:sp>
      <p:sp>
        <p:nvSpPr>
          <p:cNvPr id="1082833686" name="Shape 2"/>
          <p:cNvSpPr/>
          <p:nvPr/>
        </p:nvSpPr>
        <p:spPr bwMode="auto">
          <a:xfrm>
            <a:off x="164592" y="36576"/>
            <a:ext cx="0" cy="256032"/>
          </a:xfrm>
          <a:prstGeom prst="line">
            <a:avLst/>
          </a:prstGeom>
          <a:noFill/>
          <a:ln w="9525">
            <a:solidFill>
              <a:srgbClr val="27343A"/>
            </a:solidFill>
            <a:prstDash val="solid"/>
          </a:ln>
        </p:spPr>
      </p:sp>
      <p:sp>
        <p:nvSpPr>
          <p:cNvPr id="565724772" name="Shape 3"/>
          <p:cNvSpPr/>
          <p:nvPr/>
        </p:nvSpPr>
        <p:spPr bwMode="auto">
          <a:xfrm>
            <a:off x="11896344" y="164592"/>
            <a:ext cx="256032" cy="0"/>
          </a:xfrm>
          <a:prstGeom prst="line">
            <a:avLst/>
          </a:prstGeom>
          <a:noFill/>
          <a:ln w="9525">
            <a:solidFill>
              <a:srgbClr val="27343A"/>
            </a:solidFill>
            <a:prstDash val="solid"/>
          </a:ln>
        </p:spPr>
      </p:sp>
      <p:sp>
        <p:nvSpPr>
          <p:cNvPr id="1186105228" name="Shape 4"/>
          <p:cNvSpPr/>
          <p:nvPr/>
        </p:nvSpPr>
        <p:spPr bwMode="auto">
          <a:xfrm>
            <a:off x="12024360" y="36576"/>
            <a:ext cx="0" cy="256032"/>
          </a:xfrm>
          <a:prstGeom prst="line">
            <a:avLst/>
          </a:prstGeom>
          <a:noFill/>
          <a:ln w="9525">
            <a:solidFill>
              <a:srgbClr val="27343A"/>
            </a:solidFill>
            <a:prstDash val="solid"/>
          </a:ln>
        </p:spPr>
      </p:sp>
      <p:sp>
        <p:nvSpPr>
          <p:cNvPr id="1706670948" name="Shape 5"/>
          <p:cNvSpPr/>
          <p:nvPr/>
        </p:nvSpPr>
        <p:spPr bwMode="auto">
          <a:xfrm>
            <a:off x="36576" y="6693408"/>
            <a:ext cx="256032" cy="0"/>
          </a:xfrm>
          <a:prstGeom prst="line">
            <a:avLst/>
          </a:prstGeom>
          <a:noFill/>
          <a:ln w="9525">
            <a:solidFill>
              <a:srgbClr val="27343A"/>
            </a:solidFill>
            <a:prstDash val="solid"/>
          </a:ln>
        </p:spPr>
      </p:sp>
      <p:sp>
        <p:nvSpPr>
          <p:cNvPr id="1939818854" name="Shape 6"/>
          <p:cNvSpPr/>
          <p:nvPr/>
        </p:nvSpPr>
        <p:spPr bwMode="auto">
          <a:xfrm>
            <a:off x="164592" y="6565392"/>
            <a:ext cx="0" cy="256032"/>
          </a:xfrm>
          <a:prstGeom prst="line">
            <a:avLst/>
          </a:prstGeom>
          <a:noFill/>
          <a:ln w="9525">
            <a:solidFill>
              <a:srgbClr val="27343A"/>
            </a:solidFill>
            <a:prstDash val="solid"/>
          </a:ln>
        </p:spPr>
      </p:sp>
      <p:sp>
        <p:nvSpPr>
          <p:cNvPr id="1512366155" name="Shape 7"/>
          <p:cNvSpPr/>
          <p:nvPr/>
        </p:nvSpPr>
        <p:spPr bwMode="auto">
          <a:xfrm>
            <a:off x="11896344" y="6693408"/>
            <a:ext cx="256032" cy="0"/>
          </a:xfrm>
          <a:prstGeom prst="line">
            <a:avLst/>
          </a:prstGeom>
          <a:noFill/>
          <a:ln w="9525">
            <a:solidFill>
              <a:srgbClr val="27343A"/>
            </a:solidFill>
            <a:prstDash val="solid"/>
          </a:ln>
        </p:spPr>
      </p:sp>
      <p:sp>
        <p:nvSpPr>
          <p:cNvPr id="273139447" name="Shape 8"/>
          <p:cNvSpPr/>
          <p:nvPr/>
        </p:nvSpPr>
        <p:spPr bwMode="auto">
          <a:xfrm>
            <a:off x="12024360" y="6565392"/>
            <a:ext cx="0" cy="256032"/>
          </a:xfrm>
          <a:prstGeom prst="line">
            <a:avLst/>
          </a:prstGeom>
          <a:noFill/>
          <a:ln w="9525">
            <a:solidFill>
              <a:srgbClr val="27343A"/>
            </a:solidFill>
            <a:prstDash val="solid"/>
          </a:ln>
        </p:spPr>
      </p:sp>
      <p:sp>
        <p:nvSpPr>
          <p:cNvPr id="1843678507" name="Text 9"/>
          <p:cNvSpPr/>
          <p:nvPr/>
        </p:nvSpPr>
        <p:spPr bwMode="auto">
          <a:xfrm>
            <a:off x="393192" y="393192"/>
            <a:ext cx="2834640" cy="109728"/>
          </a:xfrm>
          <a:prstGeom prst="rect">
            <a:avLst/>
          </a:prstGeom>
          <a:noFill/>
          <a:ln/>
        </p:spPr>
        <p:txBody>
          <a:bodyPr wrap="square" lIns="0" tIns="0" rIns="0" bIns="0" rtlCol="0" anchor="ctr"/>
          <a:lstStyle/>
          <a:p>
            <a:pPr marL="0" indent="0">
              <a:buNone/>
              <a:defRPr/>
            </a:pPr>
            <a:r>
              <a:rPr lang="en-US" sz="500">
                <a:solidFill>
                  <a:srgbClr val="6C6B65"/>
                </a:solidFill>
                <a:latin typeface="Asana"/>
                <a:ea typeface="Asana"/>
                <a:cs typeface="Asana"/>
              </a:rPr>
              <a:t>WIAAS ASIA FIELD ATLAS</a:t>
            </a:r>
            <a:endParaRPr sz="500">
              <a:latin typeface="Asana"/>
              <a:cs typeface="Asana"/>
            </a:endParaRPr>
          </a:p>
        </p:txBody>
      </p:sp>
      <p:sp>
        <p:nvSpPr>
          <p:cNvPr id="2031208837" name="Text 10"/>
          <p:cNvSpPr/>
          <p:nvPr/>
        </p:nvSpPr>
        <p:spPr bwMode="auto">
          <a:xfrm>
            <a:off x="9418320" y="393192"/>
            <a:ext cx="2331720" cy="109728"/>
          </a:xfrm>
          <a:prstGeom prst="rect">
            <a:avLst/>
          </a:prstGeom>
          <a:noFill/>
          <a:ln/>
        </p:spPr>
        <p:txBody>
          <a:bodyPr wrap="square" lIns="0" tIns="0" rIns="0" bIns="0" rtlCol="0" anchor="ctr"/>
          <a:lstStyle/>
          <a:p>
            <a:pPr marL="0" indent="0" algn="r">
              <a:buNone/>
              <a:defRPr/>
            </a:pPr>
            <a:r>
              <a:rPr lang="en-US" sz="700" b="1">
                <a:solidFill>
                  <a:srgbClr val="6C6B65"/>
                </a:solidFill>
                <a:latin typeface="Asana"/>
                <a:ea typeface="Asana"/>
                <a:cs typeface="Asana"/>
              </a:rPr>
              <a:t>PLATE</a:t>
            </a:r>
            <a:r>
              <a:rPr lang="en-US" sz="700" b="1">
                <a:solidFill>
                  <a:srgbClr val="6C6B65"/>
                </a:solidFill>
                <a:latin typeface="Asana"/>
                <a:ea typeface="Asana"/>
                <a:cs typeface="Asana"/>
              </a:rPr>
              <a:t> 03 - PLATFORM THESIS</a:t>
            </a:r>
            <a:endParaRPr sz="700" b="1">
              <a:latin typeface="Asana"/>
              <a:cs typeface="Asana"/>
            </a:endParaRPr>
          </a:p>
        </p:txBody>
      </p:sp>
      <p:sp>
        <p:nvSpPr>
          <p:cNvPr id="1718179914" name="Text 11"/>
          <p:cNvSpPr/>
          <p:nvPr/>
        </p:nvSpPr>
        <p:spPr bwMode="auto">
          <a:xfrm>
            <a:off x="393192" y="6492240"/>
            <a:ext cx="3017519" cy="109728"/>
          </a:xfrm>
          <a:prstGeom prst="rect">
            <a:avLst/>
          </a:prstGeom>
          <a:noFill/>
          <a:ln/>
        </p:spPr>
        <p:txBody>
          <a:bodyPr wrap="square" lIns="0" tIns="0" rIns="0" bIns="0" rtlCol="0" anchor="ctr"/>
          <a:lstStyle/>
          <a:p>
            <a:pPr marL="0" indent="0">
              <a:buNone/>
              <a:defRPr/>
            </a:pPr>
            <a:r>
              <a:rPr lang="en-US" sz="450">
                <a:solidFill>
                  <a:srgbClr val="6C6B65"/>
                </a:solidFill>
                <a:latin typeface="Asana"/>
                <a:ea typeface="Asana"/>
                <a:cs typeface="Asana"/>
              </a:rPr>
              <a:t>DEVELOPED WITH QODER + N8N ORCHESTRATION</a:t>
            </a:r>
            <a:endParaRPr sz="450">
              <a:latin typeface="Asana"/>
              <a:cs typeface="Asana"/>
            </a:endParaRPr>
          </a:p>
        </p:txBody>
      </p:sp>
      <p:sp>
        <p:nvSpPr>
          <p:cNvPr id="1921490606" name="Text 12"/>
          <p:cNvSpPr/>
          <p:nvPr/>
        </p:nvSpPr>
        <p:spPr bwMode="auto">
          <a:xfrm>
            <a:off x="11411712" y="6492240"/>
            <a:ext cx="329184" cy="109728"/>
          </a:xfrm>
          <a:prstGeom prst="rect">
            <a:avLst/>
          </a:prstGeom>
          <a:noFill/>
          <a:ln/>
        </p:spPr>
        <p:txBody>
          <a:bodyPr wrap="square" lIns="0" tIns="0" rIns="0" bIns="0" rtlCol="0" anchor="ctr"/>
          <a:lstStyle/>
          <a:p>
            <a:pPr marL="0" indent="0" algn="r">
              <a:buNone/>
              <a:defRPr/>
            </a:pPr>
            <a:r>
              <a:rPr lang="en-US" sz="450">
                <a:solidFill>
                  <a:srgbClr val="6C6B65"/>
                </a:solidFill>
                <a:latin typeface="Asana"/>
                <a:ea typeface="Asana"/>
                <a:cs typeface="Asana"/>
              </a:rPr>
              <a:t>03 / 12</a:t>
            </a:r>
            <a:endParaRPr sz="450">
              <a:latin typeface="Asana"/>
              <a:cs typeface="Asana"/>
            </a:endParaRPr>
          </a:p>
        </p:txBody>
      </p:sp>
      <p:sp>
        <p:nvSpPr>
          <p:cNvPr id="1608069383" name="Shape 13"/>
          <p:cNvSpPr/>
          <p:nvPr/>
        </p:nvSpPr>
        <p:spPr bwMode="auto">
          <a:xfrm>
            <a:off x="530352" y="914400"/>
            <a:ext cx="365760" cy="0"/>
          </a:xfrm>
          <a:prstGeom prst="line">
            <a:avLst/>
          </a:prstGeom>
          <a:noFill/>
          <a:ln w="16510">
            <a:solidFill>
              <a:srgbClr val="B4533B"/>
            </a:solidFill>
            <a:prstDash val="solid"/>
          </a:ln>
        </p:spPr>
      </p:sp>
      <p:sp>
        <p:nvSpPr>
          <p:cNvPr id="1835899489" name="Text 14"/>
          <p:cNvSpPr/>
          <p:nvPr/>
        </p:nvSpPr>
        <p:spPr bwMode="auto">
          <a:xfrm>
            <a:off x="1069848" y="850392"/>
            <a:ext cx="1828800" cy="146304"/>
          </a:xfrm>
          <a:prstGeom prst="rect">
            <a:avLst/>
          </a:prstGeom>
          <a:noFill/>
          <a:ln/>
        </p:spPr>
        <p:txBody>
          <a:bodyPr wrap="square" lIns="0" tIns="0" rIns="0" bIns="0" rtlCol="0" anchor="ctr"/>
          <a:lstStyle/>
          <a:p>
            <a:pPr marL="0" indent="0">
              <a:buNone/>
              <a:defRPr/>
            </a:pPr>
            <a:r>
              <a:rPr lang="en-US" sz="600" b="1">
                <a:solidFill>
                  <a:srgbClr val="B4533B"/>
                </a:solidFill>
                <a:latin typeface="Asana"/>
                <a:ea typeface="Asana"/>
                <a:cs typeface="Asana"/>
              </a:rPr>
              <a:t>RESPONSE ARCHITECTURE</a:t>
            </a:r>
            <a:endParaRPr sz="600" b="1">
              <a:latin typeface="Asana"/>
              <a:cs typeface="Asana"/>
            </a:endParaRPr>
          </a:p>
        </p:txBody>
      </p:sp>
      <p:sp>
        <p:nvSpPr>
          <p:cNvPr id="1211143150" name="Text 15"/>
          <p:cNvSpPr/>
          <p:nvPr/>
        </p:nvSpPr>
        <p:spPr bwMode="auto">
          <a:xfrm>
            <a:off x="530352" y="1115568"/>
            <a:ext cx="9875520" cy="384048"/>
          </a:xfrm>
          <a:prstGeom prst="rect">
            <a:avLst/>
          </a:prstGeom>
          <a:noFill/>
          <a:ln/>
        </p:spPr>
        <p:txBody>
          <a:bodyPr wrap="square" lIns="0" tIns="0" rIns="0" bIns="0" rtlCol="0" anchor="ctr"/>
          <a:lstStyle/>
          <a:p>
            <a:pPr marL="0" indent="0">
              <a:buNone/>
              <a:defRPr/>
            </a:pPr>
            <a:r>
              <a:rPr lang="en-US" sz="2800" b="1">
                <a:solidFill>
                  <a:srgbClr val="0D1B21"/>
                </a:solidFill>
                <a:latin typeface="Asana"/>
                <a:ea typeface="Asana"/>
                <a:cs typeface="Asana"/>
              </a:rPr>
              <a:t>Backend-first decision intelligence</a:t>
            </a:r>
            <a:endParaRPr sz="2800">
              <a:latin typeface="Asana"/>
              <a:cs typeface="Asana"/>
            </a:endParaRPr>
          </a:p>
        </p:txBody>
      </p:sp>
      <p:sp>
        <p:nvSpPr>
          <p:cNvPr id="145160609" name="Text 16"/>
          <p:cNvSpPr/>
          <p:nvPr/>
        </p:nvSpPr>
        <p:spPr bwMode="auto">
          <a:xfrm>
            <a:off x="530352" y="1645920"/>
            <a:ext cx="9601200" cy="256032"/>
          </a:xfrm>
          <a:prstGeom prst="rect">
            <a:avLst/>
          </a:prstGeom>
          <a:noFill/>
          <a:ln/>
        </p:spPr>
        <p:txBody>
          <a:bodyPr wrap="square" lIns="0" tIns="0" rIns="0" bIns="0" rtlCol="0" anchor="ctr"/>
          <a:lstStyle/>
          <a:p>
            <a:pPr marL="0" indent="0">
              <a:buNone/>
              <a:defRPr/>
            </a:pPr>
            <a:r>
              <a:rPr lang="en-US" sz="1100">
                <a:solidFill>
                  <a:srgbClr val="0D1B21"/>
                </a:solidFill>
                <a:latin typeface="Asana"/>
                <a:ea typeface="Asana"/>
                <a:cs typeface="Asana"/>
              </a:rPr>
              <a:t>Calculations happen first. AI interprets the bounded result and communicates the action.</a:t>
            </a:r>
            <a:endParaRPr sz="1100">
              <a:latin typeface="Asana"/>
              <a:cs typeface="Asana"/>
            </a:endParaRPr>
          </a:p>
        </p:txBody>
      </p:sp>
      <p:sp>
        <p:nvSpPr>
          <p:cNvPr id="1006959193" name="Shape 17"/>
          <p:cNvSpPr/>
          <p:nvPr/>
        </p:nvSpPr>
        <p:spPr bwMode="auto">
          <a:xfrm>
            <a:off x="621792" y="2423160"/>
            <a:ext cx="2240280" cy="960120"/>
          </a:xfrm>
          <a:prstGeom prst="rect">
            <a:avLst/>
          </a:prstGeom>
          <a:solidFill>
            <a:srgbClr val="EFE7D5"/>
          </a:solidFill>
          <a:ln w="10160">
            <a:solidFill>
              <a:srgbClr val="108A98"/>
            </a:solidFill>
            <a:prstDash val="solid"/>
          </a:ln>
        </p:spPr>
        <p:txBody>
          <a:bodyPr anchor="ctr"/>
          <a:p>
            <a:pPr algn="ctr">
              <a:defRPr/>
            </a:pPr>
            <a:endParaRPr>
              <a:latin typeface="Asana"/>
              <a:cs typeface="Asana"/>
            </a:endParaRPr>
          </a:p>
        </p:txBody>
      </p:sp>
      <p:sp>
        <p:nvSpPr>
          <p:cNvPr id="1607860804" name="Text 18"/>
          <p:cNvSpPr/>
          <p:nvPr/>
        </p:nvSpPr>
        <p:spPr bwMode="auto">
          <a:xfrm>
            <a:off x="786384" y="2569464"/>
            <a:ext cx="1911096" cy="146304"/>
          </a:xfrm>
          <a:prstGeom prst="rect">
            <a:avLst/>
          </a:prstGeom>
          <a:noFill/>
          <a:ln/>
        </p:spPr>
        <p:txBody>
          <a:bodyPr wrap="square" lIns="0" tIns="0" rIns="0" bIns="0" rtlCol="0" anchor="ctr"/>
          <a:lstStyle/>
          <a:p>
            <a:pPr marL="0" indent="0">
              <a:buNone/>
              <a:defRPr/>
            </a:pPr>
            <a:r>
              <a:rPr lang="en-US" sz="700" b="1">
                <a:solidFill>
                  <a:srgbClr val="108A98"/>
                </a:solidFill>
                <a:latin typeface="Asana"/>
                <a:ea typeface="Asana"/>
                <a:cs typeface="Asana"/>
              </a:rPr>
              <a:t>01 DATA INGEST</a:t>
            </a:r>
            <a:endParaRPr sz="700" b="1">
              <a:latin typeface="Asana"/>
              <a:cs typeface="Asana"/>
            </a:endParaRPr>
          </a:p>
        </p:txBody>
      </p:sp>
      <p:sp>
        <p:nvSpPr>
          <p:cNvPr id="14238663" name="Text 19"/>
          <p:cNvSpPr/>
          <p:nvPr/>
        </p:nvSpPr>
        <p:spPr bwMode="auto">
          <a:xfrm>
            <a:off x="786384" y="2862072"/>
            <a:ext cx="1911096" cy="320040"/>
          </a:xfrm>
          <a:prstGeom prst="rect">
            <a:avLst/>
          </a:prstGeom>
          <a:noFill/>
          <a:ln/>
        </p:spPr>
        <p:txBody>
          <a:bodyPr wrap="square" lIns="254" tIns="254" rIns="254" bIns="254" rtlCol="0" anchor="t">
            <a:normAutofit/>
          </a:bodyPr>
          <a:lstStyle/>
          <a:p>
            <a:pPr marL="0" indent="0" algn="l">
              <a:buNone/>
              <a:defRPr/>
            </a:pPr>
            <a:r>
              <a:rPr lang="en-US" sz="800">
                <a:solidFill>
                  <a:srgbClr val="0D1B21"/>
                </a:solidFill>
                <a:latin typeface="Asana"/>
                <a:ea typeface="Asana"/>
                <a:cs typeface="Asana"/>
              </a:rPr>
              <a:t>Open-Meteo telemetry, region registry, map selection, radar context, and the operator question.</a:t>
            </a:r>
            <a:endParaRPr sz="800">
              <a:latin typeface="Asana"/>
              <a:cs typeface="Asana"/>
            </a:endParaRPr>
          </a:p>
        </p:txBody>
      </p:sp>
      <p:sp>
        <p:nvSpPr>
          <p:cNvPr id="910101604" name="Shape 20"/>
          <p:cNvSpPr/>
          <p:nvPr/>
        </p:nvSpPr>
        <p:spPr bwMode="auto">
          <a:xfrm>
            <a:off x="2976276" y="2898648"/>
            <a:ext cx="237744" cy="0"/>
          </a:xfrm>
          <a:prstGeom prst="line">
            <a:avLst/>
          </a:prstGeom>
          <a:noFill/>
          <a:ln w="10160">
            <a:solidFill>
              <a:srgbClr val="A9A193"/>
            </a:solidFill>
            <a:prstDash val="solid"/>
            <a:headEnd type="none"/>
            <a:tailEnd type="triangle"/>
          </a:ln>
        </p:spPr>
      </p:sp>
      <p:sp>
        <p:nvSpPr>
          <p:cNvPr id="491489025" name="Shape 21"/>
          <p:cNvSpPr/>
          <p:nvPr/>
        </p:nvSpPr>
        <p:spPr bwMode="auto">
          <a:xfrm>
            <a:off x="3300984" y="2423160"/>
            <a:ext cx="2240280" cy="960120"/>
          </a:xfrm>
          <a:prstGeom prst="rect">
            <a:avLst/>
          </a:prstGeom>
          <a:solidFill>
            <a:srgbClr val="EFE7D5"/>
          </a:solidFill>
          <a:ln w="10160">
            <a:solidFill>
              <a:srgbClr val="C28722"/>
            </a:solidFill>
            <a:prstDash val="solid"/>
          </a:ln>
        </p:spPr>
        <p:txBody>
          <a:bodyPr anchor="ctr"/>
          <a:p>
            <a:pPr algn="ctr">
              <a:defRPr/>
            </a:pPr>
            <a:endParaRPr>
              <a:latin typeface="Asana"/>
              <a:cs typeface="Asana"/>
            </a:endParaRPr>
          </a:p>
        </p:txBody>
      </p:sp>
      <p:sp>
        <p:nvSpPr>
          <p:cNvPr id="1998046509" name="Text 22"/>
          <p:cNvSpPr/>
          <p:nvPr/>
        </p:nvSpPr>
        <p:spPr bwMode="auto">
          <a:xfrm>
            <a:off x="3465576" y="2569464"/>
            <a:ext cx="1911096" cy="146304"/>
          </a:xfrm>
          <a:prstGeom prst="rect">
            <a:avLst/>
          </a:prstGeom>
          <a:noFill/>
          <a:ln/>
        </p:spPr>
        <p:txBody>
          <a:bodyPr wrap="square" lIns="0" tIns="0" rIns="0" bIns="0" rtlCol="0" anchor="ctr"/>
          <a:lstStyle/>
          <a:p>
            <a:pPr marL="0" indent="0">
              <a:buNone/>
              <a:defRPr/>
            </a:pPr>
            <a:r>
              <a:rPr lang="en-US" sz="500" b="1">
                <a:solidFill>
                  <a:srgbClr val="C28722"/>
                </a:solidFill>
                <a:latin typeface="Asana"/>
                <a:ea typeface="Asana"/>
                <a:cs typeface="Asana"/>
              </a:rPr>
              <a:t>02 PHYSICS </a:t>
            </a:r>
            <a:r>
              <a:rPr lang="en-US" sz="700" b="1">
                <a:solidFill>
                  <a:srgbClr val="C28722"/>
                </a:solidFill>
                <a:latin typeface="Asana"/>
                <a:ea typeface="Asana"/>
                <a:cs typeface="Asana"/>
              </a:rPr>
              <a:t>ENGINE</a:t>
            </a:r>
            <a:endParaRPr sz="500">
              <a:latin typeface="Asana"/>
              <a:cs typeface="Asana"/>
            </a:endParaRPr>
          </a:p>
        </p:txBody>
      </p:sp>
      <p:sp>
        <p:nvSpPr>
          <p:cNvPr id="1906663182" name="Text 23"/>
          <p:cNvSpPr/>
          <p:nvPr/>
        </p:nvSpPr>
        <p:spPr bwMode="auto">
          <a:xfrm>
            <a:off x="3465576" y="2862072"/>
            <a:ext cx="1911096" cy="320040"/>
          </a:xfrm>
          <a:prstGeom prst="rect">
            <a:avLst/>
          </a:prstGeom>
          <a:noFill/>
          <a:ln/>
        </p:spPr>
        <p:txBody>
          <a:bodyPr wrap="square" lIns="254" tIns="254" rIns="254" bIns="254" rtlCol="0" anchor="t">
            <a:normAutofit/>
          </a:bodyPr>
          <a:lstStyle/>
          <a:p>
            <a:pPr marL="0" indent="0" algn="l">
              <a:buNone/>
              <a:defRPr/>
            </a:pPr>
            <a:r>
              <a:rPr lang="en-US" sz="800">
                <a:solidFill>
                  <a:srgbClr val="0D1B21"/>
                </a:solidFill>
                <a:latin typeface="Asana"/>
                <a:ea typeface="Asana"/>
                <a:cs typeface="Asana"/>
              </a:rPr>
              <a:t>VPD, heat index, wet bulb, grid demand change, evaporation stress, and resource ledger.</a:t>
            </a:r>
            <a:endParaRPr sz="800">
              <a:latin typeface="Asana"/>
              <a:cs typeface="Asana"/>
            </a:endParaRPr>
          </a:p>
        </p:txBody>
      </p:sp>
      <p:sp>
        <p:nvSpPr>
          <p:cNvPr id="1237317221" name="Shape 24"/>
          <p:cNvSpPr/>
          <p:nvPr/>
        </p:nvSpPr>
        <p:spPr bwMode="auto">
          <a:xfrm>
            <a:off x="5655468" y="2898648"/>
            <a:ext cx="237744" cy="0"/>
          </a:xfrm>
          <a:prstGeom prst="line">
            <a:avLst/>
          </a:prstGeom>
          <a:noFill/>
          <a:ln w="10160">
            <a:solidFill>
              <a:srgbClr val="A9A193"/>
            </a:solidFill>
            <a:prstDash val="solid"/>
            <a:headEnd type="none"/>
            <a:tailEnd type="triangle"/>
          </a:ln>
        </p:spPr>
      </p:sp>
      <p:sp>
        <p:nvSpPr>
          <p:cNvPr id="1988889844" name="Shape 25"/>
          <p:cNvSpPr/>
          <p:nvPr/>
        </p:nvSpPr>
        <p:spPr bwMode="auto">
          <a:xfrm>
            <a:off x="5980176" y="2423160"/>
            <a:ext cx="2240280" cy="960120"/>
          </a:xfrm>
          <a:prstGeom prst="rect">
            <a:avLst/>
          </a:prstGeom>
          <a:solidFill>
            <a:srgbClr val="EFE7D5"/>
          </a:solidFill>
          <a:ln w="10160">
            <a:solidFill>
              <a:srgbClr val="2E865F"/>
            </a:solidFill>
            <a:prstDash val="solid"/>
          </a:ln>
        </p:spPr>
        <p:txBody>
          <a:bodyPr anchor="ctr"/>
          <a:p>
            <a:pPr algn="ctr">
              <a:defRPr/>
            </a:pPr>
            <a:endParaRPr>
              <a:latin typeface="Asana"/>
              <a:cs typeface="Asana"/>
            </a:endParaRPr>
          </a:p>
        </p:txBody>
      </p:sp>
      <p:sp>
        <p:nvSpPr>
          <p:cNvPr id="2145608466" name="Text 26"/>
          <p:cNvSpPr/>
          <p:nvPr/>
        </p:nvSpPr>
        <p:spPr bwMode="auto">
          <a:xfrm>
            <a:off x="6144768" y="2569464"/>
            <a:ext cx="1911096" cy="146304"/>
          </a:xfrm>
          <a:prstGeom prst="rect">
            <a:avLst/>
          </a:prstGeom>
          <a:noFill/>
          <a:ln/>
        </p:spPr>
        <p:txBody>
          <a:bodyPr wrap="square" lIns="0" tIns="0" rIns="0" bIns="0" rtlCol="0" anchor="ctr"/>
          <a:lstStyle/>
          <a:p>
            <a:pPr marL="0" indent="0">
              <a:buNone/>
              <a:defRPr/>
            </a:pPr>
            <a:r>
              <a:rPr lang="en-US" sz="600" b="1">
                <a:solidFill>
                  <a:srgbClr val="2E865F"/>
                </a:solidFill>
                <a:latin typeface="Asana"/>
                <a:ea typeface="Asana"/>
                <a:cs typeface="Asana"/>
              </a:rPr>
              <a:t>03 DECISION</a:t>
            </a:r>
            <a:r>
              <a:rPr lang="en-US" sz="600" b="1">
                <a:solidFill>
                  <a:srgbClr val="2E865F"/>
                </a:solidFill>
                <a:latin typeface="Asana"/>
                <a:ea typeface="Asana"/>
                <a:cs typeface="Asana"/>
              </a:rPr>
              <a:t> ROUTING</a:t>
            </a:r>
            <a:endParaRPr sz="600">
              <a:latin typeface="Asana"/>
              <a:cs typeface="Asana"/>
            </a:endParaRPr>
          </a:p>
        </p:txBody>
      </p:sp>
      <p:sp>
        <p:nvSpPr>
          <p:cNvPr id="608624824" name="Text 27"/>
          <p:cNvSpPr/>
          <p:nvPr/>
        </p:nvSpPr>
        <p:spPr bwMode="auto">
          <a:xfrm>
            <a:off x="6144768" y="2862072"/>
            <a:ext cx="1911096" cy="320040"/>
          </a:xfrm>
          <a:prstGeom prst="rect">
            <a:avLst/>
          </a:prstGeom>
          <a:noFill/>
          <a:ln/>
        </p:spPr>
        <p:txBody>
          <a:bodyPr wrap="square" lIns="254" tIns="254" rIns="254" bIns="254" rtlCol="0" anchor="t">
            <a:normAutofit/>
          </a:bodyPr>
          <a:lstStyle/>
          <a:p>
            <a:pPr marL="0" indent="0" algn="l">
              <a:buNone/>
              <a:defRPr/>
            </a:pPr>
            <a:r>
              <a:rPr lang="en-US" sz="800">
                <a:solidFill>
                  <a:srgbClr val="0D1B21"/>
                </a:solidFill>
                <a:latin typeface="Asana"/>
                <a:ea typeface="Asana"/>
                <a:cs typeface="Asana"/>
              </a:rPr>
              <a:t>Rules choose a direct metric, operational report, specialist branch, or CrisisLens threat assessment.</a:t>
            </a:r>
            <a:endParaRPr sz="800">
              <a:latin typeface="Asana"/>
              <a:cs typeface="Asana"/>
            </a:endParaRPr>
          </a:p>
        </p:txBody>
      </p:sp>
      <p:sp>
        <p:nvSpPr>
          <p:cNvPr id="744087186" name="Shape 28"/>
          <p:cNvSpPr/>
          <p:nvPr/>
        </p:nvSpPr>
        <p:spPr bwMode="auto">
          <a:xfrm>
            <a:off x="8334660" y="2898648"/>
            <a:ext cx="237744" cy="0"/>
          </a:xfrm>
          <a:prstGeom prst="line">
            <a:avLst/>
          </a:prstGeom>
          <a:noFill/>
          <a:ln w="10160">
            <a:solidFill>
              <a:srgbClr val="A9A193"/>
            </a:solidFill>
            <a:prstDash val="solid"/>
            <a:headEnd type="none"/>
            <a:tailEnd type="triangle"/>
          </a:ln>
        </p:spPr>
      </p:sp>
      <p:sp>
        <p:nvSpPr>
          <p:cNvPr id="1273899947" name="Shape 29"/>
          <p:cNvSpPr/>
          <p:nvPr/>
        </p:nvSpPr>
        <p:spPr bwMode="auto">
          <a:xfrm>
            <a:off x="8659368" y="2423160"/>
            <a:ext cx="2240280" cy="960120"/>
          </a:xfrm>
          <a:prstGeom prst="rect">
            <a:avLst/>
          </a:prstGeom>
          <a:solidFill>
            <a:srgbClr val="EFE7D5"/>
          </a:solidFill>
          <a:ln w="10160">
            <a:solidFill>
              <a:srgbClr val="B4533B"/>
            </a:solidFill>
            <a:prstDash val="solid"/>
          </a:ln>
        </p:spPr>
        <p:txBody>
          <a:bodyPr anchor="ctr"/>
          <a:p>
            <a:pPr algn="ctr">
              <a:defRPr/>
            </a:pPr>
            <a:endParaRPr>
              <a:latin typeface="Asana"/>
              <a:cs typeface="Asana"/>
            </a:endParaRPr>
          </a:p>
        </p:txBody>
      </p:sp>
      <p:sp>
        <p:nvSpPr>
          <p:cNvPr id="1181839614" name="Text 30"/>
          <p:cNvSpPr/>
          <p:nvPr/>
        </p:nvSpPr>
        <p:spPr bwMode="auto">
          <a:xfrm>
            <a:off x="8823960" y="2569464"/>
            <a:ext cx="1911096" cy="146304"/>
          </a:xfrm>
          <a:prstGeom prst="rect">
            <a:avLst/>
          </a:prstGeom>
          <a:noFill/>
          <a:ln/>
        </p:spPr>
        <p:txBody>
          <a:bodyPr wrap="square" lIns="0" tIns="0" rIns="0" bIns="0" rtlCol="0" anchor="ctr"/>
          <a:lstStyle/>
          <a:p>
            <a:pPr marL="0" indent="0">
              <a:buNone/>
              <a:defRPr/>
            </a:pPr>
            <a:r>
              <a:rPr lang="en-US" sz="600" b="1">
                <a:solidFill>
                  <a:srgbClr val="B4533B"/>
                </a:solidFill>
                <a:latin typeface="Asana"/>
                <a:ea typeface="Asana"/>
                <a:cs typeface="Asana"/>
              </a:rPr>
              <a:t>04 FIELD </a:t>
            </a:r>
            <a:r>
              <a:rPr lang="en-US" sz="700" b="1">
                <a:solidFill>
                  <a:srgbClr val="B4533B"/>
                </a:solidFill>
                <a:latin typeface="Asana"/>
                <a:ea typeface="Asana"/>
                <a:cs typeface="Asana"/>
              </a:rPr>
              <a:t>ACTION</a:t>
            </a:r>
            <a:endParaRPr sz="600">
              <a:latin typeface="Asana"/>
              <a:cs typeface="Asana"/>
            </a:endParaRPr>
          </a:p>
        </p:txBody>
      </p:sp>
      <p:sp>
        <p:nvSpPr>
          <p:cNvPr id="1593539102" name="Text 31"/>
          <p:cNvSpPr/>
          <p:nvPr/>
        </p:nvSpPr>
        <p:spPr bwMode="auto">
          <a:xfrm>
            <a:off x="8823960" y="2862072"/>
            <a:ext cx="1911096" cy="320040"/>
          </a:xfrm>
          <a:prstGeom prst="rect">
            <a:avLst/>
          </a:prstGeom>
          <a:noFill/>
          <a:ln/>
        </p:spPr>
        <p:txBody>
          <a:bodyPr wrap="square" lIns="254" tIns="254" rIns="254" bIns="254" rtlCol="0" anchor="t">
            <a:normAutofit/>
          </a:bodyPr>
          <a:lstStyle/>
          <a:p>
            <a:pPr marL="0" indent="0" algn="l">
              <a:buNone/>
              <a:defRPr/>
            </a:pPr>
            <a:r>
              <a:rPr lang="en-US" sz="800">
                <a:solidFill>
                  <a:srgbClr val="0D1B21"/>
                </a:solidFill>
                <a:latin typeface="Asana"/>
                <a:ea typeface="Asana"/>
                <a:cs typeface="Asana"/>
              </a:rPr>
              <a:t>A structured brief explains what matters for the selected role and location without hiding limits.</a:t>
            </a:r>
            <a:endParaRPr sz="800">
              <a:latin typeface="Asana"/>
              <a:cs typeface="Asana"/>
            </a:endParaRPr>
          </a:p>
        </p:txBody>
      </p:sp>
      <p:sp>
        <p:nvSpPr>
          <p:cNvPr id="97030698" name="Shape 32"/>
          <p:cNvSpPr/>
          <p:nvPr/>
        </p:nvSpPr>
        <p:spPr bwMode="auto">
          <a:xfrm>
            <a:off x="868680" y="4160519"/>
            <a:ext cx="4754880" cy="1078992"/>
          </a:xfrm>
          <a:prstGeom prst="rect">
            <a:avLst/>
          </a:prstGeom>
          <a:solidFill>
            <a:srgbClr val="E8DFC9"/>
          </a:solidFill>
          <a:ln w="10160">
            <a:solidFill>
              <a:srgbClr val="A9A193"/>
            </a:solidFill>
            <a:prstDash val="solid"/>
          </a:ln>
        </p:spPr>
        <p:txBody>
          <a:bodyPr anchor="ctr"/>
          <a:p>
            <a:pPr algn="ctr">
              <a:defRPr/>
            </a:pPr>
            <a:endParaRPr>
              <a:latin typeface="Asana"/>
              <a:cs typeface="Asana"/>
            </a:endParaRPr>
          </a:p>
        </p:txBody>
      </p:sp>
      <p:sp>
        <p:nvSpPr>
          <p:cNvPr id="1017134742" name="Text 33"/>
          <p:cNvSpPr/>
          <p:nvPr/>
        </p:nvSpPr>
        <p:spPr bwMode="auto">
          <a:xfrm>
            <a:off x="1069848" y="4325112"/>
            <a:ext cx="4352544" cy="109728"/>
          </a:xfrm>
          <a:prstGeom prst="rect">
            <a:avLst/>
          </a:prstGeom>
          <a:noFill/>
          <a:ln/>
        </p:spPr>
        <p:txBody>
          <a:bodyPr wrap="square" lIns="0" tIns="0" rIns="0" bIns="0" rtlCol="0" anchor="ctr"/>
          <a:lstStyle/>
          <a:p>
            <a:pPr marL="0" indent="0">
              <a:buNone/>
              <a:defRPr/>
            </a:pPr>
            <a:r>
              <a:rPr lang="en-US" sz="700" b="1">
                <a:solidFill>
                  <a:srgbClr val="108A98"/>
                </a:solidFill>
                <a:latin typeface="Asana"/>
                <a:ea typeface="Asana"/>
                <a:cs typeface="Asana"/>
              </a:rPr>
              <a:t>PHYSICS SIGNAL USED BEFORE MODEL TEXT</a:t>
            </a:r>
            <a:endParaRPr sz="700" b="1">
              <a:latin typeface="Asana"/>
              <a:cs typeface="Asana"/>
            </a:endParaRPr>
          </a:p>
        </p:txBody>
      </p:sp>
      <p:sp>
        <p:nvSpPr>
          <p:cNvPr id="1565182525" name="Text 34"/>
          <p:cNvSpPr/>
          <p:nvPr/>
        </p:nvSpPr>
        <p:spPr bwMode="auto">
          <a:xfrm>
            <a:off x="1188720" y="4626864"/>
            <a:ext cx="4114800" cy="438912"/>
          </a:xfrm>
          <a:prstGeom prst="rect">
            <a:avLst/>
          </a:prstGeom>
          <a:noFill/>
          <a:ln/>
        </p:spPr>
        <p:txBody>
          <a:bodyPr wrap="square" lIns="0" tIns="0" rIns="0" bIns="0" rtlCol="0" anchor="ctr"/>
          <a:lstStyle/>
          <a:p>
            <a:pPr marL="0" indent="0" algn="ctr">
              <a:buNone/>
              <a:defRPr/>
            </a:pPr>
            <a:r>
              <a:rPr lang="en-US" sz="2000" b="1">
                <a:solidFill>
                  <a:srgbClr val="0D1B21"/>
                </a:solidFill>
                <a:latin typeface="Asana Math"/>
                <a:ea typeface="Asana Math"/>
                <a:cs typeface="Asana Math"/>
              </a:rPr>
              <a:t>VPD = e_s(T) x (1 - RH / 100)</a:t>
            </a:r>
            <a:endParaRPr sz="2000">
              <a:latin typeface="Asana Math"/>
              <a:cs typeface="Asana Math"/>
            </a:endParaRPr>
          </a:p>
        </p:txBody>
      </p:sp>
      <p:sp>
        <p:nvSpPr>
          <p:cNvPr id="97977377" name="Shape 35"/>
          <p:cNvSpPr/>
          <p:nvPr/>
        </p:nvSpPr>
        <p:spPr bwMode="auto">
          <a:xfrm>
            <a:off x="5989320" y="4160519"/>
            <a:ext cx="5440680" cy="1078992"/>
          </a:xfrm>
          <a:prstGeom prst="rect">
            <a:avLst/>
          </a:prstGeom>
          <a:solidFill>
            <a:srgbClr val="E8DFC9"/>
          </a:solidFill>
          <a:ln w="10160">
            <a:solidFill>
              <a:srgbClr val="A9A193"/>
            </a:solidFill>
            <a:prstDash val="solid"/>
          </a:ln>
        </p:spPr>
        <p:txBody>
          <a:bodyPr anchor="ctr"/>
          <a:p>
            <a:pPr algn="ctr">
              <a:defRPr/>
            </a:pPr>
            <a:endParaRPr>
              <a:latin typeface="Asana"/>
              <a:cs typeface="Asana"/>
            </a:endParaRPr>
          </a:p>
        </p:txBody>
      </p:sp>
      <p:sp>
        <p:nvSpPr>
          <p:cNvPr id="1150656157" name="Text 36"/>
          <p:cNvSpPr/>
          <p:nvPr/>
        </p:nvSpPr>
        <p:spPr bwMode="auto">
          <a:xfrm>
            <a:off x="6236208" y="4370832"/>
            <a:ext cx="1325880" cy="109728"/>
          </a:xfrm>
          <a:prstGeom prst="rect">
            <a:avLst/>
          </a:prstGeom>
          <a:noFill/>
          <a:ln/>
        </p:spPr>
        <p:txBody>
          <a:bodyPr wrap="square" lIns="0" tIns="0" rIns="0" bIns="0" rtlCol="0" anchor="ctr"/>
          <a:lstStyle/>
          <a:p>
            <a:pPr marL="0" indent="0">
              <a:buNone/>
              <a:defRPr/>
            </a:pPr>
            <a:r>
              <a:rPr lang="en-US" sz="700" b="1">
                <a:solidFill>
                  <a:srgbClr val="B4533B"/>
                </a:solidFill>
                <a:latin typeface="Asana"/>
                <a:ea typeface="Asana"/>
                <a:cs typeface="Asana"/>
              </a:rPr>
              <a:t>SYSTEM </a:t>
            </a:r>
            <a:r>
              <a:rPr lang="en-US" sz="700" b="1">
                <a:solidFill>
                  <a:srgbClr val="B4533B"/>
                </a:solidFill>
                <a:latin typeface="Asana"/>
                <a:ea typeface="Asana"/>
                <a:cs typeface="Asana"/>
              </a:rPr>
              <a:t>BOUNDARY</a:t>
            </a:r>
            <a:endParaRPr sz="700" b="1">
              <a:latin typeface="Asana"/>
              <a:cs typeface="Asana"/>
            </a:endParaRPr>
          </a:p>
        </p:txBody>
      </p:sp>
      <p:sp>
        <p:nvSpPr>
          <p:cNvPr id="1853273589" name="Text 37"/>
          <p:cNvSpPr/>
          <p:nvPr/>
        </p:nvSpPr>
        <p:spPr bwMode="auto">
          <a:xfrm>
            <a:off x="6236208" y="4626864"/>
            <a:ext cx="4709160" cy="329184"/>
          </a:xfrm>
          <a:prstGeom prst="rect">
            <a:avLst/>
          </a:prstGeom>
          <a:noFill/>
          <a:ln/>
        </p:spPr>
        <p:txBody>
          <a:bodyPr vertOverflow="overflow" horzOverflow="overflow" vert="horz" wrap="square" lIns="253" tIns="253" rIns="253" bIns="253" numCol="1" spcCol="0" rtlCol="0" fromWordArt="0" anchor="t" anchorCtr="0" forceAA="0" upright="0" compatLnSpc="0">
            <a:normAutofit fontScale="80000" lnSpcReduction="4000"/>
          </a:bodyPr>
          <a:lstStyle/>
          <a:p>
            <a:pPr marL="0" indent="0" algn="l">
              <a:buNone/>
              <a:defRPr/>
            </a:pPr>
            <a:r>
              <a:rPr lang="en-US" sz="1000" b="0">
                <a:solidFill>
                  <a:srgbClr val="0D1B21"/>
                </a:solidFill>
                <a:latin typeface="Asana"/>
                <a:ea typeface="Asana"/>
                <a:cs typeface="Asana"/>
              </a:rPr>
              <a:t>This side is the main difference: predictable calculations do not need a model call, while interpretation and action planning receive a compact state vector with missing evidence clearly labeled.</a:t>
            </a:r>
            <a:endParaRPr sz="1000" b="0">
              <a:latin typeface="Asana"/>
              <a:cs typeface="Asana"/>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500" advClick="1">
        <p:fade thruBlk="0"/>
      </p:transition>
    </mc:Choice>
    <mc:Fallback>
      <p:transition spd="fast" advClick="1">
        <p:fade thruBlk="0"/>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4">
    <p:bg>
      <p:bgPr shadeToTitle="0">
        <a:solidFill>
          <a:srgbClr val="F4EFEA"/>
        </a:solidFill>
      </p:bgPr>
    </p:bg>
    <p:spTree>
      <p:nvGrpSpPr>
        <p:cNvPr id="1" name=""/>
        <p:cNvGrpSpPr/>
        <p:nvPr/>
      </p:nvGrpSpPr>
      <p:grpSpPr bwMode="auto">
        <a:xfrm>
          <a:off x="0" y="0"/>
          <a:ext cx="0" cy="0"/>
          <a:chOff x="0" y="0"/>
          <a:chExt cx="0" cy="0"/>
        </a:xfrm>
      </p:grpSpPr>
      <p:sp>
        <p:nvSpPr>
          <p:cNvPr id="802965389" name="Shape 0"/>
          <p:cNvSpPr/>
          <p:nvPr/>
        </p:nvSpPr>
        <p:spPr bwMode="auto">
          <a:xfrm>
            <a:off x="164592" y="164592"/>
            <a:ext cx="11859768" cy="6528816"/>
          </a:xfrm>
          <a:prstGeom prst="rect">
            <a:avLst/>
          </a:prstGeom>
          <a:solidFill>
            <a:srgbClr val="F4EFEA">
              <a:alpha val="0"/>
            </a:srgbClr>
          </a:solidFill>
          <a:ln w="10160">
            <a:solidFill>
              <a:srgbClr val="27343A"/>
            </a:solidFill>
            <a:prstDash val="solid"/>
          </a:ln>
        </p:spPr>
        <p:txBody>
          <a:bodyPr anchor="ctr"/>
          <a:p>
            <a:pPr algn="ctr">
              <a:defRPr/>
            </a:pPr>
            <a:endParaRPr>
              <a:latin typeface="Asana"/>
              <a:cs typeface="Asana"/>
            </a:endParaRPr>
          </a:p>
        </p:txBody>
      </p:sp>
      <p:sp>
        <p:nvSpPr>
          <p:cNvPr id="2012434842" name="Shape 1"/>
          <p:cNvSpPr/>
          <p:nvPr/>
        </p:nvSpPr>
        <p:spPr bwMode="auto">
          <a:xfrm>
            <a:off x="36576" y="164592"/>
            <a:ext cx="256032" cy="0"/>
          </a:xfrm>
          <a:prstGeom prst="line">
            <a:avLst/>
          </a:prstGeom>
          <a:noFill/>
          <a:ln w="9525">
            <a:solidFill>
              <a:srgbClr val="27343A"/>
            </a:solidFill>
            <a:prstDash val="solid"/>
          </a:ln>
        </p:spPr>
      </p:sp>
      <p:sp>
        <p:nvSpPr>
          <p:cNvPr id="722424151" name="Shape 2"/>
          <p:cNvSpPr/>
          <p:nvPr/>
        </p:nvSpPr>
        <p:spPr bwMode="auto">
          <a:xfrm>
            <a:off x="164592" y="36576"/>
            <a:ext cx="0" cy="256032"/>
          </a:xfrm>
          <a:prstGeom prst="line">
            <a:avLst/>
          </a:prstGeom>
          <a:noFill/>
          <a:ln w="9525">
            <a:solidFill>
              <a:srgbClr val="27343A"/>
            </a:solidFill>
            <a:prstDash val="solid"/>
          </a:ln>
        </p:spPr>
      </p:sp>
      <p:sp>
        <p:nvSpPr>
          <p:cNvPr id="1276065447" name="Shape 3"/>
          <p:cNvSpPr/>
          <p:nvPr/>
        </p:nvSpPr>
        <p:spPr bwMode="auto">
          <a:xfrm>
            <a:off x="11896344" y="164592"/>
            <a:ext cx="256032" cy="0"/>
          </a:xfrm>
          <a:prstGeom prst="line">
            <a:avLst/>
          </a:prstGeom>
          <a:noFill/>
          <a:ln w="9525">
            <a:solidFill>
              <a:srgbClr val="27343A"/>
            </a:solidFill>
            <a:prstDash val="solid"/>
          </a:ln>
        </p:spPr>
      </p:sp>
      <p:sp>
        <p:nvSpPr>
          <p:cNvPr id="161619235" name="Shape 4"/>
          <p:cNvSpPr/>
          <p:nvPr/>
        </p:nvSpPr>
        <p:spPr bwMode="auto">
          <a:xfrm>
            <a:off x="12024360" y="36576"/>
            <a:ext cx="0" cy="256032"/>
          </a:xfrm>
          <a:prstGeom prst="line">
            <a:avLst/>
          </a:prstGeom>
          <a:noFill/>
          <a:ln w="9525">
            <a:solidFill>
              <a:srgbClr val="27343A"/>
            </a:solidFill>
            <a:prstDash val="solid"/>
          </a:ln>
        </p:spPr>
      </p:sp>
      <p:sp>
        <p:nvSpPr>
          <p:cNvPr id="296570541" name="Shape 5"/>
          <p:cNvSpPr/>
          <p:nvPr/>
        </p:nvSpPr>
        <p:spPr bwMode="auto">
          <a:xfrm>
            <a:off x="36576" y="6693408"/>
            <a:ext cx="256032" cy="0"/>
          </a:xfrm>
          <a:prstGeom prst="line">
            <a:avLst/>
          </a:prstGeom>
          <a:noFill/>
          <a:ln w="9525">
            <a:solidFill>
              <a:srgbClr val="27343A"/>
            </a:solidFill>
            <a:prstDash val="solid"/>
          </a:ln>
        </p:spPr>
      </p:sp>
      <p:sp>
        <p:nvSpPr>
          <p:cNvPr id="1451554038" name="Shape 6"/>
          <p:cNvSpPr/>
          <p:nvPr/>
        </p:nvSpPr>
        <p:spPr bwMode="auto">
          <a:xfrm>
            <a:off x="164592" y="6565392"/>
            <a:ext cx="0" cy="256032"/>
          </a:xfrm>
          <a:prstGeom prst="line">
            <a:avLst/>
          </a:prstGeom>
          <a:noFill/>
          <a:ln w="9525">
            <a:solidFill>
              <a:srgbClr val="27343A"/>
            </a:solidFill>
            <a:prstDash val="solid"/>
          </a:ln>
        </p:spPr>
      </p:sp>
      <p:sp>
        <p:nvSpPr>
          <p:cNvPr id="5591285" name="Shape 7"/>
          <p:cNvSpPr/>
          <p:nvPr/>
        </p:nvSpPr>
        <p:spPr bwMode="auto">
          <a:xfrm>
            <a:off x="11896344" y="6693408"/>
            <a:ext cx="256032" cy="0"/>
          </a:xfrm>
          <a:prstGeom prst="line">
            <a:avLst/>
          </a:prstGeom>
          <a:noFill/>
          <a:ln w="9525">
            <a:solidFill>
              <a:srgbClr val="27343A"/>
            </a:solidFill>
            <a:prstDash val="solid"/>
          </a:ln>
        </p:spPr>
      </p:sp>
      <p:sp>
        <p:nvSpPr>
          <p:cNvPr id="1125394242" name="Shape 8"/>
          <p:cNvSpPr/>
          <p:nvPr/>
        </p:nvSpPr>
        <p:spPr bwMode="auto">
          <a:xfrm>
            <a:off x="12024360" y="6565392"/>
            <a:ext cx="0" cy="256032"/>
          </a:xfrm>
          <a:prstGeom prst="line">
            <a:avLst/>
          </a:prstGeom>
          <a:noFill/>
          <a:ln w="9525">
            <a:solidFill>
              <a:srgbClr val="27343A"/>
            </a:solidFill>
            <a:prstDash val="solid"/>
          </a:ln>
        </p:spPr>
      </p:sp>
      <p:sp>
        <p:nvSpPr>
          <p:cNvPr id="1628817771" name="Text 9"/>
          <p:cNvSpPr/>
          <p:nvPr/>
        </p:nvSpPr>
        <p:spPr bwMode="auto">
          <a:xfrm>
            <a:off x="393192" y="393192"/>
            <a:ext cx="2834640" cy="109728"/>
          </a:xfrm>
          <a:prstGeom prst="rect">
            <a:avLst/>
          </a:prstGeom>
          <a:noFill/>
          <a:ln/>
        </p:spPr>
        <p:txBody>
          <a:bodyPr wrap="square" lIns="0" tIns="0" rIns="0" bIns="0" rtlCol="0" anchor="ctr"/>
          <a:lstStyle/>
          <a:p>
            <a:pPr marL="0" indent="0">
              <a:buNone/>
              <a:defRPr/>
            </a:pPr>
            <a:r>
              <a:rPr lang="en-US" sz="500">
                <a:solidFill>
                  <a:srgbClr val="6C6B65"/>
                </a:solidFill>
                <a:latin typeface="Asana"/>
                <a:ea typeface="Asana"/>
                <a:cs typeface="Asana"/>
              </a:rPr>
              <a:t>WIAAS ASIA FIELD ATLAS</a:t>
            </a:r>
            <a:endParaRPr sz="500">
              <a:latin typeface="Asana"/>
              <a:cs typeface="Asana"/>
            </a:endParaRPr>
          </a:p>
        </p:txBody>
      </p:sp>
      <p:sp>
        <p:nvSpPr>
          <p:cNvPr id="315653361" name="Text 10"/>
          <p:cNvSpPr/>
          <p:nvPr/>
        </p:nvSpPr>
        <p:spPr bwMode="auto">
          <a:xfrm>
            <a:off x="9418320" y="393192"/>
            <a:ext cx="2331720" cy="109728"/>
          </a:xfrm>
          <a:prstGeom prst="rect">
            <a:avLst/>
          </a:prstGeom>
          <a:noFill/>
          <a:ln/>
        </p:spPr>
        <p:txBody>
          <a:bodyPr wrap="square" lIns="0" tIns="0" rIns="0" bIns="0" rtlCol="0" anchor="ctr"/>
          <a:lstStyle/>
          <a:p>
            <a:pPr marL="0" indent="0" algn="r">
              <a:buNone/>
              <a:defRPr/>
            </a:pPr>
            <a:r>
              <a:rPr lang="en-US" sz="700" b="1">
                <a:solidFill>
                  <a:srgbClr val="6C6B65"/>
                </a:solidFill>
                <a:latin typeface="Asana"/>
                <a:ea typeface="Asana"/>
                <a:cs typeface="Asana"/>
              </a:rPr>
              <a:t>PLATE 04 - TWO AGENT SYSTEM</a:t>
            </a:r>
            <a:endParaRPr sz="700" b="1">
              <a:latin typeface="Asana"/>
              <a:cs typeface="Asana"/>
            </a:endParaRPr>
          </a:p>
        </p:txBody>
      </p:sp>
      <p:sp>
        <p:nvSpPr>
          <p:cNvPr id="940072009" name="Text 11"/>
          <p:cNvSpPr/>
          <p:nvPr/>
        </p:nvSpPr>
        <p:spPr bwMode="auto">
          <a:xfrm>
            <a:off x="393192" y="6492240"/>
            <a:ext cx="3017519" cy="109728"/>
          </a:xfrm>
          <a:prstGeom prst="rect">
            <a:avLst/>
          </a:prstGeom>
          <a:noFill/>
          <a:ln/>
        </p:spPr>
        <p:txBody>
          <a:bodyPr wrap="square" lIns="0" tIns="0" rIns="0" bIns="0" rtlCol="0" anchor="ctr"/>
          <a:lstStyle/>
          <a:p>
            <a:pPr marL="0" indent="0">
              <a:buNone/>
              <a:defRPr/>
            </a:pPr>
            <a:r>
              <a:rPr lang="en-US" sz="450">
                <a:solidFill>
                  <a:srgbClr val="6C6B65"/>
                </a:solidFill>
                <a:latin typeface="Asana"/>
                <a:ea typeface="Asana"/>
                <a:cs typeface="Asana"/>
              </a:rPr>
              <a:t>DEVELOPED WITH QODER + N8N ORCHESTRATION</a:t>
            </a:r>
            <a:endParaRPr sz="450">
              <a:latin typeface="Asana"/>
              <a:cs typeface="Asana"/>
            </a:endParaRPr>
          </a:p>
        </p:txBody>
      </p:sp>
      <p:sp>
        <p:nvSpPr>
          <p:cNvPr id="1214266848" name="Text 12"/>
          <p:cNvSpPr/>
          <p:nvPr/>
        </p:nvSpPr>
        <p:spPr bwMode="auto">
          <a:xfrm>
            <a:off x="11411712" y="6492240"/>
            <a:ext cx="329184" cy="109728"/>
          </a:xfrm>
          <a:prstGeom prst="rect">
            <a:avLst/>
          </a:prstGeom>
          <a:noFill/>
          <a:ln/>
        </p:spPr>
        <p:txBody>
          <a:bodyPr wrap="square" lIns="0" tIns="0" rIns="0" bIns="0" rtlCol="0" anchor="ctr"/>
          <a:lstStyle/>
          <a:p>
            <a:pPr marL="0" indent="0" algn="r">
              <a:buNone/>
              <a:defRPr/>
            </a:pPr>
            <a:r>
              <a:rPr lang="en-US" sz="450">
                <a:solidFill>
                  <a:srgbClr val="6C6B65"/>
                </a:solidFill>
                <a:latin typeface="Asana"/>
                <a:ea typeface="Asana"/>
                <a:cs typeface="Asana"/>
              </a:rPr>
              <a:t>04 / 12</a:t>
            </a:r>
            <a:endParaRPr sz="450">
              <a:latin typeface="Asana"/>
              <a:cs typeface="Asana"/>
            </a:endParaRPr>
          </a:p>
        </p:txBody>
      </p:sp>
      <p:sp>
        <p:nvSpPr>
          <p:cNvPr id="458202915" name="Shape 13"/>
          <p:cNvSpPr/>
          <p:nvPr/>
        </p:nvSpPr>
        <p:spPr bwMode="auto">
          <a:xfrm>
            <a:off x="530352" y="914400"/>
            <a:ext cx="365760" cy="0"/>
          </a:xfrm>
          <a:prstGeom prst="line">
            <a:avLst/>
          </a:prstGeom>
          <a:noFill/>
          <a:ln w="16510">
            <a:solidFill>
              <a:srgbClr val="B4533B"/>
            </a:solidFill>
            <a:prstDash val="solid"/>
          </a:ln>
        </p:spPr>
      </p:sp>
      <p:sp>
        <p:nvSpPr>
          <p:cNvPr id="604603669" name="Text 14"/>
          <p:cNvSpPr/>
          <p:nvPr/>
        </p:nvSpPr>
        <p:spPr bwMode="auto">
          <a:xfrm>
            <a:off x="1060704" y="850392"/>
            <a:ext cx="1828800" cy="146304"/>
          </a:xfrm>
          <a:prstGeom prst="rect">
            <a:avLst/>
          </a:prstGeom>
          <a:noFill/>
          <a:ln/>
        </p:spPr>
        <p:txBody>
          <a:bodyPr wrap="square" lIns="0" tIns="0" rIns="0" bIns="0" rtlCol="0" anchor="ctr"/>
          <a:lstStyle/>
          <a:p>
            <a:pPr marL="0" indent="0">
              <a:buNone/>
              <a:defRPr/>
            </a:pPr>
            <a:r>
              <a:rPr lang="en-US" sz="550">
                <a:solidFill>
                  <a:srgbClr val="B4533B"/>
                </a:solidFill>
                <a:latin typeface="Asana"/>
                <a:ea typeface="Asana"/>
                <a:cs typeface="Asana"/>
              </a:rPr>
              <a:t>SHARED STATE</a:t>
            </a:r>
            <a:endParaRPr sz="550">
              <a:latin typeface="Asana"/>
              <a:cs typeface="Asana"/>
            </a:endParaRPr>
          </a:p>
        </p:txBody>
      </p:sp>
      <p:sp>
        <p:nvSpPr>
          <p:cNvPr id="285953348" name="Text 15"/>
          <p:cNvSpPr/>
          <p:nvPr/>
        </p:nvSpPr>
        <p:spPr bwMode="auto">
          <a:xfrm>
            <a:off x="530352" y="1115568"/>
            <a:ext cx="9875520" cy="384048"/>
          </a:xfrm>
          <a:prstGeom prst="rect">
            <a:avLst/>
          </a:prstGeom>
          <a:noFill/>
          <a:ln/>
        </p:spPr>
        <p:txBody>
          <a:bodyPr wrap="square" lIns="0" tIns="0" rIns="0" bIns="0" rtlCol="0" anchor="ctr"/>
          <a:lstStyle/>
          <a:p>
            <a:pPr marL="0" indent="0">
              <a:buNone/>
              <a:defRPr/>
            </a:pPr>
            <a:r>
              <a:rPr lang="en-US" sz="2800" b="1">
                <a:solidFill>
                  <a:srgbClr val="0D1B21"/>
                </a:solidFill>
                <a:latin typeface="Asana"/>
                <a:ea typeface="Asana"/>
                <a:cs typeface="Asana"/>
              </a:rPr>
              <a:t>Two agents, one weather state</a:t>
            </a:r>
            <a:endParaRPr sz="2800">
              <a:latin typeface="Asana"/>
              <a:cs typeface="Asana"/>
            </a:endParaRPr>
          </a:p>
        </p:txBody>
      </p:sp>
      <p:sp>
        <p:nvSpPr>
          <p:cNvPr id="454934031" name="Text 16"/>
          <p:cNvSpPr/>
          <p:nvPr/>
        </p:nvSpPr>
        <p:spPr bwMode="auto">
          <a:xfrm>
            <a:off x="530352" y="1645920"/>
            <a:ext cx="9601200" cy="256032"/>
          </a:xfrm>
          <a:prstGeom prst="rect">
            <a:avLst/>
          </a:prstGeom>
          <a:noFill/>
          <a:ln/>
        </p:spPr>
        <p:txBody>
          <a:bodyPr wrap="square" lIns="0" tIns="0" rIns="0" bIns="0" rtlCol="0" anchor="ctr"/>
          <a:lstStyle/>
          <a:p>
            <a:pPr marL="0" indent="0">
              <a:buNone/>
              <a:defRPr/>
            </a:pPr>
            <a:r>
              <a:rPr lang="en-US" sz="1100">
                <a:solidFill>
                  <a:srgbClr val="0D1B21"/>
                </a:solidFill>
                <a:latin typeface="Asana"/>
                <a:ea typeface="Asana"/>
                <a:cs typeface="Asana"/>
              </a:rPr>
              <a:t>Daily operations and emergency intelligence use the same location, telemetry, and calculated metrics.</a:t>
            </a:r>
            <a:endParaRPr sz="1100">
              <a:latin typeface="Asana"/>
              <a:cs typeface="Asana"/>
            </a:endParaRPr>
          </a:p>
        </p:txBody>
      </p:sp>
      <p:sp>
        <p:nvSpPr>
          <p:cNvPr id="1020437137" name="Shape 17"/>
          <p:cNvSpPr/>
          <p:nvPr/>
        </p:nvSpPr>
        <p:spPr bwMode="auto">
          <a:xfrm>
            <a:off x="685800" y="2103120"/>
            <a:ext cx="4983480" cy="2788920"/>
          </a:xfrm>
          <a:prstGeom prst="rect">
            <a:avLst/>
          </a:prstGeom>
          <a:solidFill>
            <a:srgbClr val="EFE7D5"/>
          </a:solidFill>
          <a:ln w="10160">
            <a:solidFill>
              <a:srgbClr val="A9A193"/>
            </a:solidFill>
            <a:prstDash val="solid"/>
          </a:ln>
        </p:spPr>
        <p:txBody>
          <a:bodyPr anchor="ctr"/>
          <a:p>
            <a:pPr algn="ctr">
              <a:defRPr/>
            </a:pPr>
            <a:endParaRPr>
              <a:latin typeface="Asana"/>
              <a:cs typeface="Asana"/>
            </a:endParaRPr>
          </a:p>
        </p:txBody>
      </p:sp>
      <p:sp>
        <p:nvSpPr>
          <p:cNvPr id="953436751" name="Shape 18"/>
          <p:cNvSpPr/>
          <p:nvPr/>
        </p:nvSpPr>
        <p:spPr bwMode="auto">
          <a:xfrm>
            <a:off x="914400" y="2724911"/>
            <a:ext cx="438912" cy="0"/>
          </a:xfrm>
          <a:prstGeom prst="line">
            <a:avLst/>
          </a:prstGeom>
          <a:noFill/>
          <a:ln w="19050">
            <a:solidFill>
              <a:srgbClr val="108A98"/>
            </a:solidFill>
            <a:prstDash val="solid"/>
          </a:ln>
        </p:spPr>
      </p:sp>
      <p:sp>
        <p:nvSpPr>
          <p:cNvPr id="1575030416" name="Text 19"/>
          <p:cNvSpPr/>
          <p:nvPr/>
        </p:nvSpPr>
        <p:spPr bwMode="auto">
          <a:xfrm>
            <a:off x="896111" y="2560319"/>
            <a:ext cx="2377440" cy="164592"/>
          </a:xfrm>
          <a:prstGeom prst="rect">
            <a:avLst/>
          </a:prstGeom>
          <a:noFill/>
          <a:ln/>
        </p:spPr>
        <p:txBody>
          <a:bodyPr wrap="square" lIns="0" tIns="0" rIns="0" bIns="0" rtlCol="0" anchor="ctr"/>
          <a:lstStyle/>
          <a:p>
            <a:pPr marL="0" indent="0">
              <a:buNone/>
              <a:defRPr/>
            </a:pPr>
            <a:r>
              <a:rPr lang="en-US" sz="1350" b="1">
                <a:solidFill>
                  <a:srgbClr val="0D1B21"/>
                </a:solidFill>
                <a:latin typeface="Asana"/>
                <a:ea typeface="Asana"/>
                <a:cs typeface="Asana"/>
              </a:rPr>
              <a:t>WIaaS Agent</a:t>
            </a:r>
            <a:endParaRPr sz="1350">
              <a:latin typeface="Asana"/>
              <a:cs typeface="Asana"/>
            </a:endParaRPr>
          </a:p>
        </p:txBody>
      </p:sp>
      <p:sp>
        <p:nvSpPr>
          <p:cNvPr id="75927737" name="Text 20"/>
          <p:cNvSpPr/>
          <p:nvPr/>
        </p:nvSpPr>
        <p:spPr bwMode="auto">
          <a:xfrm>
            <a:off x="914400" y="2862072"/>
            <a:ext cx="4434840" cy="219456"/>
          </a:xfrm>
          <a:prstGeom prst="rect">
            <a:avLst/>
          </a:prstGeom>
          <a:noFill/>
          <a:ln/>
        </p:spPr>
        <p:txBody>
          <a:bodyPr wrap="square" lIns="254" tIns="254" rIns="254" bIns="254" rtlCol="0" anchor="t">
            <a:normAutofit/>
          </a:bodyPr>
          <a:lstStyle/>
          <a:p>
            <a:pPr marL="0" indent="0" algn="l">
              <a:buNone/>
              <a:defRPr/>
            </a:pPr>
            <a:r>
              <a:rPr lang="en-US" sz="1000" b="1">
                <a:solidFill>
                  <a:srgbClr val="0D1B21"/>
                </a:solidFill>
                <a:latin typeface="Asana"/>
                <a:ea typeface="Asana"/>
                <a:cs typeface="Asana"/>
              </a:rPr>
              <a:t>Operational intelligence for routine decisions.</a:t>
            </a:r>
            <a:endParaRPr sz="1000">
              <a:latin typeface="Asana"/>
              <a:cs typeface="Asana"/>
            </a:endParaRPr>
          </a:p>
        </p:txBody>
      </p:sp>
      <p:sp>
        <p:nvSpPr>
          <p:cNvPr id="2112993335" name="Shape 21"/>
          <p:cNvSpPr/>
          <p:nvPr/>
        </p:nvSpPr>
        <p:spPr bwMode="auto">
          <a:xfrm>
            <a:off x="914400" y="3282696"/>
            <a:ext cx="118872" cy="0"/>
          </a:xfrm>
          <a:prstGeom prst="line">
            <a:avLst/>
          </a:prstGeom>
          <a:noFill/>
          <a:ln w="13970">
            <a:solidFill>
              <a:srgbClr val="108A98"/>
            </a:solidFill>
            <a:prstDash val="solid"/>
          </a:ln>
        </p:spPr>
      </p:sp>
      <p:sp>
        <p:nvSpPr>
          <p:cNvPr id="483765339" name="Text 22"/>
          <p:cNvSpPr/>
          <p:nvPr/>
        </p:nvSpPr>
        <p:spPr bwMode="auto">
          <a:xfrm>
            <a:off x="1115568" y="3200400"/>
            <a:ext cx="4096512" cy="246888"/>
          </a:xfrm>
          <a:prstGeom prst="rect">
            <a:avLst/>
          </a:prstGeom>
          <a:noFill/>
          <a:ln/>
        </p:spPr>
        <p:txBody>
          <a:bodyPr wrap="square" lIns="0" tIns="0" rIns="0" bIns="0" rtlCol="0" anchor="ctr">
            <a:normAutofit/>
          </a:bodyPr>
          <a:lstStyle/>
          <a:p>
            <a:pPr marL="0" indent="0">
              <a:buNone/>
              <a:defRPr/>
            </a:pPr>
            <a:r>
              <a:rPr lang="en-US" sz="850">
                <a:solidFill>
                  <a:srgbClr val="0D1B21"/>
                </a:solidFill>
                <a:latin typeface="Asana"/>
                <a:ea typeface="Asana"/>
                <a:cs typeface="Asana"/>
              </a:rPr>
              <a:t>Research branch explains baselines, current evidence, and uncertainty.</a:t>
            </a:r>
            <a:endParaRPr sz="850">
              <a:latin typeface="Asana"/>
              <a:cs typeface="Asana"/>
            </a:endParaRPr>
          </a:p>
        </p:txBody>
      </p:sp>
      <p:sp>
        <p:nvSpPr>
          <p:cNvPr id="852396426" name="Shape 23"/>
          <p:cNvSpPr/>
          <p:nvPr/>
        </p:nvSpPr>
        <p:spPr bwMode="auto">
          <a:xfrm>
            <a:off x="914400" y="3639312"/>
            <a:ext cx="118872" cy="0"/>
          </a:xfrm>
          <a:prstGeom prst="line">
            <a:avLst/>
          </a:prstGeom>
          <a:noFill/>
          <a:ln w="13970">
            <a:solidFill>
              <a:srgbClr val="108A98"/>
            </a:solidFill>
            <a:prstDash val="solid"/>
          </a:ln>
        </p:spPr>
      </p:sp>
      <p:sp>
        <p:nvSpPr>
          <p:cNvPr id="973219180" name="Text 24"/>
          <p:cNvSpPr/>
          <p:nvPr/>
        </p:nvSpPr>
        <p:spPr bwMode="auto">
          <a:xfrm>
            <a:off x="1115568" y="3557016"/>
            <a:ext cx="4096512" cy="246888"/>
          </a:xfrm>
          <a:prstGeom prst="rect">
            <a:avLst/>
          </a:prstGeom>
          <a:noFill/>
          <a:ln/>
        </p:spPr>
        <p:txBody>
          <a:bodyPr wrap="square" lIns="0" tIns="0" rIns="0" bIns="0" rtlCol="0" anchor="ctr">
            <a:normAutofit/>
          </a:bodyPr>
          <a:lstStyle/>
          <a:p>
            <a:pPr marL="0" indent="0">
              <a:buNone/>
              <a:defRPr/>
            </a:pPr>
            <a:r>
              <a:rPr lang="en-US" sz="850">
                <a:solidFill>
                  <a:srgbClr val="0D1B21"/>
                </a:solidFill>
                <a:latin typeface="Asana"/>
                <a:ea typeface="Asana"/>
                <a:cs typeface="Asana"/>
              </a:rPr>
              <a:t>Agriculture branch turns VPD, heat and moisture into crop and irrigation guidance.</a:t>
            </a:r>
            <a:endParaRPr sz="850">
              <a:latin typeface="Asana"/>
              <a:cs typeface="Asana"/>
            </a:endParaRPr>
          </a:p>
        </p:txBody>
      </p:sp>
      <p:sp>
        <p:nvSpPr>
          <p:cNvPr id="1831492794" name="Shape 25"/>
          <p:cNvSpPr/>
          <p:nvPr/>
        </p:nvSpPr>
        <p:spPr bwMode="auto">
          <a:xfrm>
            <a:off x="914400" y="3995928"/>
            <a:ext cx="118872" cy="0"/>
          </a:xfrm>
          <a:prstGeom prst="line">
            <a:avLst/>
          </a:prstGeom>
          <a:noFill/>
          <a:ln w="13970">
            <a:solidFill>
              <a:srgbClr val="108A98"/>
            </a:solidFill>
            <a:prstDash val="solid"/>
          </a:ln>
        </p:spPr>
      </p:sp>
      <p:sp>
        <p:nvSpPr>
          <p:cNvPr id="114828968" name="Text 26"/>
          <p:cNvSpPr/>
          <p:nvPr/>
        </p:nvSpPr>
        <p:spPr bwMode="auto">
          <a:xfrm>
            <a:off x="1115568" y="3913632"/>
            <a:ext cx="4096512" cy="246888"/>
          </a:xfrm>
          <a:prstGeom prst="rect">
            <a:avLst/>
          </a:prstGeom>
          <a:noFill/>
          <a:ln/>
        </p:spPr>
        <p:txBody>
          <a:bodyPr wrap="square" lIns="0" tIns="0" rIns="0" bIns="0" rtlCol="0" anchor="ctr">
            <a:normAutofit/>
          </a:bodyPr>
          <a:lstStyle/>
          <a:p>
            <a:pPr marL="0" indent="0">
              <a:buNone/>
              <a:defRPr/>
            </a:pPr>
            <a:r>
              <a:rPr lang="en-US" sz="850">
                <a:solidFill>
                  <a:srgbClr val="0D1B21"/>
                </a:solidFill>
                <a:latin typeface="Asana"/>
                <a:ea typeface="Asana"/>
                <a:cs typeface="Asana"/>
              </a:rPr>
              <a:t>Grid and logistics branches translate weather stress into capacity, fuel and route pressure.</a:t>
            </a:r>
            <a:endParaRPr sz="850">
              <a:latin typeface="Asana"/>
              <a:cs typeface="Asana"/>
            </a:endParaRPr>
          </a:p>
        </p:txBody>
      </p:sp>
      <p:sp>
        <p:nvSpPr>
          <p:cNvPr id="637781411" name="Shape 27"/>
          <p:cNvSpPr/>
          <p:nvPr/>
        </p:nvSpPr>
        <p:spPr bwMode="auto">
          <a:xfrm>
            <a:off x="914400" y="4352544"/>
            <a:ext cx="118872" cy="0"/>
          </a:xfrm>
          <a:prstGeom prst="line">
            <a:avLst/>
          </a:prstGeom>
          <a:noFill/>
          <a:ln w="13970">
            <a:solidFill>
              <a:srgbClr val="108A98"/>
            </a:solidFill>
            <a:prstDash val="solid"/>
          </a:ln>
        </p:spPr>
      </p:sp>
      <p:sp>
        <p:nvSpPr>
          <p:cNvPr id="287784819" name="Text 28"/>
          <p:cNvSpPr/>
          <p:nvPr/>
        </p:nvSpPr>
        <p:spPr bwMode="auto">
          <a:xfrm>
            <a:off x="1115568" y="4270248"/>
            <a:ext cx="4096512" cy="246888"/>
          </a:xfrm>
          <a:prstGeom prst="rect">
            <a:avLst/>
          </a:prstGeom>
          <a:noFill/>
          <a:ln/>
        </p:spPr>
        <p:txBody>
          <a:bodyPr wrap="square" lIns="0" tIns="0" rIns="0" bIns="0" rtlCol="0" anchor="ctr">
            <a:normAutofit/>
          </a:bodyPr>
          <a:lstStyle/>
          <a:p>
            <a:pPr marL="0" indent="0">
              <a:buNone/>
              <a:defRPr/>
            </a:pPr>
            <a:r>
              <a:rPr lang="en-US" sz="850">
                <a:solidFill>
                  <a:srgbClr val="0D1B21"/>
                </a:solidFill>
                <a:latin typeface="Asana"/>
                <a:ea typeface="Asana"/>
                <a:cs typeface="Asana"/>
              </a:rPr>
              <a:t>Conversation branch answers direct questions in English or Urdu with session context.</a:t>
            </a:r>
            <a:endParaRPr sz="850">
              <a:latin typeface="Asana"/>
              <a:cs typeface="Asana"/>
            </a:endParaRPr>
          </a:p>
        </p:txBody>
      </p:sp>
      <p:sp>
        <p:nvSpPr>
          <p:cNvPr id="1110564030" name="Shape 29"/>
          <p:cNvSpPr/>
          <p:nvPr/>
        </p:nvSpPr>
        <p:spPr bwMode="auto">
          <a:xfrm>
            <a:off x="6492240" y="2103120"/>
            <a:ext cx="4983480" cy="2788920"/>
          </a:xfrm>
          <a:prstGeom prst="rect">
            <a:avLst/>
          </a:prstGeom>
          <a:solidFill>
            <a:srgbClr val="EFE7D5"/>
          </a:solidFill>
          <a:ln w="10160">
            <a:solidFill>
              <a:srgbClr val="A9A193"/>
            </a:solidFill>
            <a:prstDash val="solid"/>
          </a:ln>
        </p:spPr>
        <p:txBody>
          <a:bodyPr anchor="ctr"/>
          <a:p>
            <a:pPr algn="ctr">
              <a:defRPr/>
            </a:pPr>
            <a:endParaRPr>
              <a:latin typeface="Asana"/>
              <a:cs typeface="Asana"/>
            </a:endParaRPr>
          </a:p>
        </p:txBody>
      </p:sp>
      <p:sp>
        <p:nvSpPr>
          <p:cNvPr id="1327535529" name="Shape 30"/>
          <p:cNvSpPr/>
          <p:nvPr/>
        </p:nvSpPr>
        <p:spPr bwMode="auto">
          <a:xfrm flipH="0" flipV="0">
            <a:off x="6796416" y="2724552"/>
            <a:ext cx="806368" cy="0"/>
          </a:xfrm>
          <a:prstGeom prst="line">
            <a:avLst/>
          </a:prstGeom>
          <a:noFill/>
          <a:ln w="19050">
            <a:solidFill>
              <a:srgbClr val="B4533B"/>
            </a:solidFill>
            <a:prstDash val="solid"/>
          </a:ln>
        </p:spPr>
      </p:sp>
      <p:sp>
        <p:nvSpPr>
          <p:cNvPr id="1733975380" name="Text 31"/>
          <p:cNvSpPr/>
          <p:nvPr/>
        </p:nvSpPr>
        <p:spPr bwMode="auto">
          <a:xfrm>
            <a:off x="6796416" y="2560319"/>
            <a:ext cx="2560320" cy="164592"/>
          </a:xfrm>
          <a:prstGeom prst="rect">
            <a:avLst/>
          </a:prstGeom>
          <a:noFill/>
          <a:ln/>
        </p:spPr>
        <p:txBody>
          <a:bodyPr wrap="square" lIns="0" tIns="0" rIns="0" bIns="0" rtlCol="0" anchor="ctr"/>
          <a:lstStyle/>
          <a:p>
            <a:pPr marL="0" indent="0">
              <a:buNone/>
              <a:defRPr/>
            </a:pPr>
            <a:r>
              <a:rPr lang="en-US" sz="1350" b="1">
                <a:solidFill>
                  <a:srgbClr val="0D1B21"/>
                </a:solidFill>
                <a:latin typeface="Asana"/>
                <a:ea typeface="Asana"/>
                <a:cs typeface="Asana"/>
              </a:rPr>
              <a:t>CrisisLens Agent</a:t>
            </a:r>
            <a:endParaRPr sz="1350">
              <a:latin typeface="Asana"/>
              <a:cs typeface="Asana"/>
            </a:endParaRPr>
          </a:p>
        </p:txBody>
      </p:sp>
      <p:sp>
        <p:nvSpPr>
          <p:cNvPr id="873926635" name="Text 32"/>
          <p:cNvSpPr/>
          <p:nvPr/>
        </p:nvSpPr>
        <p:spPr bwMode="auto">
          <a:xfrm>
            <a:off x="6720840" y="2862072"/>
            <a:ext cx="4434840" cy="219456"/>
          </a:xfrm>
          <a:prstGeom prst="rect">
            <a:avLst/>
          </a:prstGeom>
          <a:noFill/>
          <a:ln/>
        </p:spPr>
        <p:txBody>
          <a:bodyPr wrap="square" lIns="254" tIns="254" rIns="254" bIns="254" rtlCol="0" anchor="t">
            <a:normAutofit/>
          </a:bodyPr>
          <a:lstStyle/>
          <a:p>
            <a:pPr marL="0" indent="0" algn="l">
              <a:buNone/>
              <a:defRPr/>
            </a:pPr>
            <a:r>
              <a:rPr lang="en-US" sz="1000" b="1">
                <a:solidFill>
                  <a:srgbClr val="0D1B21"/>
                </a:solidFill>
                <a:latin typeface="Asana"/>
                <a:ea typeface="Asana"/>
                <a:cs typeface="Asana"/>
              </a:rPr>
              <a:t>Emergency intelligence for hazard response.</a:t>
            </a:r>
            <a:endParaRPr sz="1000">
              <a:latin typeface="Asana"/>
              <a:cs typeface="Asana"/>
            </a:endParaRPr>
          </a:p>
        </p:txBody>
      </p:sp>
      <p:sp>
        <p:nvSpPr>
          <p:cNvPr id="1429737244" name="Shape 33"/>
          <p:cNvSpPr/>
          <p:nvPr/>
        </p:nvSpPr>
        <p:spPr bwMode="auto">
          <a:xfrm>
            <a:off x="6720840" y="3282696"/>
            <a:ext cx="118872" cy="0"/>
          </a:xfrm>
          <a:prstGeom prst="line">
            <a:avLst/>
          </a:prstGeom>
          <a:noFill/>
          <a:ln w="13970">
            <a:solidFill>
              <a:srgbClr val="B4533B"/>
            </a:solidFill>
            <a:prstDash val="solid"/>
          </a:ln>
        </p:spPr>
      </p:sp>
      <p:sp>
        <p:nvSpPr>
          <p:cNvPr id="1752654425" name="Text 34"/>
          <p:cNvSpPr/>
          <p:nvPr/>
        </p:nvSpPr>
        <p:spPr bwMode="auto">
          <a:xfrm>
            <a:off x="6922008" y="3200400"/>
            <a:ext cx="4142232" cy="246888"/>
          </a:xfrm>
          <a:prstGeom prst="rect">
            <a:avLst/>
          </a:prstGeom>
          <a:noFill/>
          <a:ln/>
        </p:spPr>
        <p:txBody>
          <a:bodyPr wrap="square" lIns="0" tIns="0" rIns="0" bIns="0" rtlCol="0" anchor="ctr">
            <a:normAutofit/>
          </a:bodyPr>
          <a:lstStyle/>
          <a:p>
            <a:pPr marL="0" indent="0">
              <a:buNone/>
              <a:defRPr/>
            </a:pPr>
            <a:r>
              <a:rPr lang="en-US" sz="850">
                <a:solidFill>
                  <a:srgbClr val="0D1B21"/>
                </a:solidFill>
                <a:latin typeface="Asana"/>
                <a:ea typeface="Asana"/>
                <a:cs typeface="Asana"/>
              </a:rPr>
              <a:t>Routes threat, evidence, severity, action and follow-up questions separately.</a:t>
            </a:r>
            <a:endParaRPr sz="850">
              <a:latin typeface="Asana"/>
              <a:cs typeface="Asana"/>
            </a:endParaRPr>
          </a:p>
        </p:txBody>
      </p:sp>
      <p:sp>
        <p:nvSpPr>
          <p:cNvPr id="401656370" name="Shape 35"/>
          <p:cNvSpPr/>
          <p:nvPr/>
        </p:nvSpPr>
        <p:spPr bwMode="auto">
          <a:xfrm>
            <a:off x="6720840" y="3639312"/>
            <a:ext cx="118872" cy="0"/>
          </a:xfrm>
          <a:prstGeom prst="line">
            <a:avLst/>
          </a:prstGeom>
          <a:noFill/>
          <a:ln w="13970">
            <a:solidFill>
              <a:srgbClr val="B4533B"/>
            </a:solidFill>
            <a:prstDash val="solid"/>
          </a:ln>
        </p:spPr>
      </p:sp>
      <p:sp>
        <p:nvSpPr>
          <p:cNvPr id="610427642" name="Text 36"/>
          <p:cNvSpPr/>
          <p:nvPr/>
        </p:nvSpPr>
        <p:spPr bwMode="auto">
          <a:xfrm>
            <a:off x="6922008" y="3557016"/>
            <a:ext cx="4142232" cy="246888"/>
          </a:xfrm>
          <a:prstGeom prst="rect">
            <a:avLst/>
          </a:prstGeom>
          <a:noFill/>
          <a:ln/>
        </p:spPr>
        <p:txBody>
          <a:bodyPr wrap="square" lIns="0" tIns="0" rIns="0" bIns="0" rtlCol="0" anchor="ctr">
            <a:normAutofit/>
          </a:bodyPr>
          <a:lstStyle/>
          <a:p>
            <a:pPr marL="0" indent="0">
              <a:buNone/>
              <a:defRPr/>
            </a:pPr>
            <a:r>
              <a:rPr lang="en-US" sz="850">
                <a:solidFill>
                  <a:srgbClr val="0D1B21"/>
                </a:solidFill>
                <a:latin typeface="Asana"/>
                <a:ea typeface="Asana"/>
                <a:cs typeface="Asana"/>
              </a:rPr>
              <a:t>Correlates Open-Meteo, GDACS, GDELT and configured FIRMS signals.</a:t>
            </a:r>
            <a:endParaRPr sz="850">
              <a:latin typeface="Asana"/>
              <a:cs typeface="Asana"/>
            </a:endParaRPr>
          </a:p>
        </p:txBody>
      </p:sp>
      <p:sp>
        <p:nvSpPr>
          <p:cNvPr id="1639516989" name="Shape 37"/>
          <p:cNvSpPr/>
          <p:nvPr/>
        </p:nvSpPr>
        <p:spPr bwMode="auto">
          <a:xfrm>
            <a:off x="6720840" y="3995928"/>
            <a:ext cx="118872" cy="0"/>
          </a:xfrm>
          <a:prstGeom prst="line">
            <a:avLst/>
          </a:prstGeom>
          <a:noFill/>
          <a:ln w="13970">
            <a:solidFill>
              <a:srgbClr val="B4533B"/>
            </a:solidFill>
            <a:prstDash val="solid"/>
          </a:ln>
        </p:spPr>
      </p:sp>
      <p:sp>
        <p:nvSpPr>
          <p:cNvPr id="1057975279" name="Text 38"/>
          <p:cNvSpPr/>
          <p:nvPr/>
        </p:nvSpPr>
        <p:spPr bwMode="auto">
          <a:xfrm>
            <a:off x="6922008" y="3913632"/>
            <a:ext cx="4142232" cy="246888"/>
          </a:xfrm>
          <a:prstGeom prst="rect">
            <a:avLst/>
          </a:prstGeom>
          <a:noFill/>
          <a:ln/>
        </p:spPr>
        <p:txBody>
          <a:bodyPr wrap="square" lIns="0" tIns="0" rIns="0" bIns="0" rtlCol="0" anchor="ctr">
            <a:normAutofit/>
          </a:bodyPr>
          <a:lstStyle/>
          <a:p>
            <a:pPr marL="0" indent="0">
              <a:buNone/>
              <a:defRPr/>
            </a:pPr>
            <a:r>
              <a:rPr lang="en-US" sz="850">
                <a:solidFill>
                  <a:srgbClr val="0D1B21"/>
                </a:solidFill>
                <a:latin typeface="Asana"/>
                <a:ea typeface="Asana"/>
                <a:cs typeface="Asana"/>
              </a:rPr>
              <a:t>Keeps observation, inference, confidence and missing sources visible.</a:t>
            </a:r>
            <a:endParaRPr sz="850">
              <a:latin typeface="Asana"/>
              <a:cs typeface="Asana"/>
            </a:endParaRPr>
          </a:p>
        </p:txBody>
      </p:sp>
      <p:sp>
        <p:nvSpPr>
          <p:cNvPr id="1446481213" name="Shape 39"/>
          <p:cNvSpPr/>
          <p:nvPr/>
        </p:nvSpPr>
        <p:spPr bwMode="auto">
          <a:xfrm>
            <a:off x="6720840" y="4352544"/>
            <a:ext cx="118872" cy="0"/>
          </a:xfrm>
          <a:prstGeom prst="line">
            <a:avLst/>
          </a:prstGeom>
          <a:noFill/>
          <a:ln w="13970">
            <a:solidFill>
              <a:srgbClr val="B4533B"/>
            </a:solidFill>
            <a:prstDash val="solid"/>
          </a:ln>
        </p:spPr>
      </p:sp>
      <p:sp>
        <p:nvSpPr>
          <p:cNvPr id="2041307605" name="Text 40"/>
          <p:cNvSpPr/>
          <p:nvPr/>
        </p:nvSpPr>
        <p:spPr bwMode="auto">
          <a:xfrm>
            <a:off x="6922008" y="4270248"/>
            <a:ext cx="4142232" cy="246888"/>
          </a:xfrm>
          <a:prstGeom prst="rect">
            <a:avLst/>
          </a:prstGeom>
          <a:noFill/>
          <a:ln/>
        </p:spPr>
        <p:txBody>
          <a:bodyPr wrap="square" lIns="0" tIns="0" rIns="0" bIns="0" rtlCol="0" anchor="ctr">
            <a:normAutofit/>
          </a:bodyPr>
          <a:lstStyle/>
          <a:p>
            <a:pPr marL="0" indent="0">
              <a:buNone/>
              <a:defRPr/>
            </a:pPr>
            <a:r>
              <a:rPr lang="en-US" sz="850">
                <a:solidFill>
                  <a:srgbClr val="0D1B21"/>
                </a:solidFill>
                <a:latin typeface="Asana"/>
                <a:ea typeface="Asana"/>
                <a:cs typeface="Asana"/>
              </a:rPr>
              <a:t>Returns stakeholder-specific guidance for citizens, farmers, utilities and emergency teams.</a:t>
            </a:r>
            <a:endParaRPr sz="850">
              <a:latin typeface="Asana"/>
              <a:cs typeface="Asana"/>
            </a:endParaRPr>
          </a:p>
        </p:txBody>
      </p:sp>
      <p:sp>
        <p:nvSpPr>
          <p:cNvPr id="32606280" name="Shape 41"/>
          <p:cNvSpPr/>
          <p:nvPr/>
        </p:nvSpPr>
        <p:spPr bwMode="auto">
          <a:xfrm>
            <a:off x="1051560" y="5285232"/>
            <a:ext cx="10058400" cy="566928"/>
          </a:xfrm>
          <a:prstGeom prst="rect">
            <a:avLst/>
          </a:prstGeom>
          <a:solidFill>
            <a:srgbClr val="E8DFC9"/>
          </a:solidFill>
          <a:ln w="10160">
            <a:solidFill>
              <a:srgbClr val="A9A193"/>
            </a:solidFill>
            <a:prstDash val="solid"/>
          </a:ln>
        </p:spPr>
        <p:txBody>
          <a:bodyPr anchor="ctr"/>
          <a:p>
            <a:pPr algn="ctr">
              <a:defRPr/>
            </a:pPr>
            <a:endParaRPr>
              <a:latin typeface="Asana"/>
              <a:cs typeface="Asana"/>
            </a:endParaRPr>
          </a:p>
        </p:txBody>
      </p:sp>
      <p:sp>
        <p:nvSpPr>
          <p:cNvPr id="1867849746" name="Text 42"/>
          <p:cNvSpPr/>
          <p:nvPr/>
        </p:nvSpPr>
        <p:spPr bwMode="auto">
          <a:xfrm>
            <a:off x="1207125" y="5513831"/>
            <a:ext cx="1188720" cy="109728"/>
          </a:xfrm>
          <a:prstGeom prst="rect">
            <a:avLst/>
          </a:prstGeom>
          <a:noFill/>
          <a:ln/>
        </p:spPr>
        <p:txBody>
          <a:bodyPr wrap="square" lIns="0" tIns="0" rIns="0" bIns="0" rtlCol="0" anchor="ctr"/>
          <a:lstStyle/>
          <a:p>
            <a:pPr marL="0" indent="0">
              <a:buNone/>
              <a:defRPr/>
            </a:pPr>
            <a:r>
              <a:rPr lang="en-US" sz="700" b="1">
                <a:solidFill>
                  <a:srgbClr val="C28722"/>
                </a:solidFill>
                <a:latin typeface="Asana"/>
                <a:ea typeface="Asana"/>
                <a:cs typeface="Asana"/>
              </a:rPr>
              <a:t>SHARED INPUTS</a:t>
            </a:r>
            <a:endParaRPr sz="700" b="1">
              <a:latin typeface="Asana"/>
              <a:cs typeface="Asana"/>
            </a:endParaRPr>
          </a:p>
        </p:txBody>
      </p:sp>
      <p:sp>
        <p:nvSpPr>
          <p:cNvPr id="170504383" name="Text 43"/>
          <p:cNvSpPr/>
          <p:nvPr/>
        </p:nvSpPr>
        <p:spPr bwMode="auto">
          <a:xfrm>
            <a:off x="2537459" y="5513831"/>
            <a:ext cx="8046720" cy="201168"/>
          </a:xfrm>
          <a:prstGeom prst="rect">
            <a:avLst/>
          </a:prstGeom>
          <a:noFill/>
          <a:ln/>
        </p:spPr>
        <p:txBody>
          <a:bodyPr vertOverflow="overflow" horzOverflow="overflow" vert="horz" wrap="square" lIns="253" tIns="253" rIns="253" bIns="253" numCol="1" spcCol="0" rtlCol="0" fromWordArt="0" anchor="t" anchorCtr="0" forceAA="0" upright="0" compatLnSpc="0">
            <a:normAutofit fontScale="80000" lnSpcReduction="4000"/>
          </a:bodyPr>
          <a:lstStyle/>
          <a:p>
            <a:pPr marL="0" indent="0" algn="l">
              <a:buNone/>
              <a:defRPr/>
            </a:pPr>
            <a:r>
              <a:rPr lang="en-US" sz="1000" b="0">
                <a:solidFill>
                  <a:srgbClr val="0D1B21"/>
                </a:solidFill>
                <a:latin typeface="Asana"/>
                <a:ea typeface="Asana"/>
                <a:cs typeface="Asana"/>
              </a:rPr>
              <a:t>Region key, city, country, coordinates, timezone, climate context, telemetry, VPD, wet bulb, heat index, wind, rainfall context, resource ledger, and recent session state.</a:t>
            </a:r>
            <a:endParaRPr sz="1000" b="0">
              <a:latin typeface="Asana"/>
              <a:cs typeface="Asana"/>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500" advClick="1">
        <p:fade thruBlk="0"/>
      </p:transition>
    </mc:Choice>
    <mc:Fallback>
      <p:transition spd="fast" advClick="1">
        <p:fade thruBlk="0"/>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5">
    <p:bg>
      <p:bgPr shadeToTitle="0">
        <a:solidFill>
          <a:srgbClr val="F4EFEA"/>
        </a:solidFill>
      </p:bgPr>
    </p:bg>
    <p:spTree>
      <p:nvGrpSpPr>
        <p:cNvPr id="1" name=""/>
        <p:cNvGrpSpPr/>
        <p:nvPr/>
      </p:nvGrpSpPr>
      <p:grpSpPr bwMode="auto">
        <a:xfrm>
          <a:off x="0" y="0"/>
          <a:ext cx="0" cy="0"/>
          <a:chOff x="0" y="0"/>
          <a:chExt cx="0" cy="0"/>
        </a:xfrm>
      </p:grpSpPr>
      <p:sp>
        <p:nvSpPr>
          <p:cNvPr id="347349555" name="Shape 0"/>
          <p:cNvSpPr/>
          <p:nvPr/>
        </p:nvSpPr>
        <p:spPr bwMode="auto">
          <a:xfrm>
            <a:off x="150876" y="109727"/>
            <a:ext cx="11859768" cy="6528816"/>
          </a:xfrm>
          <a:prstGeom prst="rect">
            <a:avLst/>
          </a:prstGeom>
          <a:solidFill>
            <a:srgbClr val="F4EFEA">
              <a:alpha val="0"/>
            </a:srgbClr>
          </a:solidFill>
          <a:ln w="10160">
            <a:solidFill>
              <a:srgbClr val="27343A"/>
            </a:solidFill>
            <a:prstDash val="solid"/>
          </a:ln>
        </p:spPr>
        <p:txBody>
          <a:bodyPr anchor="ctr"/>
          <a:p>
            <a:pPr algn="ctr">
              <a:defRPr/>
            </a:pPr>
            <a:endParaRPr>
              <a:latin typeface="Asana"/>
              <a:cs typeface="Asana"/>
            </a:endParaRPr>
          </a:p>
        </p:txBody>
      </p:sp>
      <p:sp>
        <p:nvSpPr>
          <p:cNvPr id="95524181" name="Shape 1"/>
          <p:cNvSpPr/>
          <p:nvPr/>
        </p:nvSpPr>
        <p:spPr bwMode="auto">
          <a:xfrm>
            <a:off x="36576" y="164592"/>
            <a:ext cx="256032" cy="0"/>
          </a:xfrm>
          <a:prstGeom prst="line">
            <a:avLst/>
          </a:prstGeom>
          <a:noFill/>
          <a:ln w="9525">
            <a:solidFill>
              <a:srgbClr val="27343A"/>
            </a:solidFill>
            <a:prstDash val="solid"/>
          </a:ln>
        </p:spPr>
      </p:sp>
      <p:sp>
        <p:nvSpPr>
          <p:cNvPr id="2098387891" name="Shape 2"/>
          <p:cNvSpPr/>
          <p:nvPr/>
        </p:nvSpPr>
        <p:spPr bwMode="auto">
          <a:xfrm>
            <a:off x="164592" y="36576"/>
            <a:ext cx="0" cy="256032"/>
          </a:xfrm>
          <a:prstGeom prst="line">
            <a:avLst/>
          </a:prstGeom>
          <a:noFill/>
          <a:ln w="9525">
            <a:solidFill>
              <a:srgbClr val="27343A"/>
            </a:solidFill>
            <a:prstDash val="solid"/>
          </a:ln>
        </p:spPr>
      </p:sp>
      <p:sp>
        <p:nvSpPr>
          <p:cNvPr id="1740129365" name="Shape 3"/>
          <p:cNvSpPr/>
          <p:nvPr/>
        </p:nvSpPr>
        <p:spPr bwMode="auto">
          <a:xfrm>
            <a:off x="11896344" y="164592"/>
            <a:ext cx="256032" cy="0"/>
          </a:xfrm>
          <a:prstGeom prst="line">
            <a:avLst/>
          </a:prstGeom>
          <a:noFill/>
          <a:ln w="9525">
            <a:solidFill>
              <a:srgbClr val="27343A"/>
            </a:solidFill>
            <a:prstDash val="solid"/>
          </a:ln>
        </p:spPr>
      </p:sp>
      <p:sp>
        <p:nvSpPr>
          <p:cNvPr id="155508427" name="Shape 4"/>
          <p:cNvSpPr/>
          <p:nvPr/>
        </p:nvSpPr>
        <p:spPr bwMode="auto">
          <a:xfrm>
            <a:off x="12024360" y="36576"/>
            <a:ext cx="0" cy="256032"/>
          </a:xfrm>
          <a:prstGeom prst="line">
            <a:avLst/>
          </a:prstGeom>
          <a:noFill/>
          <a:ln w="9525">
            <a:solidFill>
              <a:srgbClr val="27343A"/>
            </a:solidFill>
            <a:prstDash val="solid"/>
          </a:ln>
        </p:spPr>
      </p:sp>
      <p:sp>
        <p:nvSpPr>
          <p:cNvPr id="2862759" name="Shape 5"/>
          <p:cNvSpPr/>
          <p:nvPr/>
        </p:nvSpPr>
        <p:spPr bwMode="auto">
          <a:xfrm>
            <a:off x="36576" y="6693408"/>
            <a:ext cx="256032" cy="0"/>
          </a:xfrm>
          <a:prstGeom prst="line">
            <a:avLst/>
          </a:prstGeom>
          <a:noFill/>
          <a:ln w="9525">
            <a:solidFill>
              <a:srgbClr val="27343A"/>
            </a:solidFill>
            <a:prstDash val="solid"/>
          </a:ln>
        </p:spPr>
      </p:sp>
      <p:sp>
        <p:nvSpPr>
          <p:cNvPr id="289847712" name="Shape 6"/>
          <p:cNvSpPr/>
          <p:nvPr/>
        </p:nvSpPr>
        <p:spPr bwMode="auto">
          <a:xfrm>
            <a:off x="164592" y="6565392"/>
            <a:ext cx="0" cy="256032"/>
          </a:xfrm>
          <a:prstGeom prst="line">
            <a:avLst/>
          </a:prstGeom>
          <a:noFill/>
          <a:ln w="9525">
            <a:solidFill>
              <a:srgbClr val="27343A"/>
            </a:solidFill>
            <a:prstDash val="solid"/>
          </a:ln>
        </p:spPr>
      </p:sp>
      <p:sp>
        <p:nvSpPr>
          <p:cNvPr id="1640370479" name="Shape 7"/>
          <p:cNvSpPr/>
          <p:nvPr/>
        </p:nvSpPr>
        <p:spPr bwMode="auto">
          <a:xfrm>
            <a:off x="11896344" y="6693408"/>
            <a:ext cx="256032" cy="0"/>
          </a:xfrm>
          <a:prstGeom prst="line">
            <a:avLst/>
          </a:prstGeom>
          <a:noFill/>
          <a:ln w="9525">
            <a:solidFill>
              <a:srgbClr val="27343A"/>
            </a:solidFill>
            <a:prstDash val="solid"/>
          </a:ln>
        </p:spPr>
      </p:sp>
      <p:sp>
        <p:nvSpPr>
          <p:cNvPr id="134161614" name="Shape 8"/>
          <p:cNvSpPr/>
          <p:nvPr/>
        </p:nvSpPr>
        <p:spPr bwMode="auto">
          <a:xfrm>
            <a:off x="12024360" y="6565392"/>
            <a:ext cx="0" cy="256032"/>
          </a:xfrm>
          <a:prstGeom prst="line">
            <a:avLst/>
          </a:prstGeom>
          <a:noFill/>
          <a:ln w="9525">
            <a:solidFill>
              <a:srgbClr val="27343A"/>
            </a:solidFill>
            <a:prstDash val="solid"/>
          </a:ln>
        </p:spPr>
      </p:sp>
      <p:sp>
        <p:nvSpPr>
          <p:cNvPr id="338588869" name="Text 9"/>
          <p:cNvSpPr/>
          <p:nvPr/>
        </p:nvSpPr>
        <p:spPr bwMode="auto">
          <a:xfrm>
            <a:off x="393192" y="393192"/>
            <a:ext cx="2834640" cy="109728"/>
          </a:xfrm>
          <a:prstGeom prst="rect">
            <a:avLst/>
          </a:prstGeom>
          <a:noFill/>
          <a:ln/>
        </p:spPr>
        <p:txBody>
          <a:bodyPr wrap="square" lIns="0" tIns="0" rIns="0" bIns="0" rtlCol="0" anchor="ctr"/>
          <a:lstStyle/>
          <a:p>
            <a:pPr marL="0" indent="0">
              <a:buNone/>
              <a:defRPr/>
            </a:pPr>
            <a:r>
              <a:rPr lang="en-US" sz="500">
                <a:solidFill>
                  <a:srgbClr val="6C6B65"/>
                </a:solidFill>
                <a:latin typeface="Asana"/>
                <a:ea typeface="Asana"/>
                <a:cs typeface="Asana"/>
              </a:rPr>
              <a:t>WIAAS ASIA FIELD ATLAS</a:t>
            </a:r>
            <a:endParaRPr sz="500">
              <a:latin typeface="Asana"/>
              <a:cs typeface="Asana"/>
            </a:endParaRPr>
          </a:p>
        </p:txBody>
      </p:sp>
      <p:sp>
        <p:nvSpPr>
          <p:cNvPr id="354555064" name="Text 10"/>
          <p:cNvSpPr/>
          <p:nvPr/>
        </p:nvSpPr>
        <p:spPr bwMode="auto">
          <a:xfrm>
            <a:off x="9418320" y="393192"/>
            <a:ext cx="2331720" cy="109728"/>
          </a:xfrm>
          <a:prstGeom prst="rect">
            <a:avLst/>
          </a:prstGeom>
          <a:noFill/>
          <a:ln/>
        </p:spPr>
        <p:txBody>
          <a:bodyPr wrap="square" lIns="0" tIns="0" rIns="0" bIns="0" rtlCol="0" anchor="ctr"/>
          <a:lstStyle/>
          <a:p>
            <a:pPr marL="0" indent="0" algn="r">
              <a:buNone/>
              <a:defRPr/>
            </a:pPr>
            <a:r>
              <a:rPr lang="en-US" sz="700" b="1">
                <a:solidFill>
                  <a:srgbClr val="6C6B65"/>
                </a:solidFill>
                <a:latin typeface="Asana"/>
                <a:ea typeface="Asana"/>
                <a:cs typeface="Asana"/>
              </a:rPr>
              <a:t>PLATE 05 - WIAAS AGENT BRANCHES</a:t>
            </a:r>
            <a:endParaRPr sz="700" b="1">
              <a:latin typeface="Asana"/>
              <a:cs typeface="Asana"/>
            </a:endParaRPr>
          </a:p>
        </p:txBody>
      </p:sp>
      <p:sp>
        <p:nvSpPr>
          <p:cNvPr id="1964185273" name="Text 11"/>
          <p:cNvSpPr/>
          <p:nvPr/>
        </p:nvSpPr>
        <p:spPr bwMode="auto">
          <a:xfrm>
            <a:off x="393192" y="6492240"/>
            <a:ext cx="3017519" cy="109728"/>
          </a:xfrm>
          <a:prstGeom prst="rect">
            <a:avLst/>
          </a:prstGeom>
          <a:noFill/>
          <a:ln/>
        </p:spPr>
        <p:txBody>
          <a:bodyPr wrap="square" lIns="0" tIns="0" rIns="0" bIns="0" rtlCol="0" anchor="ctr"/>
          <a:lstStyle/>
          <a:p>
            <a:pPr marL="0" indent="0">
              <a:buNone/>
              <a:defRPr/>
            </a:pPr>
            <a:r>
              <a:rPr lang="en-US" sz="450">
                <a:solidFill>
                  <a:srgbClr val="6C6B65"/>
                </a:solidFill>
                <a:latin typeface="Asana"/>
                <a:ea typeface="Asana"/>
                <a:cs typeface="Asana"/>
              </a:rPr>
              <a:t>DEVELOPED WITH QODER + N8N ORCHESTRATION</a:t>
            </a:r>
            <a:endParaRPr sz="450">
              <a:latin typeface="Asana"/>
              <a:cs typeface="Asana"/>
            </a:endParaRPr>
          </a:p>
        </p:txBody>
      </p:sp>
      <p:sp>
        <p:nvSpPr>
          <p:cNvPr id="212595014" name="Text 12"/>
          <p:cNvSpPr/>
          <p:nvPr/>
        </p:nvSpPr>
        <p:spPr bwMode="auto">
          <a:xfrm>
            <a:off x="11411712" y="6492240"/>
            <a:ext cx="329184" cy="109728"/>
          </a:xfrm>
          <a:prstGeom prst="rect">
            <a:avLst/>
          </a:prstGeom>
          <a:noFill/>
          <a:ln/>
        </p:spPr>
        <p:txBody>
          <a:bodyPr wrap="square" lIns="0" tIns="0" rIns="0" bIns="0" rtlCol="0" anchor="ctr"/>
          <a:lstStyle/>
          <a:p>
            <a:pPr marL="0" indent="0" algn="r">
              <a:buNone/>
              <a:defRPr/>
            </a:pPr>
            <a:r>
              <a:rPr lang="en-US" sz="450">
                <a:solidFill>
                  <a:srgbClr val="6C6B65"/>
                </a:solidFill>
                <a:latin typeface="Asana"/>
                <a:ea typeface="Asana"/>
                <a:cs typeface="Asana"/>
              </a:rPr>
              <a:t>05 / 12</a:t>
            </a:r>
            <a:endParaRPr sz="450">
              <a:latin typeface="Asana"/>
              <a:cs typeface="Asana"/>
            </a:endParaRPr>
          </a:p>
        </p:txBody>
      </p:sp>
      <p:sp>
        <p:nvSpPr>
          <p:cNvPr id="569285513" name="Shape 13"/>
          <p:cNvSpPr/>
          <p:nvPr/>
        </p:nvSpPr>
        <p:spPr bwMode="auto">
          <a:xfrm>
            <a:off x="530352" y="914400"/>
            <a:ext cx="365760" cy="0"/>
          </a:xfrm>
          <a:prstGeom prst="line">
            <a:avLst/>
          </a:prstGeom>
          <a:noFill/>
          <a:ln w="16510">
            <a:solidFill>
              <a:srgbClr val="B4533B"/>
            </a:solidFill>
            <a:prstDash val="solid"/>
          </a:ln>
        </p:spPr>
      </p:sp>
      <p:sp>
        <p:nvSpPr>
          <p:cNvPr id="1825643012" name="Text 14"/>
          <p:cNvSpPr/>
          <p:nvPr/>
        </p:nvSpPr>
        <p:spPr bwMode="auto">
          <a:xfrm>
            <a:off x="1060704" y="850392"/>
            <a:ext cx="1828800" cy="146304"/>
          </a:xfrm>
          <a:prstGeom prst="rect">
            <a:avLst/>
          </a:prstGeom>
          <a:noFill/>
          <a:ln/>
        </p:spPr>
        <p:txBody>
          <a:bodyPr wrap="square" lIns="0" tIns="0" rIns="0" bIns="0" rtlCol="0" anchor="ctr"/>
          <a:lstStyle/>
          <a:p>
            <a:pPr marL="0" indent="0">
              <a:buNone/>
              <a:defRPr/>
            </a:pPr>
            <a:r>
              <a:rPr lang="en-US" sz="550">
                <a:solidFill>
                  <a:srgbClr val="B4533B"/>
                </a:solidFill>
                <a:latin typeface="Asana"/>
                <a:ea typeface="Asana"/>
                <a:cs typeface="Asana"/>
              </a:rPr>
              <a:t>OPERATIONAL INTELLIGENCE</a:t>
            </a:r>
            <a:endParaRPr sz="550">
              <a:latin typeface="Asana"/>
              <a:cs typeface="Asana"/>
            </a:endParaRPr>
          </a:p>
        </p:txBody>
      </p:sp>
      <p:sp>
        <p:nvSpPr>
          <p:cNvPr id="1772156689" name="Text 15"/>
          <p:cNvSpPr/>
          <p:nvPr/>
        </p:nvSpPr>
        <p:spPr bwMode="auto">
          <a:xfrm>
            <a:off x="530352" y="1115568"/>
            <a:ext cx="9875520" cy="384048"/>
          </a:xfrm>
          <a:prstGeom prst="rect">
            <a:avLst/>
          </a:prstGeom>
          <a:noFill/>
          <a:ln/>
        </p:spPr>
        <p:txBody>
          <a:bodyPr wrap="square" lIns="0" tIns="0" rIns="0" bIns="0" rtlCol="0" anchor="ctr"/>
          <a:lstStyle/>
          <a:p>
            <a:pPr marL="0" indent="0">
              <a:buNone/>
              <a:defRPr/>
            </a:pPr>
            <a:r>
              <a:rPr lang="en-US" sz="2800" b="1">
                <a:solidFill>
                  <a:srgbClr val="0D1B21"/>
                </a:solidFill>
                <a:latin typeface="Asana"/>
                <a:ea typeface="Asana"/>
                <a:cs typeface="Asana"/>
              </a:rPr>
              <a:t>Same weather state, many operational decisions</a:t>
            </a:r>
            <a:endParaRPr sz="2800">
              <a:latin typeface="Asana"/>
              <a:cs typeface="Asana"/>
            </a:endParaRPr>
          </a:p>
        </p:txBody>
      </p:sp>
      <p:sp>
        <p:nvSpPr>
          <p:cNvPr id="1194904421" name="Text 16"/>
          <p:cNvSpPr/>
          <p:nvPr/>
        </p:nvSpPr>
        <p:spPr bwMode="auto">
          <a:xfrm>
            <a:off x="530352" y="1645920"/>
            <a:ext cx="9601200" cy="256032"/>
          </a:xfrm>
          <a:prstGeom prst="rect">
            <a:avLst/>
          </a:prstGeom>
          <a:noFill/>
          <a:ln/>
        </p:spPr>
        <p:txBody>
          <a:bodyPr wrap="square" lIns="0" tIns="0" rIns="0" bIns="0" rtlCol="0" anchor="ctr"/>
          <a:lstStyle/>
          <a:p>
            <a:pPr marL="0" indent="0">
              <a:buNone/>
              <a:defRPr/>
            </a:pPr>
            <a:r>
              <a:rPr lang="en-US" sz="1100">
                <a:solidFill>
                  <a:srgbClr val="0D1B21"/>
                </a:solidFill>
                <a:latin typeface="Asana"/>
                <a:ea typeface="Asana"/>
                <a:cs typeface="Asana"/>
              </a:rPr>
              <a:t>Each branch receives the same calculated state, but returns guidance for a different job.</a:t>
            </a:r>
            <a:endParaRPr sz="1100">
              <a:latin typeface="Asana"/>
              <a:cs typeface="Asana"/>
            </a:endParaRPr>
          </a:p>
        </p:txBody>
      </p:sp>
      <p:sp>
        <p:nvSpPr>
          <p:cNvPr id="1506272062" name="Shape 17"/>
          <p:cNvSpPr/>
          <p:nvPr/>
        </p:nvSpPr>
        <p:spPr bwMode="auto">
          <a:xfrm>
            <a:off x="4604004" y="3099816"/>
            <a:ext cx="2971800" cy="914400"/>
          </a:xfrm>
          <a:prstGeom prst="rect">
            <a:avLst/>
          </a:prstGeom>
          <a:solidFill>
            <a:srgbClr val="071013"/>
          </a:solidFill>
          <a:ln w="15240">
            <a:solidFill>
              <a:srgbClr val="108A98"/>
            </a:solidFill>
            <a:prstDash val="solid"/>
          </a:ln>
        </p:spPr>
        <p:txBody>
          <a:bodyPr anchor="ctr"/>
          <a:p>
            <a:pPr algn="ctr">
              <a:defRPr/>
            </a:pPr>
            <a:endParaRPr>
              <a:latin typeface="Asana"/>
              <a:cs typeface="Asana"/>
            </a:endParaRPr>
          </a:p>
        </p:txBody>
      </p:sp>
      <p:sp>
        <p:nvSpPr>
          <p:cNvPr id="1199400132" name="Text 18"/>
          <p:cNvSpPr/>
          <p:nvPr/>
        </p:nvSpPr>
        <p:spPr bwMode="auto">
          <a:xfrm>
            <a:off x="4834567" y="3396636"/>
            <a:ext cx="2487168" cy="137160"/>
          </a:xfrm>
          <a:prstGeom prst="rect">
            <a:avLst/>
          </a:prstGeom>
          <a:noFill/>
          <a:ln/>
        </p:spPr>
        <p:txBody>
          <a:bodyPr wrap="square" lIns="0" tIns="0" rIns="0" bIns="0" rtlCol="0" anchor="ctr"/>
          <a:lstStyle/>
          <a:p>
            <a:pPr marL="0" indent="0" algn="ctr">
              <a:buNone/>
              <a:defRPr/>
            </a:pPr>
            <a:r>
              <a:rPr lang="en-US" sz="1000" b="1">
                <a:solidFill>
                  <a:srgbClr val="F4EFEA"/>
                </a:solidFill>
                <a:latin typeface="Asana"/>
                <a:ea typeface="Asana"/>
                <a:cs typeface="Asana"/>
              </a:rPr>
              <a:t>SHARED CALCULATED STATE</a:t>
            </a:r>
            <a:endParaRPr sz="1000">
              <a:latin typeface="Asana"/>
              <a:cs typeface="Asana"/>
            </a:endParaRPr>
          </a:p>
        </p:txBody>
      </p:sp>
      <p:sp>
        <p:nvSpPr>
          <p:cNvPr id="278776348" name="Text 19"/>
          <p:cNvSpPr/>
          <p:nvPr/>
        </p:nvSpPr>
        <p:spPr bwMode="auto">
          <a:xfrm flipH="0" flipV="0">
            <a:off x="4826972" y="3621023"/>
            <a:ext cx="2507573" cy="219455"/>
          </a:xfrm>
          <a:prstGeom prst="rect">
            <a:avLst/>
          </a:prstGeom>
          <a:noFill/>
          <a:ln/>
        </p:spPr>
        <p:txBody>
          <a:bodyPr wrap="square" lIns="0" tIns="0" rIns="0" bIns="0" rtlCol="0" anchor="ctr"/>
          <a:lstStyle/>
          <a:p>
            <a:pPr marL="0" indent="0" algn="ctr">
              <a:buNone/>
              <a:defRPr/>
            </a:pPr>
            <a:r>
              <a:rPr lang="en-US" sz="900">
                <a:solidFill>
                  <a:srgbClr val="D6E2DF"/>
                </a:solidFill>
                <a:latin typeface="Asana"/>
                <a:ea typeface="Asana"/>
                <a:cs typeface="Asana"/>
              </a:rPr>
              <a:t>FastAPI completes physics before workflow reasoning</a:t>
            </a:r>
            <a:endParaRPr sz="900">
              <a:latin typeface="Asana"/>
              <a:cs typeface="Asana"/>
            </a:endParaRPr>
          </a:p>
        </p:txBody>
      </p:sp>
      <p:sp>
        <p:nvSpPr>
          <p:cNvPr id="997298276" name="Shape 20"/>
          <p:cNvSpPr/>
          <p:nvPr/>
        </p:nvSpPr>
        <p:spPr bwMode="auto">
          <a:xfrm flipH="1" flipV="1">
            <a:off x="3749040" y="2249423"/>
            <a:ext cx="854963" cy="1284731"/>
          </a:xfrm>
          <a:prstGeom prst="line">
            <a:avLst/>
          </a:prstGeom>
          <a:noFill/>
          <a:ln w="10795">
            <a:solidFill>
              <a:srgbClr val="108A98"/>
            </a:solidFill>
            <a:prstDash val="solid"/>
            <a:headEnd type="none"/>
            <a:tailEnd type="triangle"/>
          </a:ln>
        </p:spPr>
      </p:sp>
      <p:sp>
        <p:nvSpPr>
          <p:cNvPr id="1986473711" name="Shape 21"/>
          <p:cNvSpPr/>
          <p:nvPr/>
        </p:nvSpPr>
        <p:spPr bwMode="auto">
          <a:xfrm>
            <a:off x="868680" y="1920240"/>
            <a:ext cx="2880360" cy="658368"/>
          </a:xfrm>
          <a:prstGeom prst="rect">
            <a:avLst/>
          </a:prstGeom>
          <a:solidFill>
            <a:srgbClr val="EFE7D5"/>
          </a:solidFill>
          <a:ln w="10160">
            <a:solidFill>
              <a:srgbClr val="108A98"/>
            </a:solidFill>
            <a:prstDash val="solid"/>
          </a:ln>
        </p:spPr>
        <p:txBody>
          <a:bodyPr anchor="ctr"/>
          <a:p>
            <a:pPr algn="ctr">
              <a:defRPr/>
            </a:pPr>
            <a:endParaRPr>
              <a:latin typeface="Asana"/>
              <a:cs typeface="Asana"/>
            </a:endParaRPr>
          </a:p>
        </p:txBody>
      </p:sp>
      <p:sp>
        <p:nvSpPr>
          <p:cNvPr id="981310865" name="Text 22"/>
          <p:cNvSpPr/>
          <p:nvPr/>
        </p:nvSpPr>
        <p:spPr bwMode="auto">
          <a:xfrm>
            <a:off x="1033272" y="2048256"/>
            <a:ext cx="2468880" cy="109728"/>
          </a:xfrm>
          <a:prstGeom prst="rect">
            <a:avLst/>
          </a:prstGeom>
          <a:noFill/>
          <a:ln/>
        </p:spPr>
        <p:txBody>
          <a:bodyPr wrap="square" lIns="0" tIns="0" rIns="0" bIns="0" rtlCol="0" anchor="ctr"/>
          <a:lstStyle/>
          <a:p>
            <a:pPr marL="0" indent="0">
              <a:buNone/>
              <a:defRPr/>
            </a:pPr>
            <a:r>
              <a:rPr lang="en-US" sz="1000" b="1">
                <a:solidFill>
                  <a:srgbClr val="0D1B21"/>
                </a:solidFill>
                <a:latin typeface="Asana"/>
                <a:ea typeface="Asana"/>
                <a:cs typeface="Asana"/>
              </a:rPr>
              <a:t>Research brief</a:t>
            </a:r>
            <a:endParaRPr sz="1000">
              <a:latin typeface="Asana"/>
              <a:cs typeface="Asana"/>
            </a:endParaRPr>
          </a:p>
        </p:txBody>
      </p:sp>
      <p:sp>
        <p:nvSpPr>
          <p:cNvPr id="1761208405" name="Text 23"/>
          <p:cNvSpPr/>
          <p:nvPr/>
        </p:nvSpPr>
        <p:spPr bwMode="auto">
          <a:xfrm>
            <a:off x="1033272" y="2276856"/>
            <a:ext cx="2468880" cy="128016"/>
          </a:xfrm>
          <a:prstGeom prst="rect">
            <a:avLst/>
          </a:prstGeom>
          <a:noFill/>
          <a:ln/>
        </p:spPr>
        <p:txBody>
          <a:bodyPr wrap="square" lIns="0" tIns="0" rIns="0" bIns="0" rtlCol="0" anchor="ctr"/>
          <a:lstStyle/>
          <a:p>
            <a:pPr marL="0" indent="0">
              <a:buNone/>
              <a:defRPr/>
            </a:pPr>
            <a:r>
              <a:rPr lang="en-US" sz="750">
                <a:solidFill>
                  <a:srgbClr val="6C6B65"/>
                </a:solidFill>
                <a:latin typeface="Asana"/>
                <a:ea typeface="Asana"/>
                <a:cs typeface="Asana"/>
              </a:rPr>
              <a:t>baselines, evidence, limits</a:t>
            </a:r>
            <a:endParaRPr sz="750">
              <a:latin typeface="Asana"/>
              <a:cs typeface="Asana"/>
            </a:endParaRPr>
          </a:p>
        </p:txBody>
      </p:sp>
      <p:sp>
        <p:nvSpPr>
          <p:cNvPr id="832103204" name="Shape 24"/>
          <p:cNvSpPr/>
          <p:nvPr/>
        </p:nvSpPr>
        <p:spPr bwMode="auto">
          <a:xfrm flipH="1" flipV="1">
            <a:off x="3749040" y="3534156"/>
            <a:ext cx="854963" cy="0"/>
          </a:xfrm>
          <a:prstGeom prst="line">
            <a:avLst/>
          </a:prstGeom>
          <a:noFill/>
          <a:ln w="10795">
            <a:solidFill>
              <a:srgbClr val="2E865F"/>
            </a:solidFill>
            <a:prstDash val="solid"/>
            <a:headEnd type="none"/>
            <a:tailEnd type="triangle"/>
          </a:ln>
        </p:spPr>
      </p:sp>
      <p:sp>
        <p:nvSpPr>
          <p:cNvPr id="1400607470" name="Shape 25"/>
          <p:cNvSpPr/>
          <p:nvPr/>
        </p:nvSpPr>
        <p:spPr bwMode="auto">
          <a:xfrm>
            <a:off x="868680" y="3246120"/>
            <a:ext cx="2880360" cy="658368"/>
          </a:xfrm>
          <a:prstGeom prst="rect">
            <a:avLst/>
          </a:prstGeom>
          <a:solidFill>
            <a:srgbClr val="EFE7D5"/>
          </a:solidFill>
          <a:ln w="10160">
            <a:solidFill>
              <a:srgbClr val="2E865F"/>
            </a:solidFill>
            <a:prstDash val="solid"/>
          </a:ln>
        </p:spPr>
        <p:txBody>
          <a:bodyPr anchor="ctr"/>
          <a:p>
            <a:pPr algn="ctr">
              <a:defRPr/>
            </a:pPr>
            <a:endParaRPr>
              <a:latin typeface="Asana"/>
              <a:cs typeface="Asana"/>
            </a:endParaRPr>
          </a:p>
        </p:txBody>
      </p:sp>
      <p:sp>
        <p:nvSpPr>
          <p:cNvPr id="1981950576" name="Text 26"/>
          <p:cNvSpPr/>
          <p:nvPr/>
        </p:nvSpPr>
        <p:spPr bwMode="auto">
          <a:xfrm>
            <a:off x="1033272" y="3374136"/>
            <a:ext cx="2468880" cy="109728"/>
          </a:xfrm>
          <a:prstGeom prst="rect">
            <a:avLst/>
          </a:prstGeom>
          <a:noFill/>
          <a:ln/>
        </p:spPr>
        <p:txBody>
          <a:bodyPr wrap="square" lIns="0" tIns="0" rIns="0" bIns="0" rtlCol="0" anchor="ctr"/>
          <a:lstStyle/>
          <a:p>
            <a:pPr marL="0" indent="0">
              <a:buNone/>
              <a:defRPr/>
            </a:pPr>
            <a:r>
              <a:rPr lang="en-US" sz="1000" b="1">
                <a:solidFill>
                  <a:srgbClr val="0D1B21"/>
                </a:solidFill>
                <a:latin typeface="Asana"/>
                <a:ea typeface="Asana"/>
                <a:cs typeface="Asana"/>
              </a:rPr>
              <a:t>Agriculture guidance</a:t>
            </a:r>
            <a:endParaRPr sz="1000">
              <a:latin typeface="Asana"/>
              <a:cs typeface="Asana"/>
            </a:endParaRPr>
          </a:p>
        </p:txBody>
      </p:sp>
      <p:sp>
        <p:nvSpPr>
          <p:cNvPr id="2089520279" name="Text 27"/>
          <p:cNvSpPr/>
          <p:nvPr/>
        </p:nvSpPr>
        <p:spPr bwMode="auto">
          <a:xfrm>
            <a:off x="1033272" y="3602735"/>
            <a:ext cx="2468880" cy="128016"/>
          </a:xfrm>
          <a:prstGeom prst="rect">
            <a:avLst/>
          </a:prstGeom>
          <a:noFill/>
          <a:ln/>
        </p:spPr>
        <p:txBody>
          <a:bodyPr wrap="square" lIns="0" tIns="0" rIns="0" bIns="0" rtlCol="0" anchor="ctr"/>
          <a:lstStyle/>
          <a:p>
            <a:pPr marL="0" indent="0">
              <a:buNone/>
              <a:defRPr/>
            </a:pPr>
            <a:r>
              <a:rPr lang="en-US" sz="750">
                <a:solidFill>
                  <a:srgbClr val="6C6B65"/>
                </a:solidFill>
                <a:latin typeface="Asana"/>
                <a:ea typeface="Asana"/>
                <a:cs typeface="Asana"/>
              </a:rPr>
              <a:t>irrigation, crop stress, disease pressure</a:t>
            </a:r>
            <a:endParaRPr sz="750">
              <a:latin typeface="Asana"/>
              <a:cs typeface="Asana"/>
            </a:endParaRPr>
          </a:p>
        </p:txBody>
      </p:sp>
      <p:sp>
        <p:nvSpPr>
          <p:cNvPr id="511620793" name="Shape 28"/>
          <p:cNvSpPr/>
          <p:nvPr/>
        </p:nvSpPr>
        <p:spPr bwMode="auto">
          <a:xfrm flipH="1" flipV="0">
            <a:off x="3749040" y="3533796"/>
            <a:ext cx="854963" cy="1367388"/>
          </a:xfrm>
          <a:prstGeom prst="line">
            <a:avLst/>
          </a:prstGeom>
          <a:noFill/>
          <a:ln w="10795">
            <a:solidFill>
              <a:srgbClr val="C28722"/>
            </a:solidFill>
            <a:prstDash val="solid"/>
            <a:headEnd type="none"/>
            <a:tailEnd type="triangle"/>
          </a:ln>
        </p:spPr>
      </p:sp>
      <p:sp>
        <p:nvSpPr>
          <p:cNvPr id="2050819491" name="Shape 29"/>
          <p:cNvSpPr/>
          <p:nvPr/>
        </p:nvSpPr>
        <p:spPr bwMode="auto">
          <a:xfrm>
            <a:off x="868680" y="4572000"/>
            <a:ext cx="2880360" cy="658368"/>
          </a:xfrm>
          <a:prstGeom prst="rect">
            <a:avLst/>
          </a:prstGeom>
          <a:solidFill>
            <a:srgbClr val="EFE7D5"/>
          </a:solidFill>
          <a:ln w="10160">
            <a:solidFill>
              <a:srgbClr val="C28722"/>
            </a:solidFill>
            <a:prstDash val="solid"/>
          </a:ln>
        </p:spPr>
        <p:txBody>
          <a:bodyPr anchor="ctr"/>
          <a:p>
            <a:pPr algn="ctr">
              <a:defRPr/>
            </a:pPr>
            <a:endParaRPr>
              <a:latin typeface="Asana"/>
              <a:cs typeface="Asana"/>
            </a:endParaRPr>
          </a:p>
        </p:txBody>
      </p:sp>
      <p:sp>
        <p:nvSpPr>
          <p:cNvPr id="976032123" name="Text 30"/>
          <p:cNvSpPr/>
          <p:nvPr/>
        </p:nvSpPr>
        <p:spPr bwMode="auto">
          <a:xfrm>
            <a:off x="1033272" y="4700016"/>
            <a:ext cx="2468880" cy="109728"/>
          </a:xfrm>
          <a:prstGeom prst="rect">
            <a:avLst/>
          </a:prstGeom>
          <a:noFill/>
          <a:ln/>
        </p:spPr>
        <p:txBody>
          <a:bodyPr wrap="square" lIns="0" tIns="0" rIns="0" bIns="0" rtlCol="0" anchor="ctr"/>
          <a:lstStyle/>
          <a:p>
            <a:pPr marL="0" indent="0">
              <a:buNone/>
              <a:defRPr/>
            </a:pPr>
            <a:r>
              <a:rPr lang="en-US" sz="1000" b="1">
                <a:solidFill>
                  <a:srgbClr val="0D1B21"/>
                </a:solidFill>
                <a:latin typeface="Asana"/>
                <a:ea typeface="Asana"/>
                <a:cs typeface="Asana"/>
              </a:rPr>
              <a:t>Grid outlook</a:t>
            </a:r>
            <a:endParaRPr sz="1000">
              <a:latin typeface="Asana"/>
              <a:cs typeface="Asana"/>
            </a:endParaRPr>
          </a:p>
        </p:txBody>
      </p:sp>
      <p:sp>
        <p:nvSpPr>
          <p:cNvPr id="1020662494" name="Text 31"/>
          <p:cNvSpPr/>
          <p:nvPr/>
        </p:nvSpPr>
        <p:spPr bwMode="auto">
          <a:xfrm>
            <a:off x="1033272" y="4928616"/>
            <a:ext cx="2468880" cy="128016"/>
          </a:xfrm>
          <a:prstGeom prst="rect">
            <a:avLst/>
          </a:prstGeom>
          <a:noFill/>
          <a:ln/>
        </p:spPr>
        <p:txBody>
          <a:bodyPr wrap="square" lIns="0" tIns="0" rIns="0" bIns="0" rtlCol="0" anchor="ctr"/>
          <a:lstStyle/>
          <a:p>
            <a:pPr marL="0" indent="0">
              <a:buNone/>
              <a:defRPr/>
            </a:pPr>
            <a:r>
              <a:rPr lang="en-US" sz="750">
                <a:solidFill>
                  <a:srgbClr val="6C6B65"/>
                </a:solidFill>
                <a:latin typeface="Asana"/>
                <a:ea typeface="Asana"/>
                <a:cs typeface="Asana"/>
              </a:rPr>
              <a:t>capacity headroom and cooling load</a:t>
            </a:r>
            <a:endParaRPr sz="750">
              <a:latin typeface="Asana"/>
              <a:cs typeface="Asana"/>
            </a:endParaRPr>
          </a:p>
        </p:txBody>
      </p:sp>
      <p:sp>
        <p:nvSpPr>
          <p:cNvPr id="135447875" name="Shape 32"/>
          <p:cNvSpPr/>
          <p:nvPr/>
        </p:nvSpPr>
        <p:spPr bwMode="auto">
          <a:xfrm flipH="0" flipV="1">
            <a:off x="7562088" y="2249424"/>
            <a:ext cx="896112" cy="1307231"/>
          </a:xfrm>
          <a:prstGeom prst="line">
            <a:avLst/>
          </a:prstGeom>
          <a:noFill/>
          <a:ln w="10795">
            <a:solidFill>
              <a:srgbClr val="B4533B"/>
            </a:solidFill>
            <a:prstDash val="solid"/>
            <a:headEnd type="none"/>
            <a:tailEnd type="triangle"/>
          </a:ln>
        </p:spPr>
      </p:sp>
      <p:sp>
        <p:nvSpPr>
          <p:cNvPr id="91150228" name="Shape 33"/>
          <p:cNvSpPr/>
          <p:nvPr/>
        </p:nvSpPr>
        <p:spPr bwMode="auto">
          <a:xfrm>
            <a:off x="8458200" y="1920240"/>
            <a:ext cx="2880360" cy="658368"/>
          </a:xfrm>
          <a:prstGeom prst="rect">
            <a:avLst/>
          </a:prstGeom>
          <a:solidFill>
            <a:srgbClr val="EFE7D5"/>
          </a:solidFill>
          <a:ln w="10160">
            <a:solidFill>
              <a:srgbClr val="B4533B"/>
            </a:solidFill>
            <a:prstDash val="solid"/>
          </a:ln>
        </p:spPr>
        <p:txBody>
          <a:bodyPr anchor="ctr"/>
          <a:p>
            <a:pPr algn="ctr">
              <a:defRPr/>
            </a:pPr>
            <a:endParaRPr>
              <a:latin typeface="Asana"/>
              <a:cs typeface="Asana"/>
            </a:endParaRPr>
          </a:p>
        </p:txBody>
      </p:sp>
      <p:sp>
        <p:nvSpPr>
          <p:cNvPr id="1359569212" name="Text 34"/>
          <p:cNvSpPr/>
          <p:nvPr/>
        </p:nvSpPr>
        <p:spPr bwMode="auto">
          <a:xfrm>
            <a:off x="8622792" y="2048256"/>
            <a:ext cx="2468880" cy="109728"/>
          </a:xfrm>
          <a:prstGeom prst="rect">
            <a:avLst/>
          </a:prstGeom>
          <a:noFill/>
          <a:ln/>
        </p:spPr>
        <p:txBody>
          <a:bodyPr wrap="square" lIns="0" tIns="0" rIns="0" bIns="0" rtlCol="0" anchor="ctr"/>
          <a:lstStyle/>
          <a:p>
            <a:pPr marL="0" indent="0">
              <a:buNone/>
              <a:defRPr/>
            </a:pPr>
            <a:r>
              <a:rPr lang="en-US" sz="1000" b="1">
                <a:solidFill>
                  <a:srgbClr val="0D1B21"/>
                </a:solidFill>
                <a:latin typeface="Asana"/>
                <a:ea typeface="Asana"/>
                <a:cs typeface="Asana"/>
              </a:rPr>
              <a:t>Logistics continuity</a:t>
            </a:r>
            <a:endParaRPr sz="1000">
              <a:latin typeface="Asana"/>
              <a:cs typeface="Asana"/>
            </a:endParaRPr>
          </a:p>
        </p:txBody>
      </p:sp>
      <p:sp>
        <p:nvSpPr>
          <p:cNvPr id="1280758402" name="Text 35"/>
          <p:cNvSpPr/>
          <p:nvPr/>
        </p:nvSpPr>
        <p:spPr bwMode="auto">
          <a:xfrm>
            <a:off x="8622792" y="2276856"/>
            <a:ext cx="2468880" cy="128016"/>
          </a:xfrm>
          <a:prstGeom prst="rect">
            <a:avLst/>
          </a:prstGeom>
          <a:noFill/>
          <a:ln/>
        </p:spPr>
        <p:txBody>
          <a:bodyPr wrap="square" lIns="0" tIns="0" rIns="0" bIns="0" rtlCol="0" anchor="ctr"/>
          <a:lstStyle/>
          <a:p>
            <a:pPr marL="0" indent="0">
              <a:buNone/>
              <a:defRPr/>
            </a:pPr>
            <a:r>
              <a:rPr lang="en-US" sz="750">
                <a:solidFill>
                  <a:srgbClr val="6C6B65"/>
                </a:solidFill>
                <a:latin typeface="Asana"/>
                <a:ea typeface="Asana"/>
                <a:cs typeface="Asana"/>
              </a:rPr>
              <a:t>route disruption and fuel overhead</a:t>
            </a:r>
            <a:endParaRPr sz="750">
              <a:latin typeface="Asana"/>
              <a:cs typeface="Asana"/>
            </a:endParaRPr>
          </a:p>
        </p:txBody>
      </p:sp>
      <p:sp>
        <p:nvSpPr>
          <p:cNvPr id="326706397" name="Shape 36"/>
          <p:cNvSpPr/>
          <p:nvPr/>
        </p:nvSpPr>
        <p:spPr bwMode="auto">
          <a:xfrm flipH="0" flipV="0">
            <a:off x="7562088" y="3534156"/>
            <a:ext cx="896112" cy="27432"/>
          </a:xfrm>
          <a:prstGeom prst="line">
            <a:avLst/>
          </a:prstGeom>
          <a:noFill/>
          <a:ln w="10795">
            <a:solidFill>
              <a:srgbClr val="2C7F9E"/>
            </a:solidFill>
            <a:prstDash val="solid"/>
            <a:headEnd type="none"/>
            <a:tailEnd type="triangle"/>
          </a:ln>
        </p:spPr>
      </p:sp>
      <p:sp>
        <p:nvSpPr>
          <p:cNvPr id="2048543853" name="Shape 37"/>
          <p:cNvSpPr/>
          <p:nvPr/>
        </p:nvSpPr>
        <p:spPr bwMode="auto">
          <a:xfrm>
            <a:off x="8458200" y="3246120"/>
            <a:ext cx="2880360" cy="658368"/>
          </a:xfrm>
          <a:prstGeom prst="rect">
            <a:avLst/>
          </a:prstGeom>
          <a:solidFill>
            <a:srgbClr val="EFE7D5"/>
          </a:solidFill>
          <a:ln w="10160">
            <a:solidFill>
              <a:srgbClr val="2C7F9E"/>
            </a:solidFill>
            <a:prstDash val="solid"/>
          </a:ln>
        </p:spPr>
        <p:txBody>
          <a:bodyPr anchor="ctr"/>
          <a:p>
            <a:pPr algn="ctr">
              <a:defRPr/>
            </a:pPr>
            <a:endParaRPr>
              <a:latin typeface="Asana"/>
              <a:cs typeface="Asana"/>
            </a:endParaRPr>
          </a:p>
        </p:txBody>
      </p:sp>
      <p:sp>
        <p:nvSpPr>
          <p:cNvPr id="241852571" name="Text 38"/>
          <p:cNvSpPr/>
          <p:nvPr/>
        </p:nvSpPr>
        <p:spPr bwMode="auto">
          <a:xfrm>
            <a:off x="8622792" y="3374136"/>
            <a:ext cx="2468880" cy="109728"/>
          </a:xfrm>
          <a:prstGeom prst="rect">
            <a:avLst/>
          </a:prstGeom>
          <a:noFill/>
          <a:ln/>
        </p:spPr>
        <p:txBody>
          <a:bodyPr wrap="square" lIns="0" tIns="0" rIns="0" bIns="0" rtlCol="0" anchor="ctr"/>
          <a:lstStyle/>
          <a:p>
            <a:pPr marL="0" indent="0">
              <a:buNone/>
              <a:defRPr/>
            </a:pPr>
            <a:r>
              <a:rPr lang="en-US" sz="1000" b="1">
                <a:solidFill>
                  <a:srgbClr val="0D1B21"/>
                </a:solidFill>
                <a:latin typeface="Asana"/>
                <a:ea typeface="Asana"/>
                <a:cs typeface="Asana"/>
              </a:rPr>
              <a:t>Conversation response</a:t>
            </a:r>
            <a:endParaRPr sz="1000">
              <a:latin typeface="Asana"/>
              <a:cs typeface="Asana"/>
            </a:endParaRPr>
          </a:p>
        </p:txBody>
      </p:sp>
      <p:sp>
        <p:nvSpPr>
          <p:cNvPr id="857955405" name="Text 39"/>
          <p:cNvSpPr/>
          <p:nvPr/>
        </p:nvSpPr>
        <p:spPr bwMode="auto">
          <a:xfrm>
            <a:off x="8622792" y="3602735"/>
            <a:ext cx="2468880" cy="128016"/>
          </a:xfrm>
          <a:prstGeom prst="rect">
            <a:avLst/>
          </a:prstGeom>
          <a:noFill/>
          <a:ln/>
        </p:spPr>
        <p:txBody>
          <a:bodyPr wrap="square" lIns="0" tIns="0" rIns="0" bIns="0" rtlCol="0" anchor="ctr"/>
          <a:lstStyle/>
          <a:p>
            <a:pPr marL="0" indent="0">
              <a:buNone/>
              <a:defRPr/>
            </a:pPr>
            <a:r>
              <a:rPr lang="en-US" sz="750">
                <a:solidFill>
                  <a:srgbClr val="6C6B65"/>
                </a:solidFill>
                <a:latin typeface="Asana"/>
                <a:ea typeface="Asana"/>
                <a:cs typeface="Asana"/>
              </a:rPr>
              <a:t>short English or Urdu answers</a:t>
            </a:r>
            <a:endParaRPr sz="750">
              <a:latin typeface="Asana"/>
              <a:cs typeface="Asana"/>
            </a:endParaRPr>
          </a:p>
        </p:txBody>
      </p:sp>
      <p:sp>
        <p:nvSpPr>
          <p:cNvPr id="1475228396" name="Shape 40"/>
          <p:cNvSpPr/>
          <p:nvPr/>
        </p:nvSpPr>
        <p:spPr bwMode="auto">
          <a:xfrm flipH="0" flipV="0">
            <a:off x="7562088" y="3534156"/>
            <a:ext cx="896112" cy="1348739"/>
          </a:xfrm>
          <a:prstGeom prst="line">
            <a:avLst/>
          </a:prstGeom>
          <a:noFill/>
          <a:ln w="10795">
            <a:solidFill>
              <a:srgbClr val="6C6B65"/>
            </a:solidFill>
            <a:prstDash val="solid"/>
            <a:headEnd type="none"/>
            <a:tailEnd type="triangle"/>
          </a:ln>
        </p:spPr>
      </p:sp>
      <p:sp>
        <p:nvSpPr>
          <p:cNvPr id="375473954" name="Shape 41"/>
          <p:cNvSpPr/>
          <p:nvPr/>
        </p:nvSpPr>
        <p:spPr bwMode="auto">
          <a:xfrm>
            <a:off x="8458200" y="4572000"/>
            <a:ext cx="2880360" cy="658368"/>
          </a:xfrm>
          <a:prstGeom prst="rect">
            <a:avLst/>
          </a:prstGeom>
          <a:solidFill>
            <a:srgbClr val="EFE7D5"/>
          </a:solidFill>
          <a:ln w="10160">
            <a:solidFill>
              <a:srgbClr val="6C6B65"/>
            </a:solidFill>
            <a:prstDash val="solid"/>
          </a:ln>
        </p:spPr>
        <p:txBody>
          <a:bodyPr anchor="ctr"/>
          <a:p>
            <a:pPr algn="ctr">
              <a:defRPr/>
            </a:pPr>
            <a:endParaRPr>
              <a:latin typeface="Asana"/>
              <a:cs typeface="Asana"/>
            </a:endParaRPr>
          </a:p>
        </p:txBody>
      </p:sp>
      <p:sp>
        <p:nvSpPr>
          <p:cNvPr id="2082521093" name="Text 42"/>
          <p:cNvSpPr/>
          <p:nvPr/>
        </p:nvSpPr>
        <p:spPr bwMode="auto">
          <a:xfrm>
            <a:off x="8622792" y="4700016"/>
            <a:ext cx="2468880" cy="109728"/>
          </a:xfrm>
          <a:prstGeom prst="rect">
            <a:avLst/>
          </a:prstGeom>
          <a:noFill/>
          <a:ln/>
        </p:spPr>
        <p:txBody>
          <a:bodyPr wrap="square" lIns="0" tIns="0" rIns="0" bIns="0" rtlCol="0" anchor="ctr"/>
          <a:lstStyle/>
          <a:p>
            <a:pPr marL="0" indent="0">
              <a:buNone/>
              <a:defRPr/>
            </a:pPr>
            <a:r>
              <a:rPr lang="en-US" sz="1000" b="1">
                <a:solidFill>
                  <a:srgbClr val="0D1B21"/>
                </a:solidFill>
                <a:latin typeface="Asana"/>
                <a:ea typeface="Asana"/>
                <a:cs typeface="Asana"/>
              </a:rPr>
              <a:t>Safe fallback</a:t>
            </a:r>
            <a:endParaRPr sz="1000">
              <a:latin typeface="Asana"/>
              <a:cs typeface="Asana"/>
            </a:endParaRPr>
          </a:p>
        </p:txBody>
      </p:sp>
      <p:sp>
        <p:nvSpPr>
          <p:cNvPr id="30696411" name="Text 43"/>
          <p:cNvSpPr/>
          <p:nvPr/>
        </p:nvSpPr>
        <p:spPr bwMode="auto">
          <a:xfrm>
            <a:off x="8622792" y="4928616"/>
            <a:ext cx="2468880" cy="128016"/>
          </a:xfrm>
          <a:prstGeom prst="rect">
            <a:avLst/>
          </a:prstGeom>
          <a:noFill/>
          <a:ln/>
        </p:spPr>
        <p:txBody>
          <a:bodyPr wrap="square" lIns="0" tIns="0" rIns="0" bIns="0" rtlCol="0" anchor="ctr"/>
          <a:lstStyle/>
          <a:p>
            <a:pPr marL="0" indent="0">
              <a:buNone/>
              <a:defRPr/>
            </a:pPr>
            <a:r>
              <a:rPr lang="en-US" sz="750">
                <a:solidFill>
                  <a:srgbClr val="6C6B65"/>
                </a:solidFill>
                <a:latin typeface="Asana"/>
                <a:ea typeface="Asana"/>
                <a:cs typeface="Asana"/>
              </a:rPr>
              <a:t>states limits when evidence is unavailable</a:t>
            </a:r>
            <a:endParaRPr sz="750">
              <a:latin typeface="Asana"/>
              <a:cs typeface="Asana"/>
            </a:endParaRPr>
          </a:p>
        </p:txBody>
      </p:sp>
      <p:sp>
        <p:nvSpPr>
          <p:cNvPr id="1702966658" name="Shape 44"/>
          <p:cNvSpPr/>
          <p:nvPr/>
        </p:nvSpPr>
        <p:spPr bwMode="auto">
          <a:xfrm>
            <a:off x="3657600" y="5532120"/>
            <a:ext cx="4846320" cy="457200"/>
          </a:xfrm>
          <a:prstGeom prst="rect">
            <a:avLst/>
          </a:prstGeom>
          <a:solidFill>
            <a:srgbClr val="E8DFC9"/>
          </a:solidFill>
          <a:ln w="10160">
            <a:solidFill>
              <a:srgbClr val="A9A193"/>
            </a:solidFill>
            <a:prstDash val="solid"/>
          </a:ln>
        </p:spPr>
        <p:txBody>
          <a:bodyPr anchor="ctr"/>
          <a:p>
            <a:pPr algn="ctr">
              <a:defRPr/>
            </a:pPr>
            <a:endParaRPr>
              <a:latin typeface="Asana"/>
              <a:cs typeface="Asana"/>
            </a:endParaRPr>
          </a:p>
        </p:txBody>
      </p:sp>
      <p:sp>
        <p:nvSpPr>
          <p:cNvPr id="1726198811" name="Text 45"/>
          <p:cNvSpPr/>
          <p:nvPr/>
        </p:nvSpPr>
        <p:spPr bwMode="auto">
          <a:xfrm>
            <a:off x="3931920" y="5669280"/>
            <a:ext cx="914400" cy="91440"/>
          </a:xfrm>
          <a:prstGeom prst="rect">
            <a:avLst/>
          </a:prstGeom>
          <a:noFill/>
          <a:ln/>
        </p:spPr>
        <p:txBody>
          <a:bodyPr wrap="square" lIns="0" tIns="0" rIns="0" bIns="0" rtlCol="0" anchor="ctr"/>
          <a:lstStyle/>
          <a:p>
            <a:pPr marL="0" indent="0">
              <a:buNone/>
              <a:defRPr/>
            </a:pPr>
            <a:r>
              <a:rPr lang="en-US" sz="700" b="1">
                <a:solidFill>
                  <a:srgbClr val="B4533B"/>
                </a:solidFill>
                <a:latin typeface="Asana"/>
                <a:ea typeface="Asana"/>
                <a:cs typeface="Asana"/>
              </a:rPr>
              <a:t>DESIGN RULE</a:t>
            </a:r>
            <a:endParaRPr sz="700" b="1">
              <a:latin typeface="Asana"/>
              <a:cs typeface="Asana"/>
            </a:endParaRPr>
          </a:p>
        </p:txBody>
      </p:sp>
      <p:sp>
        <p:nvSpPr>
          <p:cNvPr id="838074136" name="Text 46"/>
          <p:cNvSpPr/>
          <p:nvPr/>
        </p:nvSpPr>
        <p:spPr bwMode="auto">
          <a:xfrm>
            <a:off x="4892039" y="5614416"/>
            <a:ext cx="3200400" cy="146304"/>
          </a:xfrm>
          <a:prstGeom prst="rect">
            <a:avLst/>
          </a:prstGeom>
          <a:noFill/>
          <a:ln/>
        </p:spPr>
        <p:txBody>
          <a:bodyPr wrap="square" lIns="254" tIns="254" rIns="254" bIns="254" rtlCol="0" anchor="t">
            <a:normAutofit/>
          </a:bodyPr>
          <a:lstStyle/>
          <a:p>
            <a:pPr marL="0" indent="0" algn="l">
              <a:buNone/>
              <a:defRPr/>
            </a:pPr>
            <a:r>
              <a:rPr lang="en-US" sz="850" b="1">
                <a:solidFill>
                  <a:srgbClr val="0D1B21"/>
                </a:solidFill>
                <a:latin typeface="Asana"/>
                <a:ea typeface="Asana"/>
                <a:cs typeface="Asana"/>
              </a:rPr>
              <a:t>Role-specific guidance can change. The evidence base and selected location remain consistent.</a:t>
            </a:r>
            <a:endParaRPr sz="850">
              <a:latin typeface="Asana"/>
              <a:cs typeface="Asana"/>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500" advClick="1">
        <p:fade thruBlk="0"/>
      </p:transition>
    </mc:Choice>
    <mc:Fallback>
      <p:transition spd="fast" advClick="1">
        <p:fade thruBlk="0"/>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6">
    <p:bg>
      <p:bgPr shadeToTitle="0">
        <a:solidFill>
          <a:srgbClr val="F4EFEA"/>
        </a:solidFill>
      </p:bgPr>
    </p:bg>
    <p:spTree>
      <p:nvGrpSpPr>
        <p:cNvPr id="1" name=""/>
        <p:cNvGrpSpPr/>
        <p:nvPr/>
      </p:nvGrpSpPr>
      <p:grpSpPr bwMode="auto">
        <a:xfrm>
          <a:off x="0" y="0"/>
          <a:ext cx="0" cy="0"/>
          <a:chOff x="0" y="0"/>
          <a:chExt cx="0" cy="0"/>
        </a:xfrm>
      </p:grpSpPr>
      <p:sp>
        <p:nvSpPr>
          <p:cNvPr id="1724771685" name="Shape 0"/>
          <p:cNvSpPr/>
          <p:nvPr/>
        </p:nvSpPr>
        <p:spPr bwMode="auto">
          <a:xfrm>
            <a:off x="155448" y="146303"/>
            <a:ext cx="11859768" cy="6528816"/>
          </a:xfrm>
          <a:prstGeom prst="rect">
            <a:avLst/>
          </a:prstGeom>
          <a:solidFill>
            <a:srgbClr val="F4EFEA">
              <a:alpha val="0"/>
            </a:srgbClr>
          </a:solidFill>
          <a:ln w="10160">
            <a:solidFill>
              <a:srgbClr val="27343A"/>
            </a:solidFill>
            <a:prstDash val="solid"/>
          </a:ln>
        </p:spPr>
        <p:txBody>
          <a:bodyPr anchor="ctr"/>
          <a:p>
            <a:pPr algn="ctr">
              <a:defRPr/>
            </a:pPr>
            <a:endParaRPr>
              <a:latin typeface="Asana"/>
              <a:cs typeface="Asana"/>
            </a:endParaRPr>
          </a:p>
        </p:txBody>
      </p:sp>
      <p:sp>
        <p:nvSpPr>
          <p:cNvPr id="1659521202" name="Shape 1"/>
          <p:cNvSpPr/>
          <p:nvPr/>
        </p:nvSpPr>
        <p:spPr bwMode="auto">
          <a:xfrm>
            <a:off x="27432" y="164592"/>
            <a:ext cx="256032" cy="0"/>
          </a:xfrm>
          <a:prstGeom prst="line">
            <a:avLst/>
          </a:prstGeom>
          <a:noFill/>
          <a:ln w="9525">
            <a:solidFill>
              <a:srgbClr val="27343A"/>
            </a:solidFill>
            <a:prstDash val="solid"/>
          </a:ln>
        </p:spPr>
      </p:sp>
      <p:sp>
        <p:nvSpPr>
          <p:cNvPr id="1345227963" name="Shape 2"/>
          <p:cNvSpPr/>
          <p:nvPr/>
        </p:nvSpPr>
        <p:spPr bwMode="auto">
          <a:xfrm>
            <a:off x="155448" y="36576"/>
            <a:ext cx="0" cy="256032"/>
          </a:xfrm>
          <a:prstGeom prst="line">
            <a:avLst/>
          </a:prstGeom>
          <a:noFill/>
          <a:ln w="9525">
            <a:solidFill>
              <a:srgbClr val="27343A"/>
            </a:solidFill>
            <a:prstDash val="solid"/>
          </a:ln>
        </p:spPr>
      </p:sp>
      <p:sp>
        <p:nvSpPr>
          <p:cNvPr id="547117080" name="Shape 3"/>
          <p:cNvSpPr/>
          <p:nvPr/>
        </p:nvSpPr>
        <p:spPr bwMode="auto">
          <a:xfrm>
            <a:off x="11887200" y="164592"/>
            <a:ext cx="256032" cy="0"/>
          </a:xfrm>
          <a:prstGeom prst="line">
            <a:avLst/>
          </a:prstGeom>
          <a:noFill/>
          <a:ln w="9525">
            <a:solidFill>
              <a:srgbClr val="27343A"/>
            </a:solidFill>
            <a:prstDash val="solid"/>
          </a:ln>
        </p:spPr>
      </p:sp>
      <p:sp>
        <p:nvSpPr>
          <p:cNvPr id="1169650898" name="Shape 4"/>
          <p:cNvSpPr/>
          <p:nvPr/>
        </p:nvSpPr>
        <p:spPr bwMode="auto">
          <a:xfrm>
            <a:off x="12015215" y="36576"/>
            <a:ext cx="0" cy="256032"/>
          </a:xfrm>
          <a:prstGeom prst="line">
            <a:avLst/>
          </a:prstGeom>
          <a:noFill/>
          <a:ln w="9525">
            <a:solidFill>
              <a:srgbClr val="27343A"/>
            </a:solidFill>
            <a:prstDash val="solid"/>
          </a:ln>
        </p:spPr>
      </p:sp>
      <p:sp>
        <p:nvSpPr>
          <p:cNvPr id="870056080" name="Shape 5"/>
          <p:cNvSpPr/>
          <p:nvPr/>
        </p:nvSpPr>
        <p:spPr bwMode="auto">
          <a:xfrm>
            <a:off x="27432" y="6693408"/>
            <a:ext cx="256032" cy="0"/>
          </a:xfrm>
          <a:prstGeom prst="line">
            <a:avLst/>
          </a:prstGeom>
          <a:noFill/>
          <a:ln w="9525">
            <a:solidFill>
              <a:srgbClr val="27343A"/>
            </a:solidFill>
            <a:prstDash val="solid"/>
          </a:ln>
        </p:spPr>
      </p:sp>
      <p:sp>
        <p:nvSpPr>
          <p:cNvPr id="2096383021" name="Shape 6"/>
          <p:cNvSpPr/>
          <p:nvPr/>
        </p:nvSpPr>
        <p:spPr bwMode="auto">
          <a:xfrm>
            <a:off x="155448" y="6565392"/>
            <a:ext cx="0" cy="256032"/>
          </a:xfrm>
          <a:prstGeom prst="line">
            <a:avLst/>
          </a:prstGeom>
          <a:noFill/>
          <a:ln w="9525">
            <a:solidFill>
              <a:srgbClr val="27343A"/>
            </a:solidFill>
            <a:prstDash val="solid"/>
          </a:ln>
        </p:spPr>
      </p:sp>
      <p:sp>
        <p:nvSpPr>
          <p:cNvPr id="36621249" name="Shape 7"/>
          <p:cNvSpPr/>
          <p:nvPr/>
        </p:nvSpPr>
        <p:spPr bwMode="auto">
          <a:xfrm>
            <a:off x="11887200" y="6693408"/>
            <a:ext cx="256032" cy="0"/>
          </a:xfrm>
          <a:prstGeom prst="line">
            <a:avLst/>
          </a:prstGeom>
          <a:noFill/>
          <a:ln w="9525">
            <a:solidFill>
              <a:srgbClr val="27343A"/>
            </a:solidFill>
            <a:prstDash val="solid"/>
          </a:ln>
        </p:spPr>
      </p:sp>
      <p:sp>
        <p:nvSpPr>
          <p:cNvPr id="363781032" name="Shape 8"/>
          <p:cNvSpPr/>
          <p:nvPr/>
        </p:nvSpPr>
        <p:spPr bwMode="auto">
          <a:xfrm>
            <a:off x="12015215" y="6565392"/>
            <a:ext cx="0" cy="256032"/>
          </a:xfrm>
          <a:prstGeom prst="line">
            <a:avLst/>
          </a:prstGeom>
          <a:noFill/>
          <a:ln w="9525">
            <a:solidFill>
              <a:srgbClr val="27343A"/>
            </a:solidFill>
            <a:prstDash val="solid"/>
          </a:ln>
        </p:spPr>
      </p:sp>
      <p:sp>
        <p:nvSpPr>
          <p:cNvPr id="571938795" name="Text 9"/>
          <p:cNvSpPr/>
          <p:nvPr/>
        </p:nvSpPr>
        <p:spPr bwMode="auto">
          <a:xfrm>
            <a:off x="384048" y="393192"/>
            <a:ext cx="2834640" cy="109728"/>
          </a:xfrm>
          <a:prstGeom prst="rect">
            <a:avLst/>
          </a:prstGeom>
          <a:noFill/>
          <a:ln/>
        </p:spPr>
        <p:txBody>
          <a:bodyPr wrap="square" lIns="0" tIns="0" rIns="0" bIns="0" rtlCol="0" anchor="ctr"/>
          <a:lstStyle/>
          <a:p>
            <a:pPr marL="0" indent="0">
              <a:buNone/>
              <a:defRPr/>
            </a:pPr>
            <a:r>
              <a:rPr lang="en-US" sz="500">
                <a:solidFill>
                  <a:srgbClr val="6C6B65"/>
                </a:solidFill>
                <a:latin typeface="Asana"/>
                <a:ea typeface="Asana"/>
                <a:cs typeface="Asana"/>
              </a:rPr>
              <a:t>WIAAS ASIA FIELD ATLAS</a:t>
            </a:r>
            <a:endParaRPr sz="500">
              <a:latin typeface="Asana"/>
              <a:cs typeface="Asana"/>
            </a:endParaRPr>
          </a:p>
        </p:txBody>
      </p:sp>
      <p:sp>
        <p:nvSpPr>
          <p:cNvPr id="615845026" name="Text 10"/>
          <p:cNvSpPr/>
          <p:nvPr/>
        </p:nvSpPr>
        <p:spPr bwMode="auto">
          <a:xfrm>
            <a:off x="9409176" y="393192"/>
            <a:ext cx="2331720" cy="109728"/>
          </a:xfrm>
          <a:prstGeom prst="rect">
            <a:avLst/>
          </a:prstGeom>
          <a:noFill/>
          <a:ln/>
        </p:spPr>
        <p:txBody>
          <a:bodyPr wrap="square" lIns="0" tIns="0" rIns="0" bIns="0" rtlCol="0" anchor="ctr"/>
          <a:lstStyle/>
          <a:p>
            <a:pPr marL="0" indent="0" algn="r">
              <a:buNone/>
              <a:defRPr/>
            </a:pPr>
            <a:r>
              <a:rPr lang="en-US" sz="700" b="1">
                <a:solidFill>
                  <a:srgbClr val="6C6B65"/>
                </a:solidFill>
                <a:latin typeface="Asana"/>
                <a:ea typeface="Asana"/>
                <a:cs typeface="Asana"/>
              </a:rPr>
              <a:t>PLATE 06 - CRISIS INTELLIGENCE</a:t>
            </a:r>
            <a:endParaRPr sz="700" b="1">
              <a:latin typeface="Asana"/>
              <a:cs typeface="Asana"/>
            </a:endParaRPr>
          </a:p>
        </p:txBody>
      </p:sp>
      <p:sp>
        <p:nvSpPr>
          <p:cNvPr id="577440956" name="Text 11"/>
          <p:cNvSpPr/>
          <p:nvPr/>
        </p:nvSpPr>
        <p:spPr bwMode="auto">
          <a:xfrm>
            <a:off x="384048" y="6492240"/>
            <a:ext cx="3017519" cy="109728"/>
          </a:xfrm>
          <a:prstGeom prst="rect">
            <a:avLst/>
          </a:prstGeom>
          <a:noFill/>
          <a:ln/>
        </p:spPr>
        <p:txBody>
          <a:bodyPr wrap="square" lIns="0" tIns="0" rIns="0" bIns="0" rtlCol="0" anchor="ctr"/>
          <a:lstStyle/>
          <a:p>
            <a:pPr marL="0" indent="0">
              <a:buNone/>
              <a:defRPr/>
            </a:pPr>
            <a:r>
              <a:rPr lang="en-US" sz="450">
                <a:solidFill>
                  <a:srgbClr val="6C6B65"/>
                </a:solidFill>
                <a:latin typeface="Asana"/>
                <a:ea typeface="Asana"/>
                <a:cs typeface="Asana"/>
              </a:rPr>
              <a:t>DEVELOPED WITH QODER + N8N ORCHESTRATION</a:t>
            </a:r>
            <a:endParaRPr sz="450">
              <a:latin typeface="Asana"/>
              <a:cs typeface="Asana"/>
            </a:endParaRPr>
          </a:p>
        </p:txBody>
      </p:sp>
      <p:sp>
        <p:nvSpPr>
          <p:cNvPr id="1014822816" name="Text 12"/>
          <p:cNvSpPr/>
          <p:nvPr/>
        </p:nvSpPr>
        <p:spPr bwMode="auto">
          <a:xfrm>
            <a:off x="11402568" y="6492240"/>
            <a:ext cx="329184" cy="109728"/>
          </a:xfrm>
          <a:prstGeom prst="rect">
            <a:avLst/>
          </a:prstGeom>
          <a:noFill/>
          <a:ln/>
        </p:spPr>
        <p:txBody>
          <a:bodyPr wrap="square" lIns="0" tIns="0" rIns="0" bIns="0" rtlCol="0" anchor="ctr"/>
          <a:lstStyle/>
          <a:p>
            <a:pPr marL="0" indent="0" algn="r">
              <a:buNone/>
              <a:defRPr/>
            </a:pPr>
            <a:r>
              <a:rPr lang="en-US" sz="450">
                <a:solidFill>
                  <a:srgbClr val="6C6B65"/>
                </a:solidFill>
                <a:latin typeface="Asana"/>
                <a:ea typeface="Asana"/>
                <a:cs typeface="Asana"/>
              </a:rPr>
              <a:t>06 / 12</a:t>
            </a:r>
            <a:endParaRPr sz="450">
              <a:latin typeface="Asana"/>
              <a:cs typeface="Asana"/>
            </a:endParaRPr>
          </a:p>
        </p:txBody>
      </p:sp>
      <p:sp>
        <p:nvSpPr>
          <p:cNvPr id="464193592" name="Shape 13"/>
          <p:cNvSpPr/>
          <p:nvPr/>
        </p:nvSpPr>
        <p:spPr bwMode="auto">
          <a:xfrm>
            <a:off x="521208" y="914400"/>
            <a:ext cx="365760" cy="0"/>
          </a:xfrm>
          <a:prstGeom prst="line">
            <a:avLst/>
          </a:prstGeom>
          <a:noFill/>
          <a:ln w="16510">
            <a:solidFill>
              <a:srgbClr val="B4533B"/>
            </a:solidFill>
            <a:prstDash val="solid"/>
          </a:ln>
        </p:spPr>
      </p:sp>
      <p:sp>
        <p:nvSpPr>
          <p:cNvPr id="1054073248" name="Text 14"/>
          <p:cNvSpPr/>
          <p:nvPr/>
        </p:nvSpPr>
        <p:spPr bwMode="auto">
          <a:xfrm>
            <a:off x="1051560" y="850392"/>
            <a:ext cx="1828800" cy="146304"/>
          </a:xfrm>
          <a:prstGeom prst="rect">
            <a:avLst/>
          </a:prstGeom>
          <a:noFill/>
          <a:ln/>
        </p:spPr>
        <p:txBody>
          <a:bodyPr wrap="square" lIns="0" tIns="0" rIns="0" bIns="0" rtlCol="0" anchor="ctr"/>
          <a:lstStyle/>
          <a:p>
            <a:pPr marL="0" indent="0">
              <a:buNone/>
              <a:defRPr/>
            </a:pPr>
            <a:r>
              <a:rPr lang="en-US" sz="550">
                <a:solidFill>
                  <a:srgbClr val="B4533B"/>
                </a:solidFill>
                <a:latin typeface="Asana"/>
                <a:ea typeface="Asana"/>
                <a:cs typeface="Asana"/>
              </a:rPr>
              <a:t>CRISISLENS AGENT</a:t>
            </a:r>
            <a:endParaRPr sz="550">
              <a:latin typeface="Asana"/>
              <a:cs typeface="Asana"/>
            </a:endParaRPr>
          </a:p>
        </p:txBody>
      </p:sp>
      <p:sp>
        <p:nvSpPr>
          <p:cNvPr id="2073105279" name="Text 15"/>
          <p:cNvSpPr/>
          <p:nvPr/>
        </p:nvSpPr>
        <p:spPr bwMode="auto">
          <a:xfrm>
            <a:off x="521208" y="1115568"/>
            <a:ext cx="9875520" cy="384048"/>
          </a:xfrm>
          <a:prstGeom prst="rect">
            <a:avLst/>
          </a:prstGeom>
          <a:noFill/>
          <a:ln/>
        </p:spPr>
        <p:txBody>
          <a:bodyPr wrap="square" lIns="0" tIns="0" rIns="0" bIns="0" rtlCol="0" anchor="ctr"/>
          <a:lstStyle/>
          <a:p>
            <a:pPr marL="0" indent="0">
              <a:buNone/>
              <a:defRPr/>
            </a:pPr>
            <a:r>
              <a:rPr lang="en-US" sz="2800" b="1">
                <a:solidFill>
                  <a:srgbClr val="0D1B21"/>
                </a:solidFill>
                <a:latin typeface="Asana"/>
                <a:ea typeface="Asana"/>
                <a:cs typeface="Asana"/>
              </a:rPr>
              <a:t>Evidence to a safe threat response</a:t>
            </a:r>
            <a:endParaRPr sz="2800">
              <a:latin typeface="Asana"/>
              <a:cs typeface="Asana"/>
            </a:endParaRPr>
          </a:p>
        </p:txBody>
      </p:sp>
      <p:sp>
        <p:nvSpPr>
          <p:cNvPr id="1383422205" name="Text 16"/>
          <p:cNvSpPr/>
          <p:nvPr/>
        </p:nvSpPr>
        <p:spPr bwMode="auto">
          <a:xfrm>
            <a:off x="521208" y="1645920"/>
            <a:ext cx="9601200" cy="256032"/>
          </a:xfrm>
          <a:prstGeom prst="rect">
            <a:avLst/>
          </a:prstGeom>
          <a:noFill/>
          <a:ln/>
        </p:spPr>
        <p:txBody>
          <a:bodyPr wrap="square" lIns="0" tIns="0" rIns="0" bIns="0" rtlCol="0" anchor="ctr"/>
          <a:lstStyle/>
          <a:p>
            <a:pPr marL="0" indent="0">
              <a:buNone/>
              <a:defRPr/>
            </a:pPr>
            <a:r>
              <a:rPr lang="en-US" sz="1100">
                <a:solidFill>
                  <a:srgbClr val="0D1B21"/>
                </a:solidFill>
                <a:latin typeface="Asana"/>
                <a:ea typeface="Asana"/>
                <a:cs typeface="Asana"/>
              </a:rPr>
              <a:t>CrisisLens gathers local signals, records uncertainty, and returns guidance for the </a:t>
            </a:r>
            <a:r>
              <a:rPr lang="en-US" sz="1100">
                <a:solidFill>
                  <a:srgbClr val="0D1B21"/>
                </a:solidFill>
                <a:latin typeface="Asana"/>
                <a:ea typeface="Asana"/>
                <a:cs typeface="Asana"/>
              </a:rPr>
              <a:t>stakeholder </a:t>
            </a:r>
            <a:r>
              <a:rPr lang="en-US" sz="1100">
                <a:solidFill>
                  <a:srgbClr val="0D1B21"/>
                </a:solidFill>
                <a:latin typeface="Asana"/>
                <a:ea typeface="Asana"/>
                <a:cs typeface="Asana"/>
              </a:rPr>
              <a:t>who needs it.</a:t>
            </a:r>
            <a:endParaRPr sz="1100">
              <a:latin typeface="Asana"/>
              <a:cs typeface="Asana"/>
            </a:endParaRPr>
          </a:p>
        </p:txBody>
      </p:sp>
      <p:sp>
        <p:nvSpPr>
          <p:cNvPr id="1252204929" name="Shape 17"/>
          <p:cNvSpPr/>
          <p:nvPr/>
        </p:nvSpPr>
        <p:spPr bwMode="auto">
          <a:xfrm>
            <a:off x="649224" y="2148840"/>
            <a:ext cx="3154680" cy="530352"/>
          </a:xfrm>
          <a:prstGeom prst="rect">
            <a:avLst/>
          </a:prstGeom>
          <a:solidFill>
            <a:srgbClr val="EFE7D5"/>
          </a:solidFill>
          <a:ln w="10160">
            <a:solidFill>
              <a:srgbClr val="108A98"/>
            </a:solidFill>
            <a:prstDash val="solid"/>
          </a:ln>
        </p:spPr>
        <p:txBody>
          <a:bodyPr anchor="ctr"/>
          <a:p>
            <a:pPr algn="ctr">
              <a:defRPr/>
            </a:pPr>
            <a:endParaRPr>
              <a:latin typeface="Asana"/>
              <a:cs typeface="Asana"/>
            </a:endParaRPr>
          </a:p>
        </p:txBody>
      </p:sp>
      <p:sp>
        <p:nvSpPr>
          <p:cNvPr id="1477488246" name="Text 18"/>
          <p:cNvSpPr/>
          <p:nvPr/>
        </p:nvSpPr>
        <p:spPr bwMode="auto">
          <a:xfrm>
            <a:off x="813816" y="2249424"/>
            <a:ext cx="1280160" cy="109728"/>
          </a:xfrm>
          <a:prstGeom prst="rect">
            <a:avLst/>
          </a:prstGeom>
          <a:noFill/>
          <a:ln/>
        </p:spPr>
        <p:txBody>
          <a:bodyPr wrap="square" lIns="0" tIns="0" rIns="0" bIns="0" rtlCol="0" anchor="ctr"/>
          <a:lstStyle/>
          <a:p>
            <a:pPr marL="0" indent="0">
              <a:buNone/>
              <a:defRPr/>
            </a:pPr>
            <a:r>
              <a:rPr lang="en-US" sz="900" b="1">
                <a:solidFill>
                  <a:srgbClr val="0D1B21"/>
                </a:solidFill>
                <a:latin typeface="Asana"/>
                <a:ea typeface="Asana"/>
                <a:cs typeface="Asana"/>
              </a:rPr>
              <a:t>Open-Meteo</a:t>
            </a:r>
            <a:endParaRPr sz="900">
              <a:latin typeface="Asana"/>
              <a:cs typeface="Asana"/>
            </a:endParaRPr>
          </a:p>
        </p:txBody>
      </p:sp>
      <p:sp>
        <p:nvSpPr>
          <p:cNvPr id="1118614769" name="Text 19"/>
          <p:cNvSpPr/>
          <p:nvPr/>
        </p:nvSpPr>
        <p:spPr bwMode="auto">
          <a:xfrm>
            <a:off x="813816" y="2450592"/>
            <a:ext cx="2468880" cy="109728"/>
          </a:xfrm>
          <a:prstGeom prst="rect">
            <a:avLst/>
          </a:prstGeom>
          <a:noFill/>
          <a:ln/>
        </p:spPr>
        <p:txBody>
          <a:bodyPr wrap="square" lIns="0" tIns="0" rIns="0" bIns="0" rtlCol="0" anchor="ctr"/>
          <a:lstStyle/>
          <a:p>
            <a:pPr marL="0" indent="0">
              <a:buNone/>
              <a:defRPr/>
            </a:pPr>
            <a:r>
              <a:rPr lang="en-US" sz="700">
                <a:solidFill>
                  <a:srgbClr val="6C6B65"/>
                </a:solidFill>
                <a:latin typeface="Asana"/>
                <a:ea typeface="Asana"/>
                <a:cs typeface="Asana"/>
              </a:rPr>
              <a:t>weather, apparent heat, wind, rain</a:t>
            </a:r>
            <a:endParaRPr sz="700">
              <a:latin typeface="Asana"/>
              <a:cs typeface="Asana"/>
            </a:endParaRPr>
          </a:p>
        </p:txBody>
      </p:sp>
      <p:sp>
        <p:nvSpPr>
          <p:cNvPr id="759787851" name="Shape 20"/>
          <p:cNvSpPr/>
          <p:nvPr/>
        </p:nvSpPr>
        <p:spPr bwMode="auto">
          <a:xfrm flipH="1" flipV="1">
            <a:off x="3803904" y="2414015"/>
            <a:ext cx="1349458" cy="982799"/>
          </a:xfrm>
          <a:prstGeom prst="line">
            <a:avLst/>
          </a:prstGeom>
          <a:noFill/>
          <a:ln w="9525">
            <a:solidFill>
              <a:srgbClr val="108A98"/>
            </a:solidFill>
            <a:prstDash val="solid"/>
            <a:headEnd type="none"/>
            <a:tailEnd type="triangle"/>
          </a:ln>
        </p:spPr>
      </p:sp>
      <p:sp>
        <p:nvSpPr>
          <p:cNvPr id="1609177943" name="Shape 21"/>
          <p:cNvSpPr/>
          <p:nvPr/>
        </p:nvSpPr>
        <p:spPr bwMode="auto">
          <a:xfrm>
            <a:off x="649224" y="2926080"/>
            <a:ext cx="3154680" cy="530352"/>
          </a:xfrm>
          <a:prstGeom prst="rect">
            <a:avLst/>
          </a:prstGeom>
          <a:solidFill>
            <a:srgbClr val="EFE7D5"/>
          </a:solidFill>
          <a:ln w="10160">
            <a:solidFill>
              <a:srgbClr val="C53E2F"/>
            </a:solidFill>
            <a:prstDash val="solid"/>
          </a:ln>
        </p:spPr>
        <p:txBody>
          <a:bodyPr anchor="ctr"/>
          <a:p>
            <a:pPr algn="ctr">
              <a:defRPr/>
            </a:pPr>
            <a:endParaRPr>
              <a:latin typeface="Asana"/>
              <a:cs typeface="Asana"/>
            </a:endParaRPr>
          </a:p>
        </p:txBody>
      </p:sp>
      <p:sp>
        <p:nvSpPr>
          <p:cNvPr id="1899271901" name="Text 22"/>
          <p:cNvSpPr/>
          <p:nvPr/>
        </p:nvSpPr>
        <p:spPr bwMode="auto">
          <a:xfrm>
            <a:off x="813816" y="3026664"/>
            <a:ext cx="1280160" cy="109728"/>
          </a:xfrm>
          <a:prstGeom prst="rect">
            <a:avLst/>
          </a:prstGeom>
          <a:noFill/>
          <a:ln/>
        </p:spPr>
        <p:txBody>
          <a:bodyPr wrap="square" lIns="0" tIns="0" rIns="0" bIns="0" rtlCol="0" anchor="ctr"/>
          <a:lstStyle/>
          <a:p>
            <a:pPr marL="0" indent="0">
              <a:buNone/>
              <a:defRPr/>
            </a:pPr>
            <a:r>
              <a:rPr lang="en-US" sz="900" b="1">
                <a:solidFill>
                  <a:srgbClr val="0D1B21"/>
                </a:solidFill>
                <a:latin typeface="Asana"/>
                <a:ea typeface="Asana"/>
                <a:cs typeface="Asana"/>
              </a:rPr>
              <a:t>GDACS</a:t>
            </a:r>
            <a:endParaRPr sz="900">
              <a:latin typeface="Asana"/>
              <a:cs typeface="Asana"/>
            </a:endParaRPr>
          </a:p>
        </p:txBody>
      </p:sp>
      <p:sp>
        <p:nvSpPr>
          <p:cNvPr id="506655886" name="Text 23"/>
          <p:cNvSpPr/>
          <p:nvPr/>
        </p:nvSpPr>
        <p:spPr bwMode="auto">
          <a:xfrm>
            <a:off x="813816" y="3227832"/>
            <a:ext cx="2468880" cy="109728"/>
          </a:xfrm>
          <a:prstGeom prst="rect">
            <a:avLst/>
          </a:prstGeom>
          <a:noFill/>
          <a:ln/>
        </p:spPr>
        <p:txBody>
          <a:bodyPr wrap="square" lIns="0" tIns="0" rIns="0" bIns="0" rtlCol="0" anchor="ctr"/>
          <a:lstStyle/>
          <a:p>
            <a:pPr marL="0" indent="0">
              <a:buNone/>
              <a:defRPr/>
            </a:pPr>
            <a:r>
              <a:rPr lang="en-US" sz="700">
                <a:solidFill>
                  <a:srgbClr val="6C6B65"/>
                </a:solidFill>
                <a:latin typeface="Asana"/>
                <a:ea typeface="Asana"/>
                <a:cs typeface="Asana"/>
              </a:rPr>
              <a:t>official disaster-alert context</a:t>
            </a:r>
            <a:endParaRPr sz="700">
              <a:latin typeface="Asana"/>
              <a:cs typeface="Asana"/>
            </a:endParaRPr>
          </a:p>
        </p:txBody>
      </p:sp>
      <p:sp>
        <p:nvSpPr>
          <p:cNvPr id="442776499" name="Shape 24"/>
          <p:cNvSpPr/>
          <p:nvPr/>
        </p:nvSpPr>
        <p:spPr bwMode="auto">
          <a:xfrm flipH="1" flipV="1">
            <a:off x="3803904" y="3191255"/>
            <a:ext cx="1349458" cy="205560"/>
          </a:xfrm>
          <a:prstGeom prst="line">
            <a:avLst/>
          </a:prstGeom>
          <a:noFill/>
          <a:ln w="9525">
            <a:solidFill>
              <a:srgbClr val="C53E2F"/>
            </a:solidFill>
            <a:prstDash val="solid"/>
            <a:headEnd type="none"/>
            <a:tailEnd type="triangle"/>
          </a:ln>
        </p:spPr>
      </p:sp>
      <p:sp>
        <p:nvSpPr>
          <p:cNvPr id="1725256347" name="Shape 25"/>
          <p:cNvSpPr/>
          <p:nvPr/>
        </p:nvSpPr>
        <p:spPr bwMode="auto">
          <a:xfrm>
            <a:off x="649224" y="3703320"/>
            <a:ext cx="3154680" cy="530352"/>
          </a:xfrm>
          <a:prstGeom prst="rect">
            <a:avLst/>
          </a:prstGeom>
          <a:solidFill>
            <a:srgbClr val="EFE7D5"/>
          </a:solidFill>
          <a:ln w="10160">
            <a:solidFill>
              <a:srgbClr val="C28722"/>
            </a:solidFill>
            <a:prstDash val="solid"/>
          </a:ln>
        </p:spPr>
        <p:txBody>
          <a:bodyPr anchor="ctr"/>
          <a:p>
            <a:pPr algn="ctr">
              <a:defRPr/>
            </a:pPr>
            <a:endParaRPr>
              <a:latin typeface="Asana"/>
              <a:cs typeface="Asana"/>
            </a:endParaRPr>
          </a:p>
        </p:txBody>
      </p:sp>
      <p:sp>
        <p:nvSpPr>
          <p:cNvPr id="927897408" name="Text 26"/>
          <p:cNvSpPr/>
          <p:nvPr/>
        </p:nvSpPr>
        <p:spPr bwMode="auto">
          <a:xfrm>
            <a:off x="813816" y="3803904"/>
            <a:ext cx="1280160" cy="109728"/>
          </a:xfrm>
          <a:prstGeom prst="rect">
            <a:avLst/>
          </a:prstGeom>
          <a:noFill/>
          <a:ln/>
        </p:spPr>
        <p:txBody>
          <a:bodyPr wrap="square" lIns="0" tIns="0" rIns="0" bIns="0" rtlCol="0" anchor="ctr"/>
          <a:lstStyle/>
          <a:p>
            <a:pPr marL="0" indent="0">
              <a:buNone/>
              <a:defRPr/>
            </a:pPr>
            <a:r>
              <a:rPr lang="en-US" sz="900" b="1">
                <a:solidFill>
                  <a:srgbClr val="0D1B21"/>
                </a:solidFill>
                <a:latin typeface="Asana"/>
                <a:ea typeface="Asana"/>
                <a:cs typeface="Asana"/>
              </a:rPr>
              <a:t>GDELT</a:t>
            </a:r>
            <a:endParaRPr sz="900">
              <a:latin typeface="Asana"/>
              <a:cs typeface="Asana"/>
            </a:endParaRPr>
          </a:p>
        </p:txBody>
      </p:sp>
      <p:sp>
        <p:nvSpPr>
          <p:cNvPr id="77375802" name="Text 27"/>
          <p:cNvSpPr/>
          <p:nvPr/>
        </p:nvSpPr>
        <p:spPr bwMode="auto">
          <a:xfrm>
            <a:off x="813816" y="4005072"/>
            <a:ext cx="2468880" cy="109728"/>
          </a:xfrm>
          <a:prstGeom prst="rect">
            <a:avLst/>
          </a:prstGeom>
          <a:noFill/>
          <a:ln/>
        </p:spPr>
        <p:txBody>
          <a:bodyPr wrap="square" lIns="0" tIns="0" rIns="0" bIns="0" rtlCol="0" anchor="ctr"/>
          <a:lstStyle/>
          <a:p>
            <a:pPr marL="0" indent="0">
              <a:buNone/>
              <a:defRPr/>
            </a:pPr>
            <a:r>
              <a:rPr lang="en-US" sz="700">
                <a:solidFill>
                  <a:srgbClr val="6C6B65"/>
                </a:solidFill>
                <a:latin typeface="Asana"/>
                <a:ea typeface="Asana"/>
                <a:cs typeface="Asana"/>
              </a:rPr>
              <a:t>regional news and situational context</a:t>
            </a:r>
            <a:endParaRPr sz="700">
              <a:latin typeface="Asana"/>
              <a:cs typeface="Asana"/>
            </a:endParaRPr>
          </a:p>
        </p:txBody>
      </p:sp>
      <p:sp>
        <p:nvSpPr>
          <p:cNvPr id="2039708986" name="Shape 28"/>
          <p:cNvSpPr/>
          <p:nvPr/>
        </p:nvSpPr>
        <p:spPr bwMode="auto">
          <a:xfrm flipH="1" flipV="0">
            <a:off x="3803904" y="3410711"/>
            <a:ext cx="1349458" cy="557784"/>
          </a:xfrm>
          <a:prstGeom prst="line">
            <a:avLst/>
          </a:prstGeom>
          <a:noFill/>
          <a:ln w="9525">
            <a:solidFill>
              <a:srgbClr val="C28722"/>
            </a:solidFill>
            <a:prstDash val="solid"/>
            <a:headEnd type="none"/>
            <a:tailEnd type="triangle"/>
          </a:ln>
        </p:spPr>
      </p:sp>
      <p:sp>
        <p:nvSpPr>
          <p:cNvPr id="839516992" name="Shape 29"/>
          <p:cNvSpPr/>
          <p:nvPr/>
        </p:nvSpPr>
        <p:spPr bwMode="auto">
          <a:xfrm>
            <a:off x="649224" y="4480560"/>
            <a:ext cx="3154680" cy="530352"/>
          </a:xfrm>
          <a:prstGeom prst="rect">
            <a:avLst/>
          </a:prstGeom>
          <a:solidFill>
            <a:srgbClr val="EFE7D5"/>
          </a:solidFill>
          <a:ln w="10160">
            <a:solidFill>
              <a:srgbClr val="B4533B"/>
            </a:solidFill>
            <a:prstDash val="solid"/>
          </a:ln>
        </p:spPr>
        <p:txBody>
          <a:bodyPr anchor="ctr"/>
          <a:p>
            <a:pPr algn="ctr">
              <a:defRPr/>
            </a:pPr>
            <a:endParaRPr>
              <a:latin typeface="Asana"/>
              <a:cs typeface="Asana"/>
            </a:endParaRPr>
          </a:p>
        </p:txBody>
      </p:sp>
      <p:sp>
        <p:nvSpPr>
          <p:cNvPr id="253177678" name="Text 30"/>
          <p:cNvSpPr/>
          <p:nvPr/>
        </p:nvSpPr>
        <p:spPr bwMode="auto">
          <a:xfrm>
            <a:off x="813816" y="4581144"/>
            <a:ext cx="1280160" cy="109728"/>
          </a:xfrm>
          <a:prstGeom prst="rect">
            <a:avLst/>
          </a:prstGeom>
          <a:noFill/>
          <a:ln/>
        </p:spPr>
        <p:txBody>
          <a:bodyPr wrap="square" lIns="0" tIns="0" rIns="0" bIns="0" rtlCol="0" anchor="ctr"/>
          <a:lstStyle/>
          <a:p>
            <a:pPr marL="0" indent="0">
              <a:buNone/>
              <a:defRPr/>
            </a:pPr>
            <a:r>
              <a:rPr lang="en-US" sz="900" b="1">
                <a:solidFill>
                  <a:srgbClr val="0D1B21"/>
                </a:solidFill>
                <a:latin typeface="Asana"/>
                <a:ea typeface="Asana"/>
                <a:cs typeface="Asana"/>
              </a:rPr>
              <a:t>NASA FIRMS</a:t>
            </a:r>
            <a:endParaRPr sz="900">
              <a:latin typeface="Asana"/>
              <a:cs typeface="Asana"/>
            </a:endParaRPr>
          </a:p>
        </p:txBody>
      </p:sp>
      <p:sp>
        <p:nvSpPr>
          <p:cNvPr id="2100824483" name="Text 31"/>
          <p:cNvSpPr/>
          <p:nvPr/>
        </p:nvSpPr>
        <p:spPr bwMode="auto">
          <a:xfrm>
            <a:off x="813816" y="4782312"/>
            <a:ext cx="2468880" cy="109728"/>
          </a:xfrm>
          <a:prstGeom prst="rect">
            <a:avLst/>
          </a:prstGeom>
          <a:noFill/>
          <a:ln/>
        </p:spPr>
        <p:txBody>
          <a:bodyPr wrap="square" lIns="0" tIns="0" rIns="0" bIns="0" rtlCol="0" anchor="ctr"/>
          <a:lstStyle/>
          <a:p>
            <a:pPr marL="0" indent="0">
              <a:buNone/>
              <a:defRPr/>
            </a:pPr>
            <a:r>
              <a:rPr lang="en-US" sz="700">
                <a:solidFill>
                  <a:srgbClr val="6C6B65"/>
                </a:solidFill>
                <a:latin typeface="Asana"/>
                <a:ea typeface="Asana"/>
                <a:cs typeface="Asana"/>
              </a:rPr>
              <a:t>optional active-fire feed; key required</a:t>
            </a:r>
            <a:endParaRPr sz="700">
              <a:latin typeface="Asana"/>
              <a:cs typeface="Asana"/>
            </a:endParaRPr>
          </a:p>
        </p:txBody>
      </p:sp>
      <p:sp>
        <p:nvSpPr>
          <p:cNvPr id="137873862" name="Shape 32"/>
          <p:cNvSpPr/>
          <p:nvPr/>
        </p:nvSpPr>
        <p:spPr bwMode="auto">
          <a:xfrm flipH="1" flipV="0">
            <a:off x="3803904" y="3428999"/>
            <a:ext cx="1349458" cy="1316736"/>
          </a:xfrm>
          <a:prstGeom prst="line">
            <a:avLst/>
          </a:prstGeom>
          <a:noFill/>
          <a:ln w="9525">
            <a:solidFill>
              <a:srgbClr val="B4533B"/>
            </a:solidFill>
            <a:prstDash val="solid"/>
            <a:headEnd type="none"/>
            <a:tailEnd type="triangle"/>
          </a:ln>
        </p:spPr>
      </p:sp>
      <p:sp>
        <p:nvSpPr>
          <p:cNvPr id="1712423415" name="Shape 33"/>
          <p:cNvSpPr/>
          <p:nvPr/>
        </p:nvSpPr>
        <p:spPr bwMode="auto">
          <a:xfrm>
            <a:off x="5153362" y="2999232"/>
            <a:ext cx="1691640" cy="822960"/>
          </a:xfrm>
          <a:prstGeom prst="roundRect">
            <a:avLst>
              <a:gd name="adj" fmla="val 8889"/>
            </a:avLst>
          </a:prstGeom>
          <a:solidFill>
            <a:srgbClr val="071013"/>
          </a:solidFill>
          <a:ln w="15240">
            <a:solidFill>
              <a:srgbClr val="B4533B"/>
            </a:solidFill>
            <a:prstDash val="solid"/>
          </a:ln>
        </p:spPr>
        <p:txBody>
          <a:bodyPr anchor="ctr"/>
          <a:p>
            <a:pPr algn="ctr">
              <a:defRPr/>
            </a:pPr>
            <a:endParaRPr>
              <a:latin typeface="Asana"/>
              <a:cs typeface="Asana"/>
            </a:endParaRPr>
          </a:p>
        </p:txBody>
      </p:sp>
      <p:sp>
        <p:nvSpPr>
          <p:cNvPr id="762271761" name="Text 34"/>
          <p:cNvSpPr/>
          <p:nvPr/>
        </p:nvSpPr>
        <p:spPr bwMode="auto">
          <a:xfrm flipH="0" flipV="0">
            <a:off x="5312664" y="3136392"/>
            <a:ext cx="1335864" cy="310895"/>
          </a:xfrm>
          <a:prstGeom prst="rect">
            <a:avLst/>
          </a:prstGeom>
          <a:noFill/>
          <a:ln/>
        </p:spPr>
        <p:txBody>
          <a:bodyPr wrap="square" lIns="0" tIns="0" rIns="0" bIns="0" rtlCol="0" anchor="ctr"/>
          <a:lstStyle/>
          <a:p>
            <a:pPr marL="0" indent="0" algn="ctr">
              <a:buNone/>
              <a:defRPr/>
            </a:pPr>
            <a:r>
              <a:rPr lang="en-US" sz="1400" b="1">
                <a:solidFill>
                  <a:srgbClr val="F4EFEA"/>
                </a:solidFill>
                <a:latin typeface="Asana"/>
                <a:ea typeface="Asana"/>
                <a:cs typeface="Asana"/>
              </a:rPr>
              <a:t>THREAT</a:t>
            </a:r>
            <a:endParaRPr sz="1400">
              <a:latin typeface="Asana"/>
              <a:cs typeface="Asana"/>
            </a:endParaRPr>
          </a:p>
          <a:p>
            <a:pPr marL="0" indent="0" algn="ctr">
              <a:buNone/>
              <a:defRPr/>
            </a:pPr>
            <a:r>
              <a:rPr lang="en-US" sz="1400" b="1">
                <a:solidFill>
                  <a:srgbClr val="F4EFEA"/>
                </a:solidFill>
                <a:latin typeface="Asana"/>
                <a:ea typeface="Asana"/>
                <a:cs typeface="Asana"/>
              </a:rPr>
              <a:t>ASSESSMENT</a:t>
            </a:r>
            <a:endParaRPr sz="1400">
              <a:latin typeface="Asana"/>
              <a:cs typeface="Asana"/>
            </a:endParaRPr>
          </a:p>
        </p:txBody>
      </p:sp>
      <p:sp>
        <p:nvSpPr>
          <p:cNvPr id="1605843611" name="Text 35"/>
          <p:cNvSpPr/>
          <p:nvPr/>
        </p:nvSpPr>
        <p:spPr bwMode="auto">
          <a:xfrm>
            <a:off x="5417542" y="3541152"/>
            <a:ext cx="1133856" cy="118872"/>
          </a:xfrm>
          <a:prstGeom prst="rect">
            <a:avLst/>
          </a:prstGeom>
          <a:noFill/>
          <a:ln/>
        </p:spPr>
        <p:txBody>
          <a:bodyPr wrap="square" lIns="0" tIns="0" rIns="0" bIns="0" rtlCol="0" anchor="ctr"/>
          <a:lstStyle/>
          <a:p>
            <a:pPr marL="0" indent="0" algn="ctr">
              <a:buNone/>
              <a:defRPr/>
            </a:pPr>
            <a:r>
              <a:rPr lang="en-US" sz="700" b="1">
                <a:solidFill>
                  <a:srgbClr val="D6E2DF"/>
                </a:solidFill>
                <a:latin typeface="Asana"/>
                <a:ea typeface="Asana"/>
                <a:cs typeface="Asana"/>
              </a:rPr>
              <a:t>severity + confidence</a:t>
            </a:r>
            <a:endParaRPr sz="700" b="1">
              <a:latin typeface="Asana"/>
              <a:cs typeface="Asana"/>
            </a:endParaRPr>
          </a:p>
        </p:txBody>
      </p:sp>
      <p:sp>
        <p:nvSpPr>
          <p:cNvPr id="1118087875" name="Shape 36"/>
          <p:cNvSpPr/>
          <p:nvPr/>
        </p:nvSpPr>
        <p:spPr bwMode="auto">
          <a:xfrm flipH="0" flipV="1">
            <a:off x="6845002" y="3191255"/>
            <a:ext cx="1421173" cy="205560"/>
          </a:xfrm>
          <a:prstGeom prst="line">
            <a:avLst/>
          </a:prstGeom>
          <a:noFill/>
          <a:ln w="9525">
            <a:solidFill>
              <a:srgbClr val="2C7F9E"/>
            </a:solidFill>
            <a:prstDash val="solid"/>
            <a:headEnd type="none"/>
            <a:tailEnd type="triangle"/>
          </a:ln>
        </p:spPr>
      </p:sp>
      <p:sp>
        <p:nvSpPr>
          <p:cNvPr id="961209292" name="Shape 37"/>
          <p:cNvSpPr/>
          <p:nvPr/>
        </p:nvSpPr>
        <p:spPr bwMode="auto">
          <a:xfrm>
            <a:off x="8266176" y="2148840"/>
            <a:ext cx="3246120" cy="530352"/>
          </a:xfrm>
          <a:prstGeom prst="rect">
            <a:avLst/>
          </a:prstGeom>
          <a:solidFill>
            <a:srgbClr val="EFE7D5"/>
          </a:solidFill>
          <a:ln w="10160">
            <a:solidFill>
              <a:srgbClr val="2C7F9E"/>
            </a:solidFill>
            <a:prstDash val="solid"/>
          </a:ln>
        </p:spPr>
        <p:txBody>
          <a:bodyPr anchor="ctr"/>
          <a:p>
            <a:pPr algn="ctr">
              <a:defRPr/>
            </a:pPr>
            <a:endParaRPr>
              <a:latin typeface="Asana"/>
              <a:cs typeface="Asana"/>
            </a:endParaRPr>
          </a:p>
        </p:txBody>
      </p:sp>
      <p:sp>
        <p:nvSpPr>
          <p:cNvPr id="363861303" name="Text 38"/>
          <p:cNvSpPr/>
          <p:nvPr/>
        </p:nvSpPr>
        <p:spPr bwMode="auto">
          <a:xfrm>
            <a:off x="8421624" y="2249424"/>
            <a:ext cx="1645920" cy="109728"/>
          </a:xfrm>
          <a:prstGeom prst="rect">
            <a:avLst/>
          </a:prstGeom>
          <a:noFill/>
          <a:ln/>
        </p:spPr>
        <p:txBody>
          <a:bodyPr wrap="square" lIns="0" tIns="0" rIns="0" bIns="0" rtlCol="0" anchor="ctr"/>
          <a:lstStyle/>
          <a:p>
            <a:pPr marL="0" indent="0">
              <a:buNone/>
              <a:defRPr/>
            </a:pPr>
            <a:r>
              <a:rPr lang="en-US" sz="900" b="1">
                <a:solidFill>
                  <a:srgbClr val="0D1B21"/>
                </a:solidFill>
                <a:latin typeface="Asana"/>
                <a:ea typeface="Asana"/>
                <a:cs typeface="Asana"/>
              </a:rPr>
              <a:t>Citizens &amp; workers</a:t>
            </a:r>
            <a:endParaRPr sz="900">
              <a:latin typeface="Asana"/>
              <a:cs typeface="Asana"/>
            </a:endParaRPr>
          </a:p>
        </p:txBody>
      </p:sp>
      <p:sp>
        <p:nvSpPr>
          <p:cNvPr id="1335691096" name="Text 39"/>
          <p:cNvSpPr/>
          <p:nvPr/>
        </p:nvSpPr>
        <p:spPr bwMode="auto">
          <a:xfrm>
            <a:off x="8421624" y="2450592"/>
            <a:ext cx="2514600" cy="109728"/>
          </a:xfrm>
          <a:prstGeom prst="rect">
            <a:avLst/>
          </a:prstGeom>
          <a:noFill/>
          <a:ln/>
        </p:spPr>
        <p:txBody>
          <a:bodyPr wrap="square" lIns="0" tIns="0" rIns="0" bIns="0" rtlCol="0" anchor="ctr"/>
          <a:lstStyle/>
          <a:p>
            <a:pPr marL="0" indent="0">
              <a:buNone/>
              <a:defRPr/>
            </a:pPr>
            <a:r>
              <a:rPr lang="en-US" sz="700">
                <a:solidFill>
                  <a:srgbClr val="6C6B65"/>
                </a:solidFill>
                <a:latin typeface="Asana"/>
                <a:ea typeface="Asana"/>
                <a:cs typeface="Asana"/>
              </a:rPr>
              <a:t>exposure timing and protection steps</a:t>
            </a:r>
            <a:endParaRPr sz="700">
              <a:latin typeface="Asana"/>
              <a:cs typeface="Asana"/>
            </a:endParaRPr>
          </a:p>
        </p:txBody>
      </p:sp>
      <p:sp>
        <p:nvSpPr>
          <p:cNvPr id="1762672616" name="Shape 40"/>
          <p:cNvSpPr/>
          <p:nvPr/>
        </p:nvSpPr>
        <p:spPr bwMode="auto">
          <a:xfrm flipH="0" flipV="1">
            <a:off x="6845002" y="2414016"/>
            <a:ext cx="1421173" cy="950976"/>
          </a:xfrm>
          <a:prstGeom prst="line">
            <a:avLst/>
          </a:prstGeom>
          <a:noFill/>
          <a:ln w="9525">
            <a:solidFill>
              <a:srgbClr val="2E865F"/>
            </a:solidFill>
            <a:prstDash val="solid"/>
            <a:headEnd type="none"/>
            <a:tailEnd type="triangle"/>
          </a:ln>
        </p:spPr>
      </p:sp>
      <p:sp>
        <p:nvSpPr>
          <p:cNvPr id="1057101171" name="Shape 41"/>
          <p:cNvSpPr/>
          <p:nvPr/>
        </p:nvSpPr>
        <p:spPr bwMode="auto">
          <a:xfrm>
            <a:off x="8266176" y="2926080"/>
            <a:ext cx="3246120" cy="530352"/>
          </a:xfrm>
          <a:prstGeom prst="rect">
            <a:avLst/>
          </a:prstGeom>
          <a:solidFill>
            <a:srgbClr val="EFE7D5"/>
          </a:solidFill>
          <a:ln w="10160">
            <a:solidFill>
              <a:srgbClr val="2E865F"/>
            </a:solidFill>
            <a:prstDash val="solid"/>
          </a:ln>
        </p:spPr>
        <p:txBody>
          <a:bodyPr anchor="ctr"/>
          <a:p>
            <a:pPr algn="ctr">
              <a:defRPr/>
            </a:pPr>
            <a:endParaRPr>
              <a:latin typeface="Asana"/>
              <a:cs typeface="Asana"/>
            </a:endParaRPr>
          </a:p>
        </p:txBody>
      </p:sp>
      <p:sp>
        <p:nvSpPr>
          <p:cNvPr id="1911233162" name="Text 42"/>
          <p:cNvSpPr/>
          <p:nvPr/>
        </p:nvSpPr>
        <p:spPr bwMode="auto">
          <a:xfrm>
            <a:off x="8421624" y="3026664"/>
            <a:ext cx="1645920" cy="109728"/>
          </a:xfrm>
          <a:prstGeom prst="rect">
            <a:avLst/>
          </a:prstGeom>
          <a:noFill/>
          <a:ln/>
        </p:spPr>
        <p:txBody>
          <a:bodyPr wrap="square" lIns="0" tIns="0" rIns="0" bIns="0" rtlCol="0" anchor="ctr"/>
          <a:lstStyle/>
          <a:p>
            <a:pPr marL="0" indent="0">
              <a:buNone/>
              <a:defRPr/>
            </a:pPr>
            <a:r>
              <a:rPr lang="en-US" sz="900" b="1">
                <a:solidFill>
                  <a:srgbClr val="0D1B21"/>
                </a:solidFill>
                <a:latin typeface="Asana"/>
                <a:ea typeface="Asana"/>
                <a:cs typeface="Asana"/>
              </a:rPr>
              <a:t>Farmers</a:t>
            </a:r>
            <a:endParaRPr sz="900">
              <a:latin typeface="Asana"/>
              <a:cs typeface="Asana"/>
            </a:endParaRPr>
          </a:p>
        </p:txBody>
      </p:sp>
      <p:sp>
        <p:nvSpPr>
          <p:cNvPr id="1580648680" name="Text 43"/>
          <p:cNvSpPr/>
          <p:nvPr/>
        </p:nvSpPr>
        <p:spPr bwMode="auto">
          <a:xfrm>
            <a:off x="8421624" y="3227832"/>
            <a:ext cx="2514600" cy="109728"/>
          </a:xfrm>
          <a:prstGeom prst="rect">
            <a:avLst/>
          </a:prstGeom>
          <a:noFill/>
          <a:ln/>
        </p:spPr>
        <p:txBody>
          <a:bodyPr wrap="square" lIns="0" tIns="0" rIns="0" bIns="0" rtlCol="0" anchor="ctr"/>
          <a:lstStyle/>
          <a:p>
            <a:pPr marL="0" indent="0">
              <a:buNone/>
              <a:defRPr/>
            </a:pPr>
            <a:r>
              <a:rPr lang="en-US" sz="700">
                <a:solidFill>
                  <a:srgbClr val="6C6B65"/>
                </a:solidFill>
                <a:latin typeface="Asana"/>
                <a:ea typeface="Asana"/>
                <a:cs typeface="Asana"/>
              </a:rPr>
              <a:t>crop, livestock and irrigation response</a:t>
            </a:r>
            <a:endParaRPr sz="700">
              <a:latin typeface="Asana"/>
              <a:cs typeface="Asana"/>
            </a:endParaRPr>
          </a:p>
        </p:txBody>
      </p:sp>
      <p:sp>
        <p:nvSpPr>
          <p:cNvPr id="1629637119" name="Shape 44"/>
          <p:cNvSpPr/>
          <p:nvPr/>
        </p:nvSpPr>
        <p:spPr bwMode="auto">
          <a:xfrm flipH="0" flipV="0">
            <a:off x="6845002" y="3396816"/>
            <a:ext cx="1421173" cy="617400"/>
          </a:xfrm>
          <a:prstGeom prst="line">
            <a:avLst/>
          </a:prstGeom>
          <a:noFill/>
          <a:ln w="9525">
            <a:solidFill>
              <a:srgbClr val="C53E2F"/>
            </a:solidFill>
            <a:prstDash val="solid"/>
            <a:headEnd type="none"/>
            <a:tailEnd type="triangle"/>
          </a:ln>
        </p:spPr>
      </p:sp>
      <p:sp>
        <p:nvSpPr>
          <p:cNvPr id="2132223401" name="Shape 45"/>
          <p:cNvSpPr/>
          <p:nvPr/>
        </p:nvSpPr>
        <p:spPr bwMode="auto">
          <a:xfrm>
            <a:off x="8266176" y="3703320"/>
            <a:ext cx="3246120" cy="530352"/>
          </a:xfrm>
          <a:prstGeom prst="rect">
            <a:avLst/>
          </a:prstGeom>
          <a:solidFill>
            <a:srgbClr val="EFE7D5"/>
          </a:solidFill>
          <a:ln w="10160">
            <a:solidFill>
              <a:srgbClr val="C53E2F"/>
            </a:solidFill>
            <a:prstDash val="solid"/>
          </a:ln>
        </p:spPr>
        <p:txBody>
          <a:bodyPr anchor="ctr"/>
          <a:p>
            <a:pPr algn="ctr">
              <a:defRPr/>
            </a:pPr>
            <a:endParaRPr>
              <a:latin typeface="Asana"/>
              <a:cs typeface="Asana"/>
            </a:endParaRPr>
          </a:p>
        </p:txBody>
      </p:sp>
      <p:sp>
        <p:nvSpPr>
          <p:cNvPr id="1089262467" name="Text 46"/>
          <p:cNvSpPr/>
          <p:nvPr/>
        </p:nvSpPr>
        <p:spPr bwMode="auto">
          <a:xfrm>
            <a:off x="8421624" y="3803904"/>
            <a:ext cx="1645920" cy="109728"/>
          </a:xfrm>
          <a:prstGeom prst="rect">
            <a:avLst/>
          </a:prstGeom>
          <a:noFill/>
          <a:ln/>
        </p:spPr>
        <p:txBody>
          <a:bodyPr wrap="square" lIns="0" tIns="0" rIns="0" bIns="0" rtlCol="0" anchor="ctr"/>
          <a:lstStyle/>
          <a:p>
            <a:pPr marL="0" indent="0">
              <a:buNone/>
              <a:defRPr/>
            </a:pPr>
            <a:r>
              <a:rPr lang="en-US" sz="900" b="1">
                <a:solidFill>
                  <a:srgbClr val="0D1B21"/>
                </a:solidFill>
                <a:latin typeface="Asana"/>
                <a:ea typeface="Asana"/>
                <a:cs typeface="Asana"/>
              </a:rPr>
              <a:t>Emergency teams</a:t>
            </a:r>
            <a:endParaRPr sz="900">
              <a:latin typeface="Asana"/>
              <a:cs typeface="Asana"/>
            </a:endParaRPr>
          </a:p>
        </p:txBody>
      </p:sp>
      <p:sp>
        <p:nvSpPr>
          <p:cNvPr id="454851724" name="Text 47"/>
          <p:cNvSpPr/>
          <p:nvPr/>
        </p:nvSpPr>
        <p:spPr bwMode="auto">
          <a:xfrm>
            <a:off x="8421624" y="4005072"/>
            <a:ext cx="2514600" cy="109728"/>
          </a:xfrm>
          <a:prstGeom prst="rect">
            <a:avLst/>
          </a:prstGeom>
          <a:noFill/>
          <a:ln/>
        </p:spPr>
        <p:txBody>
          <a:bodyPr wrap="square" lIns="0" tIns="0" rIns="0" bIns="0" rtlCol="0" anchor="ctr"/>
          <a:lstStyle/>
          <a:p>
            <a:pPr marL="0" indent="0">
              <a:buNone/>
              <a:defRPr/>
            </a:pPr>
            <a:r>
              <a:rPr lang="en-US" sz="700">
                <a:solidFill>
                  <a:srgbClr val="6C6B65"/>
                </a:solidFill>
                <a:latin typeface="Asana"/>
                <a:ea typeface="Asana"/>
                <a:cs typeface="Asana"/>
              </a:rPr>
              <a:t>public warning and response priorities</a:t>
            </a:r>
            <a:endParaRPr sz="700">
              <a:latin typeface="Asana"/>
              <a:cs typeface="Asana"/>
            </a:endParaRPr>
          </a:p>
        </p:txBody>
      </p:sp>
      <p:sp>
        <p:nvSpPr>
          <p:cNvPr id="175012772" name="Shape 48"/>
          <p:cNvSpPr/>
          <p:nvPr/>
        </p:nvSpPr>
        <p:spPr bwMode="auto">
          <a:xfrm flipH="0" flipV="0">
            <a:off x="6845002" y="3410712"/>
            <a:ext cx="1421173" cy="1371600"/>
          </a:xfrm>
          <a:prstGeom prst="line">
            <a:avLst/>
          </a:prstGeom>
          <a:noFill/>
          <a:ln w="9525">
            <a:solidFill>
              <a:srgbClr val="C28722"/>
            </a:solidFill>
            <a:prstDash val="solid"/>
            <a:headEnd type="none"/>
            <a:tailEnd type="triangle"/>
          </a:ln>
        </p:spPr>
      </p:sp>
      <p:sp>
        <p:nvSpPr>
          <p:cNvPr id="486792587" name="Shape 49"/>
          <p:cNvSpPr/>
          <p:nvPr/>
        </p:nvSpPr>
        <p:spPr bwMode="auto">
          <a:xfrm>
            <a:off x="8266176" y="4480560"/>
            <a:ext cx="3246120" cy="530352"/>
          </a:xfrm>
          <a:prstGeom prst="rect">
            <a:avLst/>
          </a:prstGeom>
          <a:solidFill>
            <a:srgbClr val="EFE7D5"/>
          </a:solidFill>
          <a:ln w="10160">
            <a:solidFill>
              <a:srgbClr val="C28722"/>
            </a:solidFill>
            <a:prstDash val="solid"/>
          </a:ln>
        </p:spPr>
        <p:txBody>
          <a:bodyPr anchor="ctr"/>
          <a:p>
            <a:pPr algn="ctr">
              <a:defRPr/>
            </a:pPr>
            <a:endParaRPr>
              <a:latin typeface="Asana"/>
              <a:cs typeface="Asana"/>
            </a:endParaRPr>
          </a:p>
        </p:txBody>
      </p:sp>
      <p:sp>
        <p:nvSpPr>
          <p:cNvPr id="1335451366" name="Text 50"/>
          <p:cNvSpPr/>
          <p:nvPr/>
        </p:nvSpPr>
        <p:spPr bwMode="auto">
          <a:xfrm>
            <a:off x="8421624" y="4581144"/>
            <a:ext cx="1645920" cy="109728"/>
          </a:xfrm>
          <a:prstGeom prst="rect">
            <a:avLst/>
          </a:prstGeom>
          <a:noFill/>
          <a:ln/>
        </p:spPr>
        <p:txBody>
          <a:bodyPr wrap="square" lIns="0" tIns="0" rIns="0" bIns="0" rtlCol="0" anchor="ctr"/>
          <a:lstStyle/>
          <a:p>
            <a:pPr marL="0" indent="0">
              <a:buNone/>
              <a:defRPr/>
            </a:pPr>
            <a:r>
              <a:rPr lang="en-US" sz="900" b="1">
                <a:solidFill>
                  <a:srgbClr val="0D1B21"/>
                </a:solidFill>
                <a:latin typeface="Asana"/>
                <a:ea typeface="Asana"/>
                <a:cs typeface="Asana"/>
              </a:rPr>
              <a:t>Grid &amp; logistics</a:t>
            </a:r>
            <a:endParaRPr sz="900">
              <a:latin typeface="Asana"/>
              <a:cs typeface="Asana"/>
            </a:endParaRPr>
          </a:p>
        </p:txBody>
      </p:sp>
      <p:sp>
        <p:nvSpPr>
          <p:cNvPr id="436434216" name="Text 51"/>
          <p:cNvSpPr/>
          <p:nvPr/>
        </p:nvSpPr>
        <p:spPr bwMode="auto">
          <a:xfrm>
            <a:off x="8421624" y="4782312"/>
            <a:ext cx="2514600" cy="109728"/>
          </a:xfrm>
          <a:prstGeom prst="rect">
            <a:avLst/>
          </a:prstGeom>
          <a:noFill/>
          <a:ln/>
        </p:spPr>
        <p:txBody>
          <a:bodyPr wrap="square" lIns="0" tIns="0" rIns="0" bIns="0" rtlCol="0" anchor="ctr"/>
          <a:lstStyle/>
          <a:p>
            <a:pPr marL="0" indent="0">
              <a:buNone/>
              <a:defRPr/>
            </a:pPr>
            <a:r>
              <a:rPr lang="en-US" sz="700">
                <a:solidFill>
                  <a:srgbClr val="6C6B65"/>
                </a:solidFill>
                <a:latin typeface="Asana"/>
                <a:ea typeface="Asana"/>
                <a:cs typeface="Asana"/>
              </a:rPr>
              <a:t>capacity, route and continuity guidance</a:t>
            </a:r>
            <a:endParaRPr sz="700">
              <a:latin typeface="Asana"/>
              <a:cs typeface="Asana"/>
            </a:endParaRPr>
          </a:p>
        </p:txBody>
      </p:sp>
      <p:sp>
        <p:nvSpPr>
          <p:cNvPr id="856964766" name="Shape 52"/>
          <p:cNvSpPr/>
          <p:nvPr/>
        </p:nvSpPr>
        <p:spPr bwMode="auto">
          <a:xfrm>
            <a:off x="3968496" y="5486400"/>
            <a:ext cx="4343400" cy="566928"/>
          </a:xfrm>
          <a:prstGeom prst="rect">
            <a:avLst/>
          </a:prstGeom>
          <a:solidFill>
            <a:srgbClr val="E8DFC9"/>
          </a:solidFill>
          <a:ln w="10160">
            <a:solidFill>
              <a:srgbClr val="A9A193"/>
            </a:solidFill>
            <a:prstDash val="solid"/>
          </a:ln>
        </p:spPr>
        <p:txBody>
          <a:bodyPr anchor="ctr"/>
          <a:p>
            <a:pPr algn="ctr">
              <a:defRPr/>
            </a:pPr>
            <a:endParaRPr>
              <a:latin typeface="Asana"/>
              <a:cs typeface="Asana"/>
            </a:endParaRPr>
          </a:p>
        </p:txBody>
      </p:sp>
      <p:sp>
        <p:nvSpPr>
          <p:cNvPr id="107998087" name="Text 53"/>
          <p:cNvSpPr/>
          <p:nvPr/>
        </p:nvSpPr>
        <p:spPr bwMode="auto">
          <a:xfrm>
            <a:off x="4197096" y="5632704"/>
            <a:ext cx="822960" cy="109728"/>
          </a:xfrm>
          <a:prstGeom prst="rect">
            <a:avLst/>
          </a:prstGeom>
          <a:noFill/>
          <a:ln/>
        </p:spPr>
        <p:txBody>
          <a:bodyPr wrap="square" lIns="0" tIns="0" rIns="0" bIns="0" rtlCol="0" anchor="ctr"/>
          <a:lstStyle/>
          <a:p>
            <a:pPr marL="0" indent="0">
              <a:buNone/>
              <a:defRPr/>
            </a:pPr>
            <a:r>
              <a:rPr lang="en-US" sz="550">
                <a:solidFill>
                  <a:srgbClr val="B4533B"/>
                </a:solidFill>
                <a:latin typeface="Asana"/>
                <a:ea typeface="Asana"/>
                <a:cs typeface="Asana"/>
              </a:rPr>
              <a:t>SAFETY RULE</a:t>
            </a:r>
            <a:endParaRPr sz="550">
              <a:latin typeface="Asana"/>
              <a:cs typeface="Asana"/>
            </a:endParaRPr>
          </a:p>
        </p:txBody>
      </p:sp>
      <p:sp>
        <p:nvSpPr>
          <p:cNvPr id="1053510055" name="Text 54"/>
          <p:cNvSpPr/>
          <p:nvPr/>
        </p:nvSpPr>
        <p:spPr bwMode="auto">
          <a:xfrm>
            <a:off x="5065776" y="5577840"/>
            <a:ext cx="2697480" cy="164592"/>
          </a:xfrm>
          <a:prstGeom prst="rect">
            <a:avLst/>
          </a:prstGeom>
          <a:noFill/>
          <a:ln/>
        </p:spPr>
        <p:txBody>
          <a:bodyPr wrap="square" lIns="254" tIns="254" rIns="254" bIns="254" rtlCol="0" anchor="t">
            <a:normAutofit/>
          </a:bodyPr>
          <a:lstStyle/>
          <a:p>
            <a:pPr marL="0" indent="0" algn="l">
              <a:buNone/>
              <a:defRPr/>
            </a:pPr>
            <a:r>
              <a:rPr lang="en-US" sz="900" b="1">
                <a:solidFill>
                  <a:srgbClr val="0D1B21"/>
                </a:solidFill>
                <a:latin typeface="Asana"/>
                <a:ea typeface="Asana"/>
                <a:cs typeface="Asana"/>
              </a:rPr>
              <a:t>Observations and inference stay separate. Confidence and missing sources remain visible.</a:t>
            </a:r>
            <a:endParaRPr sz="900">
              <a:latin typeface="Asana"/>
              <a:cs typeface="Asana"/>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500" advClick="1">
        <p:fade thruBlk="0"/>
      </p:transition>
    </mc:Choice>
    <mc:Fallback>
      <p:transition spd="fast" advClick="1">
        <p:fade thruBlk="0"/>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7">
    <p:bg>
      <p:bgPr shadeToTitle="0">
        <a:solidFill>
          <a:srgbClr val="F4EFEA"/>
        </a:solidFill>
      </p:bgPr>
    </p:bg>
    <p:spTree>
      <p:nvGrpSpPr>
        <p:cNvPr id="1" name=""/>
        <p:cNvGrpSpPr/>
        <p:nvPr/>
      </p:nvGrpSpPr>
      <p:grpSpPr bwMode="auto">
        <a:xfrm>
          <a:off x="0" y="0"/>
          <a:ext cx="0" cy="0"/>
          <a:chOff x="0" y="0"/>
          <a:chExt cx="0" cy="0"/>
        </a:xfrm>
      </p:grpSpPr>
      <p:sp>
        <p:nvSpPr>
          <p:cNvPr id="1747513605" name="Shape 0"/>
          <p:cNvSpPr/>
          <p:nvPr/>
        </p:nvSpPr>
        <p:spPr bwMode="auto">
          <a:xfrm>
            <a:off x="164592" y="164592"/>
            <a:ext cx="11859768" cy="6528816"/>
          </a:xfrm>
          <a:prstGeom prst="rect">
            <a:avLst/>
          </a:prstGeom>
          <a:solidFill>
            <a:srgbClr val="F4EFEA">
              <a:alpha val="0"/>
            </a:srgbClr>
          </a:solidFill>
          <a:ln w="10160">
            <a:solidFill>
              <a:srgbClr val="27343A"/>
            </a:solidFill>
            <a:prstDash val="solid"/>
          </a:ln>
        </p:spPr>
        <p:txBody>
          <a:bodyPr anchor="ctr"/>
          <a:p>
            <a:pPr algn="ctr">
              <a:defRPr/>
            </a:pPr>
            <a:endParaRPr>
              <a:latin typeface="Asana"/>
              <a:cs typeface="Asana"/>
            </a:endParaRPr>
          </a:p>
        </p:txBody>
      </p:sp>
      <p:sp>
        <p:nvSpPr>
          <p:cNvPr id="1210067797" name="Shape 1"/>
          <p:cNvSpPr/>
          <p:nvPr/>
        </p:nvSpPr>
        <p:spPr bwMode="auto">
          <a:xfrm>
            <a:off x="36576" y="164592"/>
            <a:ext cx="256032" cy="0"/>
          </a:xfrm>
          <a:prstGeom prst="line">
            <a:avLst/>
          </a:prstGeom>
          <a:noFill/>
          <a:ln w="9525">
            <a:solidFill>
              <a:srgbClr val="27343A"/>
            </a:solidFill>
            <a:prstDash val="solid"/>
          </a:ln>
        </p:spPr>
      </p:sp>
      <p:sp>
        <p:nvSpPr>
          <p:cNvPr id="1729868409" name="Shape 2"/>
          <p:cNvSpPr/>
          <p:nvPr/>
        </p:nvSpPr>
        <p:spPr bwMode="auto">
          <a:xfrm>
            <a:off x="164592" y="36576"/>
            <a:ext cx="0" cy="256032"/>
          </a:xfrm>
          <a:prstGeom prst="line">
            <a:avLst/>
          </a:prstGeom>
          <a:noFill/>
          <a:ln w="9525">
            <a:solidFill>
              <a:srgbClr val="27343A"/>
            </a:solidFill>
            <a:prstDash val="solid"/>
          </a:ln>
        </p:spPr>
      </p:sp>
      <p:sp>
        <p:nvSpPr>
          <p:cNvPr id="380263071" name="Shape 3"/>
          <p:cNvSpPr/>
          <p:nvPr/>
        </p:nvSpPr>
        <p:spPr bwMode="auto">
          <a:xfrm>
            <a:off x="11896344" y="164592"/>
            <a:ext cx="256032" cy="0"/>
          </a:xfrm>
          <a:prstGeom prst="line">
            <a:avLst/>
          </a:prstGeom>
          <a:noFill/>
          <a:ln w="9525">
            <a:solidFill>
              <a:srgbClr val="27343A"/>
            </a:solidFill>
            <a:prstDash val="solid"/>
          </a:ln>
        </p:spPr>
      </p:sp>
      <p:sp>
        <p:nvSpPr>
          <p:cNvPr id="932453038" name="Shape 4"/>
          <p:cNvSpPr/>
          <p:nvPr/>
        </p:nvSpPr>
        <p:spPr bwMode="auto">
          <a:xfrm>
            <a:off x="12024360" y="36576"/>
            <a:ext cx="0" cy="256032"/>
          </a:xfrm>
          <a:prstGeom prst="line">
            <a:avLst/>
          </a:prstGeom>
          <a:noFill/>
          <a:ln w="9525">
            <a:solidFill>
              <a:srgbClr val="27343A"/>
            </a:solidFill>
            <a:prstDash val="solid"/>
          </a:ln>
        </p:spPr>
      </p:sp>
      <p:sp>
        <p:nvSpPr>
          <p:cNvPr id="1337043916" name="Shape 5"/>
          <p:cNvSpPr/>
          <p:nvPr/>
        </p:nvSpPr>
        <p:spPr bwMode="auto">
          <a:xfrm>
            <a:off x="36576" y="6693408"/>
            <a:ext cx="256032" cy="0"/>
          </a:xfrm>
          <a:prstGeom prst="line">
            <a:avLst/>
          </a:prstGeom>
          <a:noFill/>
          <a:ln w="9525">
            <a:solidFill>
              <a:srgbClr val="27343A"/>
            </a:solidFill>
            <a:prstDash val="solid"/>
          </a:ln>
        </p:spPr>
      </p:sp>
      <p:sp>
        <p:nvSpPr>
          <p:cNvPr id="283470027" name="Shape 6"/>
          <p:cNvSpPr/>
          <p:nvPr/>
        </p:nvSpPr>
        <p:spPr bwMode="auto">
          <a:xfrm>
            <a:off x="164592" y="6565392"/>
            <a:ext cx="0" cy="256032"/>
          </a:xfrm>
          <a:prstGeom prst="line">
            <a:avLst/>
          </a:prstGeom>
          <a:noFill/>
          <a:ln w="9525">
            <a:solidFill>
              <a:srgbClr val="27343A"/>
            </a:solidFill>
            <a:prstDash val="solid"/>
          </a:ln>
        </p:spPr>
      </p:sp>
      <p:sp>
        <p:nvSpPr>
          <p:cNvPr id="63196684" name="Shape 7"/>
          <p:cNvSpPr/>
          <p:nvPr/>
        </p:nvSpPr>
        <p:spPr bwMode="auto">
          <a:xfrm>
            <a:off x="11896344" y="6693408"/>
            <a:ext cx="256032" cy="0"/>
          </a:xfrm>
          <a:prstGeom prst="line">
            <a:avLst/>
          </a:prstGeom>
          <a:noFill/>
          <a:ln w="9525">
            <a:solidFill>
              <a:srgbClr val="27343A"/>
            </a:solidFill>
            <a:prstDash val="solid"/>
          </a:ln>
        </p:spPr>
      </p:sp>
      <p:sp>
        <p:nvSpPr>
          <p:cNvPr id="412423739" name="Shape 8"/>
          <p:cNvSpPr/>
          <p:nvPr/>
        </p:nvSpPr>
        <p:spPr bwMode="auto">
          <a:xfrm>
            <a:off x="12024360" y="6565392"/>
            <a:ext cx="0" cy="256032"/>
          </a:xfrm>
          <a:prstGeom prst="line">
            <a:avLst/>
          </a:prstGeom>
          <a:noFill/>
          <a:ln w="9525">
            <a:solidFill>
              <a:srgbClr val="27343A"/>
            </a:solidFill>
            <a:prstDash val="solid"/>
          </a:ln>
        </p:spPr>
      </p:sp>
      <p:sp>
        <p:nvSpPr>
          <p:cNvPr id="464944428" name="Text 9"/>
          <p:cNvSpPr/>
          <p:nvPr/>
        </p:nvSpPr>
        <p:spPr bwMode="auto">
          <a:xfrm>
            <a:off x="393192" y="393192"/>
            <a:ext cx="2834640" cy="109728"/>
          </a:xfrm>
          <a:prstGeom prst="rect">
            <a:avLst/>
          </a:prstGeom>
          <a:noFill/>
          <a:ln/>
        </p:spPr>
        <p:txBody>
          <a:bodyPr wrap="square" lIns="0" tIns="0" rIns="0" bIns="0" rtlCol="0" anchor="ctr"/>
          <a:lstStyle/>
          <a:p>
            <a:pPr marL="0" indent="0">
              <a:buNone/>
              <a:defRPr/>
            </a:pPr>
            <a:r>
              <a:rPr lang="en-US" sz="500">
                <a:solidFill>
                  <a:srgbClr val="6C6B65"/>
                </a:solidFill>
                <a:latin typeface="Asana"/>
                <a:ea typeface="Asana"/>
                <a:cs typeface="Asana"/>
              </a:rPr>
              <a:t>WIAAS ASIA FIELD ATLAS</a:t>
            </a:r>
            <a:endParaRPr sz="500">
              <a:latin typeface="Asana"/>
              <a:cs typeface="Asana"/>
            </a:endParaRPr>
          </a:p>
        </p:txBody>
      </p:sp>
      <p:sp>
        <p:nvSpPr>
          <p:cNvPr id="1333118062" name="Text 10"/>
          <p:cNvSpPr/>
          <p:nvPr/>
        </p:nvSpPr>
        <p:spPr bwMode="auto">
          <a:xfrm>
            <a:off x="9418320" y="393192"/>
            <a:ext cx="2331720" cy="109728"/>
          </a:xfrm>
          <a:prstGeom prst="rect">
            <a:avLst/>
          </a:prstGeom>
          <a:noFill/>
          <a:ln/>
        </p:spPr>
        <p:txBody>
          <a:bodyPr wrap="square" lIns="0" tIns="0" rIns="0" bIns="0" rtlCol="0" anchor="ctr"/>
          <a:lstStyle/>
          <a:p>
            <a:pPr marL="0" indent="0" algn="r">
              <a:buNone/>
              <a:defRPr/>
            </a:pPr>
            <a:r>
              <a:rPr lang="en-US" sz="700" b="1">
                <a:solidFill>
                  <a:srgbClr val="6C6B65"/>
                </a:solidFill>
                <a:latin typeface="Asana"/>
                <a:ea typeface="Asana"/>
                <a:cs typeface="Asana"/>
              </a:rPr>
              <a:t>PLATE 07 - WIAAS WORKFLOW SYSTEM</a:t>
            </a:r>
            <a:endParaRPr sz="700" b="1">
              <a:latin typeface="Asana"/>
              <a:cs typeface="Asana"/>
            </a:endParaRPr>
          </a:p>
        </p:txBody>
      </p:sp>
      <p:sp>
        <p:nvSpPr>
          <p:cNvPr id="161063785" name="Text 11"/>
          <p:cNvSpPr/>
          <p:nvPr/>
        </p:nvSpPr>
        <p:spPr bwMode="auto">
          <a:xfrm>
            <a:off x="393192" y="6492240"/>
            <a:ext cx="3017519" cy="109728"/>
          </a:xfrm>
          <a:prstGeom prst="rect">
            <a:avLst/>
          </a:prstGeom>
          <a:noFill/>
          <a:ln/>
        </p:spPr>
        <p:txBody>
          <a:bodyPr wrap="square" lIns="0" tIns="0" rIns="0" bIns="0" rtlCol="0" anchor="ctr"/>
          <a:lstStyle/>
          <a:p>
            <a:pPr marL="0" indent="0">
              <a:buNone/>
              <a:defRPr/>
            </a:pPr>
            <a:r>
              <a:rPr lang="en-US" sz="450">
                <a:solidFill>
                  <a:srgbClr val="6C6B65"/>
                </a:solidFill>
                <a:latin typeface="Asana"/>
                <a:ea typeface="Asana"/>
                <a:cs typeface="Asana"/>
              </a:rPr>
              <a:t>DEVELOPED WITH QODER + N8N ORCHESTRATION</a:t>
            </a:r>
            <a:endParaRPr sz="450">
              <a:latin typeface="Asana"/>
              <a:cs typeface="Asana"/>
            </a:endParaRPr>
          </a:p>
        </p:txBody>
      </p:sp>
      <p:sp>
        <p:nvSpPr>
          <p:cNvPr id="393547137" name="Text 12"/>
          <p:cNvSpPr/>
          <p:nvPr/>
        </p:nvSpPr>
        <p:spPr bwMode="auto">
          <a:xfrm>
            <a:off x="11411712" y="6492240"/>
            <a:ext cx="329184" cy="109728"/>
          </a:xfrm>
          <a:prstGeom prst="rect">
            <a:avLst/>
          </a:prstGeom>
          <a:noFill/>
          <a:ln/>
        </p:spPr>
        <p:txBody>
          <a:bodyPr wrap="square" lIns="0" tIns="0" rIns="0" bIns="0" rtlCol="0" anchor="ctr"/>
          <a:lstStyle/>
          <a:p>
            <a:pPr marL="0" indent="0" algn="r">
              <a:buNone/>
              <a:defRPr/>
            </a:pPr>
            <a:r>
              <a:rPr lang="en-US" sz="450">
                <a:solidFill>
                  <a:srgbClr val="6C6B65"/>
                </a:solidFill>
                <a:latin typeface="Asana"/>
                <a:ea typeface="Asana"/>
                <a:cs typeface="Asana"/>
              </a:rPr>
              <a:t>07 / 12</a:t>
            </a:r>
            <a:endParaRPr sz="450">
              <a:latin typeface="Asana"/>
              <a:cs typeface="Asana"/>
            </a:endParaRPr>
          </a:p>
        </p:txBody>
      </p:sp>
      <p:sp>
        <p:nvSpPr>
          <p:cNvPr id="2110584954" name="Shape 13"/>
          <p:cNvSpPr/>
          <p:nvPr/>
        </p:nvSpPr>
        <p:spPr bwMode="auto">
          <a:xfrm>
            <a:off x="530352" y="914400"/>
            <a:ext cx="365760" cy="0"/>
          </a:xfrm>
          <a:prstGeom prst="line">
            <a:avLst/>
          </a:prstGeom>
          <a:noFill/>
          <a:ln w="16510">
            <a:solidFill>
              <a:srgbClr val="B4533B"/>
            </a:solidFill>
            <a:prstDash val="solid"/>
          </a:ln>
        </p:spPr>
      </p:sp>
      <p:sp>
        <p:nvSpPr>
          <p:cNvPr id="1291211720" name="Text 14"/>
          <p:cNvSpPr/>
          <p:nvPr/>
        </p:nvSpPr>
        <p:spPr bwMode="auto">
          <a:xfrm>
            <a:off x="1060704" y="850392"/>
            <a:ext cx="1828800" cy="146304"/>
          </a:xfrm>
          <a:prstGeom prst="rect">
            <a:avLst/>
          </a:prstGeom>
          <a:noFill/>
          <a:ln/>
        </p:spPr>
        <p:txBody>
          <a:bodyPr wrap="square" lIns="0" tIns="0" rIns="0" bIns="0" rtlCol="0" anchor="ctr"/>
          <a:lstStyle/>
          <a:p>
            <a:pPr marL="0" indent="0">
              <a:buNone/>
              <a:defRPr/>
            </a:pPr>
            <a:r>
              <a:rPr lang="en-US" sz="550">
                <a:solidFill>
                  <a:srgbClr val="B4533B"/>
                </a:solidFill>
                <a:latin typeface="Asana"/>
                <a:ea typeface="Asana"/>
                <a:cs typeface="Asana"/>
              </a:rPr>
              <a:t>WORKFLOW SYSTEM</a:t>
            </a:r>
            <a:endParaRPr sz="550">
              <a:latin typeface="Asana"/>
              <a:cs typeface="Asana"/>
            </a:endParaRPr>
          </a:p>
        </p:txBody>
      </p:sp>
      <p:sp>
        <p:nvSpPr>
          <p:cNvPr id="1565310629" name="Text 15"/>
          <p:cNvSpPr/>
          <p:nvPr/>
        </p:nvSpPr>
        <p:spPr bwMode="auto">
          <a:xfrm>
            <a:off x="530352" y="1115568"/>
            <a:ext cx="9875520" cy="384048"/>
          </a:xfrm>
          <a:prstGeom prst="rect">
            <a:avLst/>
          </a:prstGeom>
          <a:noFill/>
          <a:ln/>
        </p:spPr>
        <p:txBody>
          <a:bodyPr wrap="square" lIns="0" tIns="0" rIns="0" bIns="0" rtlCol="0" anchor="ctr"/>
          <a:lstStyle/>
          <a:p>
            <a:pPr marL="0" indent="0">
              <a:buNone/>
              <a:defRPr/>
            </a:pPr>
            <a:r>
              <a:rPr lang="en-US" sz="2800" b="1">
                <a:solidFill>
                  <a:srgbClr val="0D1B21"/>
                </a:solidFill>
                <a:latin typeface="Asana"/>
                <a:ea typeface="Asana"/>
                <a:cs typeface="Asana"/>
              </a:rPr>
              <a:t>WIaaS operational workflow</a:t>
            </a:r>
            <a:endParaRPr sz="2800">
              <a:latin typeface="Asana"/>
              <a:cs typeface="Asana"/>
            </a:endParaRPr>
          </a:p>
        </p:txBody>
      </p:sp>
      <p:sp>
        <p:nvSpPr>
          <p:cNvPr id="1742537516" name="Text 16"/>
          <p:cNvSpPr/>
          <p:nvPr/>
        </p:nvSpPr>
        <p:spPr bwMode="auto">
          <a:xfrm>
            <a:off x="530352" y="1645920"/>
            <a:ext cx="9601200" cy="256032"/>
          </a:xfrm>
          <a:prstGeom prst="rect">
            <a:avLst/>
          </a:prstGeom>
          <a:noFill/>
          <a:ln/>
        </p:spPr>
        <p:txBody>
          <a:bodyPr wrap="square" lIns="0" tIns="0" rIns="0" bIns="0" rtlCol="0" anchor="ctr"/>
          <a:lstStyle/>
          <a:p>
            <a:pPr marL="0" indent="0">
              <a:buNone/>
              <a:defRPr/>
            </a:pPr>
            <a:r>
              <a:rPr lang="en-US" sz="1100">
                <a:solidFill>
                  <a:srgbClr val="0D1B21"/>
                </a:solidFill>
                <a:latin typeface="Asana"/>
                <a:ea typeface="Asana"/>
                <a:cs typeface="Asana"/>
              </a:rPr>
              <a:t>The current n8n export routes each request through shared state and only the required specialist branch.</a:t>
            </a:r>
            <a:endParaRPr sz="1100">
              <a:latin typeface="Asana"/>
              <a:cs typeface="Asana"/>
            </a:endParaRPr>
          </a:p>
        </p:txBody>
      </p:sp>
      <p:sp>
        <p:nvSpPr>
          <p:cNvPr id="1470181410" name="Shape 17"/>
          <p:cNvSpPr/>
          <p:nvPr/>
        </p:nvSpPr>
        <p:spPr bwMode="auto">
          <a:xfrm>
            <a:off x="548640" y="1938528"/>
            <a:ext cx="11018520" cy="4187952"/>
          </a:xfrm>
          <a:prstGeom prst="roundRect">
            <a:avLst>
              <a:gd name="adj" fmla="val 1747"/>
            </a:avLst>
          </a:prstGeom>
          <a:solidFill>
            <a:srgbClr val="071013"/>
          </a:solidFill>
          <a:ln w="12700">
            <a:solidFill>
              <a:srgbClr val="1B2F35"/>
            </a:solidFill>
            <a:prstDash val="solid"/>
          </a:ln>
        </p:spPr>
        <p:txBody>
          <a:bodyPr anchor="ctr"/>
          <a:p>
            <a:pPr algn="ctr">
              <a:defRPr/>
            </a:pPr>
            <a:endParaRPr>
              <a:latin typeface="Asana"/>
              <a:cs typeface="Asana"/>
            </a:endParaRPr>
          </a:p>
        </p:txBody>
      </p:sp>
      <p:sp>
        <p:nvSpPr>
          <p:cNvPr id="2078718222" name="Shape 18"/>
          <p:cNvSpPr/>
          <p:nvPr/>
        </p:nvSpPr>
        <p:spPr bwMode="auto">
          <a:xfrm>
            <a:off x="713232" y="2103120"/>
            <a:ext cx="0" cy="3858768"/>
          </a:xfrm>
          <a:prstGeom prst="line">
            <a:avLst/>
          </a:prstGeom>
          <a:noFill/>
          <a:ln w="3175">
            <a:solidFill>
              <a:srgbClr val="1E3338">
                <a:alpha val="80000"/>
              </a:srgbClr>
            </a:solidFill>
            <a:prstDash val="solid"/>
          </a:ln>
        </p:spPr>
      </p:sp>
      <p:sp>
        <p:nvSpPr>
          <p:cNvPr id="663522824" name="Shape 19"/>
          <p:cNvSpPr/>
          <p:nvPr/>
        </p:nvSpPr>
        <p:spPr bwMode="auto">
          <a:xfrm>
            <a:off x="1631442" y="2103120"/>
            <a:ext cx="0" cy="3858768"/>
          </a:xfrm>
          <a:prstGeom prst="line">
            <a:avLst/>
          </a:prstGeom>
          <a:noFill/>
          <a:ln w="3175">
            <a:solidFill>
              <a:srgbClr val="1E3338">
                <a:alpha val="80000"/>
              </a:srgbClr>
            </a:solidFill>
            <a:prstDash val="solid"/>
          </a:ln>
        </p:spPr>
      </p:sp>
      <p:sp>
        <p:nvSpPr>
          <p:cNvPr id="691883421" name="Shape 20"/>
          <p:cNvSpPr/>
          <p:nvPr/>
        </p:nvSpPr>
        <p:spPr bwMode="auto">
          <a:xfrm>
            <a:off x="2549652" y="2103120"/>
            <a:ext cx="0" cy="3858768"/>
          </a:xfrm>
          <a:prstGeom prst="line">
            <a:avLst/>
          </a:prstGeom>
          <a:noFill/>
          <a:ln w="3175">
            <a:solidFill>
              <a:srgbClr val="1E3338">
                <a:alpha val="80000"/>
              </a:srgbClr>
            </a:solidFill>
            <a:prstDash val="solid"/>
          </a:ln>
        </p:spPr>
      </p:sp>
      <p:sp>
        <p:nvSpPr>
          <p:cNvPr id="1464703545" name="Shape 21"/>
          <p:cNvSpPr/>
          <p:nvPr/>
        </p:nvSpPr>
        <p:spPr bwMode="auto">
          <a:xfrm>
            <a:off x="3467862" y="2103120"/>
            <a:ext cx="0" cy="3858768"/>
          </a:xfrm>
          <a:prstGeom prst="line">
            <a:avLst/>
          </a:prstGeom>
          <a:noFill/>
          <a:ln w="3175">
            <a:solidFill>
              <a:srgbClr val="1E3338">
                <a:alpha val="80000"/>
              </a:srgbClr>
            </a:solidFill>
            <a:prstDash val="solid"/>
          </a:ln>
        </p:spPr>
      </p:sp>
      <p:sp>
        <p:nvSpPr>
          <p:cNvPr id="345266342" name="Shape 22"/>
          <p:cNvSpPr/>
          <p:nvPr/>
        </p:nvSpPr>
        <p:spPr bwMode="auto">
          <a:xfrm>
            <a:off x="4386072" y="2103120"/>
            <a:ext cx="0" cy="3858768"/>
          </a:xfrm>
          <a:prstGeom prst="line">
            <a:avLst/>
          </a:prstGeom>
          <a:noFill/>
          <a:ln w="3175">
            <a:solidFill>
              <a:srgbClr val="1E3338">
                <a:alpha val="80000"/>
              </a:srgbClr>
            </a:solidFill>
            <a:prstDash val="solid"/>
          </a:ln>
        </p:spPr>
      </p:sp>
      <p:sp>
        <p:nvSpPr>
          <p:cNvPr id="1627647119" name="Shape 23"/>
          <p:cNvSpPr/>
          <p:nvPr/>
        </p:nvSpPr>
        <p:spPr bwMode="auto">
          <a:xfrm>
            <a:off x="5304282" y="2103120"/>
            <a:ext cx="0" cy="3858768"/>
          </a:xfrm>
          <a:prstGeom prst="line">
            <a:avLst/>
          </a:prstGeom>
          <a:noFill/>
          <a:ln w="3175">
            <a:solidFill>
              <a:srgbClr val="1E3338">
                <a:alpha val="80000"/>
              </a:srgbClr>
            </a:solidFill>
            <a:prstDash val="solid"/>
          </a:ln>
        </p:spPr>
      </p:sp>
      <p:sp>
        <p:nvSpPr>
          <p:cNvPr id="14088023" name="Shape 24"/>
          <p:cNvSpPr/>
          <p:nvPr/>
        </p:nvSpPr>
        <p:spPr bwMode="auto">
          <a:xfrm>
            <a:off x="6222492" y="2103120"/>
            <a:ext cx="0" cy="3858768"/>
          </a:xfrm>
          <a:prstGeom prst="line">
            <a:avLst/>
          </a:prstGeom>
          <a:noFill/>
          <a:ln w="3175">
            <a:solidFill>
              <a:srgbClr val="1E3338">
                <a:alpha val="80000"/>
              </a:srgbClr>
            </a:solidFill>
            <a:prstDash val="solid"/>
          </a:ln>
        </p:spPr>
      </p:sp>
      <p:sp>
        <p:nvSpPr>
          <p:cNvPr id="463816014" name="Shape 25"/>
          <p:cNvSpPr/>
          <p:nvPr/>
        </p:nvSpPr>
        <p:spPr bwMode="auto">
          <a:xfrm>
            <a:off x="7140702" y="2103120"/>
            <a:ext cx="0" cy="3858768"/>
          </a:xfrm>
          <a:prstGeom prst="line">
            <a:avLst/>
          </a:prstGeom>
          <a:noFill/>
          <a:ln w="3175">
            <a:solidFill>
              <a:srgbClr val="1E3338">
                <a:alpha val="80000"/>
              </a:srgbClr>
            </a:solidFill>
            <a:prstDash val="solid"/>
          </a:ln>
        </p:spPr>
      </p:sp>
      <p:sp>
        <p:nvSpPr>
          <p:cNvPr id="1495348877" name="Shape 26"/>
          <p:cNvSpPr/>
          <p:nvPr/>
        </p:nvSpPr>
        <p:spPr bwMode="auto">
          <a:xfrm>
            <a:off x="8058912" y="2103120"/>
            <a:ext cx="0" cy="3858768"/>
          </a:xfrm>
          <a:prstGeom prst="line">
            <a:avLst/>
          </a:prstGeom>
          <a:noFill/>
          <a:ln w="3175">
            <a:solidFill>
              <a:srgbClr val="1E3338">
                <a:alpha val="80000"/>
              </a:srgbClr>
            </a:solidFill>
            <a:prstDash val="solid"/>
          </a:ln>
        </p:spPr>
      </p:sp>
      <p:sp>
        <p:nvSpPr>
          <p:cNvPr id="901380622" name="Shape 27"/>
          <p:cNvSpPr/>
          <p:nvPr/>
        </p:nvSpPr>
        <p:spPr bwMode="auto">
          <a:xfrm>
            <a:off x="8977122" y="2103120"/>
            <a:ext cx="0" cy="3858768"/>
          </a:xfrm>
          <a:prstGeom prst="line">
            <a:avLst/>
          </a:prstGeom>
          <a:noFill/>
          <a:ln w="3175">
            <a:solidFill>
              <a:srgbClr val="1E3338">
                <a:alpha val="80000"/>
              </a:srgbClr>
            </a:solidFill>
            <a:prstDash val="solid"/>
          </a:ln>
        </p:spPr>
      </p:sp>
      <p:sp>
        <p:nvSpPr>
          <p:cNvPr id="1112953934" name="Shape 28"/>
          <p:cNvSpPr/>
          <p:nvPr/>
        </p:nvSpPr>
        <p:spPr bwMode="auto">
          <a:xfrm>
            <a:off x="9895332" y="2103120"/>
            <a:ext cx="0" cy="3858768"/>
          </a:xfrm>
          <a:prstGeom prst="line">
            <a:avLst/>
          </a:prstGeom>
          <a:noFill/>
          <a:ln w="3175">
            <a:solidFill>
              <a:srgbClr val="1E3338">
                <a:alpha val="80000"/>
              </a:srgbClr>
            </a:solidFill>
            <a:prstDash val="solid"/>
          </a:ln>
        </p:spPr>
      </p:sp>
      <p:sp>
        <p:nvSpPr>
          <p:cNvPr id="1365013923" name="Shape 29"/>
          <p:cNvSpPr/>
          <p:nvPr/>
        </p:nvSpPr>
        <p:spPr bwMode="auto">
          <a:xfrm>
            <a:off x="10813542" y="2103120"/>
            <a:ext cx="0" cy="3858768"/>
          </a:xfrm>
          <a:prstGeom prst="line">
            <a:avLst/>
          </a:prstGeom>
          <a:noFill/>
          <a:ln w="3175">
            <a:solidFill>
              <a:srgbClr val="1E3338">
                <a:alpha val="80000"/>
              </a:srgbClr>
            </a:solidFill>
            <a:prstDash val="solid"/>
          </a:ln>
        </p:spPr>
      </p:sp>
      <p:sp>
        <p:nvSpPr>
          <p:cNvPr id="670333551" name="Shape 30"/>
          <p:cNvSpPr/>
          <p:nvPr/>
        </p:nvSpPr>
        <p:spPr bwMode="auto">
          <a:xfrm>
            <a:off x="713232" y="2103120"/>
            <a:ext cx="10689336" cy="0"/>
          </a:xfrm>
          <a:prstGeom prst="line">
            <a:avLst/>
          </a:prstGeom>
          <a:noFill/>
          <a:ln w="3175">
            <a:solidFill>
              <a:srgbClr val="1E3338">
                <a:alpha val="80000"/>
              </a:srgbClr>
            </a:solidFill>
            <a:prstDash val="solid"/>
          </a:ln>
        </p:spPr>
      </p:sp>
      <p:sp>
        <p:nvSpPr>
          <p:cNvPr id="720595446" name="Shape 31"/>
          <p:cNvSpPr/>
          <p:nvPr/>
        </p:nvSpPr>
        <p:spPr bwMode="auto">
          <a:xfrm>
            <a:off x="713232" y="2701399"/>
            <a:ext cx="10689336" cy="0"/>
          </a:xfrm>
          <a:prstGeom prst="line">
            <a:avLst/>
          </a:prstGeom>
          <a:noFill/>
          <a:ln w="3175">
            <a:solidFill>
              <a:srgbClr val="1E3338">
                <a:alpha val="80000"/>
              </a:srgbClr>
            </a:solidFill>
            <a:prstDash val="solid"/>
          </a:ln>
        </p:spPr>
      </p:sp>
      <p:sp>
        <p:nvSpPr>
          <p:cNvPr id="1242373089" name="Shape 32"/>
          <p:cNvSpPr/>
          <p:nvPr/>
        </p:nvSpPr>
        <p:spPr bwMode="auto">
          <a:xfrm>
            <a:off x="713232" y="3299678"/>
            <a:ext cx="10689336" cy="0"/>
          </a:xfrm>
          <a:prstGeom prst="line">
            <a:avLst/>
          </a:prstGeom>
          <a:noFill/>
          <a:ln w="3175">
            <a:solidFill>
              <a:srgbClr val="1E3338">
                <a:alpha val="80000"/>
              </a:srgbClr>
            </a:solidFill>
            <a:prstDash val="solid"/>
          </a:ln>
        </p:spPr>
      </p:sp>
      <p:sp>
        <p:nvSpPr>
          <p:cNvPr id="313132517" name="Shape 33"/>
          <p:cNvSpPr/>
          <p:nvPr/>
        </p:nvSpPr>
        <p:spPr bwMode="auto">
          <a:xfrm>
            <a:off x="713232" y="3897957"/>
            <a:ext cx="10689336" cy="0"/>
          </a:xfrm>
          <a:prstGeom prst="line">
            <a:avLst/>
          </a:prstGeom>
          <a:noFill/>
          <a:ln w="3175">
            <a:solidFill>
              <a:srgbClr val="1E3338">
                <a:alpha val="80000"/>
              </a:srgbClr>
            </a:solidFill>
            <a:prstDash val="solid"/>
          </a:ln>
        </p:spPr>
      </p:sp>
      <p:sp>
        <p:nvSpPr>
          <p:cNvPr id="1665873979" name="Shape 34"/>
          <p:cNvSpPr/>
          <p:nvPr/>
        </p:nvSpPr>
        <p:spPr bwMode="auto">
          <a:xfrm>
            <a:off x="713232" y="4496235"/>
            <a:ext cx="10689336" cy="0"/>
          </a:xfrm>
          <a:prstGeom prst="line">
            <a:avLst/>
          </a:prstGeom>
          <a:noFill/>
          <a:ln w="3175">
            <a:solidFill>
              <a:srgbClr val="1E3338">
                <a:alpha val="80000"/>
              </a:srgbClr>
            </a:solidFill>
            <a:prstDash val="solid"/>
          </a:ln>
        </p:spPr>
      </p:sp>
      <p:sp>
        <p:nvSpPr>
          <p:cNvPr id="647340019" name="Shape 35"/>
          <p:cNvSpPr/>
          <p:nvPr/>
        </p:nvSpPr>
        <p:spPr bwMode="auto">
          <a:xfrm>
            <a:off x="713232" y="5094514"/>
            <a:ext cx="10689336" cy="0"/>
          </a:xfrm>
          <a:prstGeom prst="line">
            <a:avLst/>
          </a:prstGeom>
          <a:noFill/>
          <a:ln w="3175">
            <a:solidFill>
              <a:srgbClr val="1E3338">
                <a:alpha val="80000"/>
              </a:srgbClr>
            </a:solidFill>
            <a:prstDash val="solid"/>
          </a:ln>
        </p:spPr>
      </p:sp>
      <p:sp>
        <p:nvSpPr>
          <p:cNvPr id="1945807822" name="Shape 36"/>
          <p:cNvSpPr/>
          <p:nvPr/>
        </p:nvSpPr>
        <p:spPr bwMode="auto">
          <a:xfrm>
            <a:off x="713232" y="5692793"/>
            <a:ext cx="10689336" cy="0"/>
          </a:xfrm>
          <a:prstGeom prst="line">
            <a:avLst/>
          </a:prstGeom>
          <a:noFill/>
          <a:ln w="3175">
            <a:solidFill>
              <a:srgbClr val="1E3338">
                <a:alpha val="80000"/>
              </a:srgbClr>
            </a:solidFill>
            <a:prstDash val="solid"/>
          </a:ln>
        </p:spPr>
      </p:sp>
      <p:sp>
        <p:nvSpPr>
          <p:cNvPr id="1234880122" name="Shape 37"/>
          <p:cNvSpPr/>
          <p:nvPr/>
        </p:nvSpPr>
        <p:spPr bwMode="auto">
          <a:xfrm>
            <a:off x="1764792" y="2697480"/>
            <a:ext cx="201168" cy="0"/>
          </a:xfrm>
          <a:prstGeom prst="line">
            <a:avLst/>
          </a:prstGeom>
          <a:noFill/>
          <a:ln w="9525">
            <a:solidFill>
              <a:srgbClr val="B4533B"/>
            </a:solidFill>
            <a:prstDash val="solid"/>
            <a:headEnd type="none"/>
            <a:tailEnd type="triangle"/>
          </a:ln>
        </p:spPr>
      </p:sp>
      <p:sp>
        <p:nvSpPr>
          <p:cNvPr id="556424048" name="Shape 38"/>
          <p:cNvSpPr/>
          <p:nvPr/>
        </p:nvSpPr>
        <p:spPr bwMode="auto">
          <a:xfrm>
            <a:off x="2926080" y="2697480"/>
            <a:ext cx="201168" cy="0"/>
          </a:xfrm>
          <a:prstGeom prst="line">
            <a:avLst/>
          </a:prstGeom>
          <a:noFill/>
          <a:ln w="9525">
            <a:solidFill>
              <a:srgbClr val="2C7F9E"/>
            </a:solidFill>
            <a:prstDash val="solid"/>
            <a:headEnd type="none"/>
            <a:tailEnd type="triangle"/>
          </a:ln>
        </p:spPr>
      </p:sp>
      <p:sp>
        <p:nvSpPr>
          <p:cNvPr id="703136900" name="Shape 39"/>
          <p:cNvSpPr/>
          <p:nvPr/>
        </p:nvSpPr>
        <p:spPr bwMode="auto">
          <a:xfrm>
            <a:off x="4087368" y="2697480"/>
            <a:ext cx="201168" cy="0"/>
          </a:xfrm>
          <a:prstGeom prst="line">
            <a:avLst/>
          </a:prstGeom>
          <a:noFill/>
          <a:ln w="9525">
            <a:solidFill>
              <a:srgbClr val="2E865F"/>
            </a:solidFill>
            <a:prstDash val="solid"/>
            <a:headEnd type="none"/>
            <a:tailEnd type="triangle"/>
          </a:ln>
        </p:spPr>
      </p:sp>
      <p:sp>
        <p:nvSpPr>
          <p:cNvPr id="1575688566" name="Shape 40"/>
          <p:cNvSpPr/>
          <p:nvPr/>
        </p:nvSpPr>
        <p:spPr bwMode="auto">
          <a:xfrm>
            <a:off x="5248656" y="2697480"/>
            <a:ext cx="201168" cy="0"/>
          </a:xfrm>
          <a:prstGeom prst="line">
            <a:avLst/>
          </a:prstGeom>
          <a:noFill/>
          <a:ln w="9525">
            <a:solidFill>
              <a:srgbClr val="2E865F"/>
            </a:solidFill>
            <a:prstDash val="solid"/>
            <a:headEnd type="none"/>
            <a:tailEnd type="triangle"/>
          </a:ln>
        </p:spPr>
      </p:sp>
      <p:sp>
        <p:nvSpPr>
          <p:cNvPr id="1812076803" name="Shape 41"/>
          <p:cNvSpPr/>
          <p:nvPr/>
        </p:nvSpPr>
        <p:spPr bwMode="auto">
          <a:xfrm>
            <a:off x="6409944" y="2697480"/>
            <a:ext cx="201168" cy="0"/>
          </a:xfrm>
          <a:prstGeom prst="line">
            <a:avLst/>
          </a:prstGeom>
          <a:noFill/>
          <a:ln w="9525">
            <a:solidFill>
              <a:srgbClr val="108A98"/>
            </a:solidFill>
            <a:prstDash val="solid"/>
            <a:headEnd type="none"/>
            <a:tailEnd type="triangle"/>
          </a:ln>
        </p:spPr>
      </p:sp>
      <p:sp>
        <p:nvSpPr>
          <p:cNvPr id="1756138524" name="Shape 42"/>
          <p:cNvSpPr/>
          <p:nvPr/>
        </p:nvSpPr>
        <p:spPr bwMode="auto">
          <a:xfrm>
            <a:off x="7571232" y="2697480"/>
            <a:ext cx="201168" cy="0"/>
          </a:xfrm>
          <a:prstGeom prst="line">
            <a:avLst/>
          </a:prstGeom>
          <a:noFill/>
          <a:ln w="9525">
            <a:solidFill>
              <a:srgbClr val="C28722"/>
            </a:solidFill>
            <a:prstDash val="solid"/>
            <a:headEnd type="none"/>
            <a:tailEnd type="triangle"/>
          </a:ln>
        </p:spPr>
      </p:sp>
      <p:sp>
        <p:nvSpPr>
          <p:cNvPr id="616284797" name="Shape 43"/>
          <p:cNvSpPr/>
          <p:nvPr/>
        </p:nvSpPr>
        <p:spPr bwMode="auto">
          <a:xfrm>
            <a:off x="8732520" y="2697480"/>
            <a:ext cx="201168" cy="0"/>
          </a:xfrm>
          <a:prstGeom prst="line">
            <a:avLst/>
          </a:prstGeom>
          <a:noFill/>
          <a:ln w="9525">
            <a:solidFill>
              <a:srgbClr val="108A98"/>
            </a:solidFill>
            <a:prstDash val="solid"/>
            <a:headEnd type="none"/>
            <a:tailEnd type="triangle"/>
          </a:ln>
        </p:spPr>
      </p:sp>
      <p:sp>
        <p:nvSpPr>
          <p:cNvPr id="405270218" name="Shape 44"/>
          <p:cNvSpPr/>
          <p:nvPr/>
        </p:nvSpPr>
        <p:spPr bwMode="auto">
          <a:xfrm>
            <a:off x="9893808" y="2697480"/>
            <a:ext cx="201168" cy="0"/>
          </a:xfrm>
          <a:prstGeom prst="line">
            <a:avLst/>
          </a:prstGeom>
          <a:noFill/>
          <a:ln w="9525">
            <a:solidFill>
              <a:srgbClr val="6C6B65"/>
            </a:solidFill>
            <a:prstDash val="solid"/>
            <a:headEnd type="none"/>
            <a:tailEnd type="triangle"/>
          </a:ln>
        </p:spPr>
      </p:sp>
      <p:sp>
        <p:nvSpPr>
          <p:cNvPr id="1509517067" name="Shape 45"/>
          <p:cNvSpPr/>
          <p:nvPr/>
        </p:nvSpPr>
        <p:spPr bwMode="auto">
          <a:xfrm>
            <a:off x="7086600" y="2990088"/>
            <a:ext cx="0" cy="996696"/>
          </a:xfrm>
          <a:prstGeom prst="line">
            <a:avLst/>
          </a:prstGeom>
          <a:noFill/>
          <a:ln w="9525">
            <a:solidFill>
              <a:srgbClr val="C28722"/>
            </a:solidFill>
            <a:prstDash val="solid"/>
            <a:headEnd type="none"/>
            <a:tailEnd type="triangle"/>
          </a:ln>
        </p:spPr>
      </p:sp>
      <p:sp>
        <p:nvSpPr>
          <p:cNvPr id="1147492648" name="Shape 46"/>
          <p:cNvSpPr/>
          <p:nvPr/>
        </p:nvSpPr>
        <p:spPr bwMode="auto">
          <a:xfrm>
            <a:off x="1536192" y="3986784"/>
            <a:ext cx="8229600" cy="0"/>
          </a:xfrm>
          <a:prstGeom prst="line">
            <a:avLst/>
          </a:prstGeom>
          <a:noFill/>
          <a:ln w="5715">
            <a:solidFill>
              <a:srgbClr val="50656A"/>
            </a:solidFill>
            <a:prstDash val="solid"/>
          </a:ln>
        </p:spPr>
      </p:sp>
      <p:sp>
        <p:nvSpPr>
          <p:cNvPr id="1387476710" name="Shape 47"/>
          <p:cNvSpPr/>
          <p:nvPr/>
        </p:nvSpPr>
        <p:spPr bwMode="auto">
          <a:xfrm>
            <a:off x="1531620" y="3986784"/>
            <a:ext cx="0" cy="356616"/>
          </a:xfrm>
          <a:prstGeom prst="line">
            <a:avLst/>
          </a:prstGeom>
          <a:noFill/>
          <a:ln w="5715">
            <a:solidFill>
              <a:srgbClr val="6C6B65"/>
            </a:solidFill>
            <a:prstDash val="solid"/>
            <a:headEnd type="none"/>
            <a:tailEnd type="triangle"/>
          </a:ln>
        </p:spPr>
      </p:sp>
      <p:sp>
        <p:nvSpPr>
          <p:cNvPr id="91622985" name="Shape 48"/>
          <p:cNvSpPr/>
          <p:nvPr/>
        </p:nvSpPr>
        <p:spPr bwMode="auto">
          <a:xfrm>
            <a:off x="3177540" y="3986784"/>
            <a:ext cx="0" cy="356616"/>
          </a:xfrm>
          <a:prstGeom prst="line">
            <a:avLst/>
          </a:prstGeom>
          <a:noFill/>
          <a:ln w="5715">
            <a:solidFill>
              <a:srgbClr val="6C6B65"/>
            </a:solidFill>
            <a:prstDash val="solid"/>
            <a:headEnd type="none"/>
            <a:tailEnd type="triangle"/>
          </a:ln>
        </p:spPr>
      </p:sp>
      <p:sp>
        <p:nvSpPr>
          <p:cNvPr id="1647741694" name="Shape 49"/>
          <p:cNvSpPr/>
          <p:nvPr/>
        </p:nvSpPr>
        <p:spPr bwMode="auto">
          <a:xfrm>
            <a:off x="4823460" y="3986784"/>
            <a:ext cx="0" cy="356616"/>
          </a:xfrm>
          <a:prstGeom prst="line">
            <a:avLst/>
          </a:prstGeom>
          <a:noFill/>
          <a:ln w="5715">
            <a:solidFill>
              <a:srgbClr val="6C6B65"/>
            </a:solidFill>
            <a:prstDash val="solid"/>
            <a:headEnd type="none"/>
            <a:tailEnd type="triangle"/>
          </a:ln>
        </p:spPr>
      </p:sp>
      <p:sp>
        <p:nvSpPr>
          <p:cNvPr id="1192796869" name="Shape 50"/>
          <p:cNvSpPr/>
          <p:nvPr/>
        </p:nvSpPr>
        <p:spPr bwMode="auto">
          <a:xfrm>
            <a:off x="6469380" y="3986784"/>
            <a:ext cx="0" cy="356616"/>
          </a:xfrm>
          <a:prstGeom prst="line">
            <a:avLst/>
          </a:prstGeom>
          <a:noFill/>
          <a:ln w="5715">
            <a:solidFill>
              <a:srgbClr val="6C6B65"/>
            </a:solidFill>
            <a:prstDash val="solid"/>
            <a:headEnd type="none"/>
            <a:tailEnd type="triangle"/>
          </a:ln>
        </p:spPr>
      </p:sp>
      <p:sp>
        <p:nvSpPr>
          <p:cNvPr id="1570955171" name="Shape 51"/>
          <p:cNvSpPr/>
          <p:nvPr/>
        </p:nvSpPr>
        <p:spPr bwMode="auto">
          <a:xfrm>
            <a:off x="8115300" y="3986784"/>
            <a:ext cx="0" cy="356616"/>
          </a:xfrm>
          <a:prstGeom prst="line">
            <a:avLst/>
          </a:prstGeom>
          <a:noFill/>
          <a:ln w="5715">
            <a:solidFill>
              <a:srgbClr val="6C6B65"/>
            </a:solidFill>
            <a:prstDash val="solid"/>
            <a:headEnd type="none"/>
            <a:tailEnd type="triangle"/>
          </a:ln>
        </p:spPr>
      </p:sp>
      <p:sp>
        <p:nvSpPr>
          <p:cNvPr id="1255535512" name="Shape 52"/>
          <p:cNvSpPr/>
          <p:nvPr/>
        </p:nvSpPr>
        <p:spPr bwMode="auto">
          <a:xfrm>
            <a:off x="9761220" y="3986784"/>
            <a:ext cx="0" cy="356616"/>
          </a:xfrm>
          <a:prstGeom prst="line">
            <a:avLst/>
          </a:prstGeom>
          <a:noFill/>
          <a:ln w="5715">
            <a:solidFill>
              <a:srgbClr val="6C6B65"/>
            </a:solidFill>
            <a:prstDash val="solid"/>
            <a:headEnd type="none"/>
            <a:tailEnd type="triangle"/>
          </a:ln>
        </p:spPr>
      </p:sp>
      <p:sp>
        <p:nvSpPr>
          <p:cNvPr id="600463612" name="Shape 53"/>
          <p:cNvSpPr/>
          <p:nvPr/>
        </p:nvSpPr>
        <p:spPr bwMode="auto">
          <a:xfrm>
            <a:off x="9765792" y="3986784"/>
            <a:ext cx="804672" cy="0"/>
          </a:xfrm>
          <a:prstGeom prst="line">
            <a:avLst/>
          </a:prstGeom>
          <a:noFill/>
          <a:ln w="9525">
            <a:solidFill>
              <a:srgbClr val="6C6B65"/>
            </a:solidFill>
            <a:prstDash val="solid"/>
            <a:headEnd type="none"/>
            <a:tailEnd type="triangle"/>
          </a:ln>
        </p:spPr>
      </p:sp>
      <p:sp>
        <p:nvSpPr>
          <p:cNvPr id="1970865643" name="Shape 54"/>
          <p:cNvSpPr/>
          <p:nvPr/>
        </p:nvSpPr>
        <p:spPr bwMode="auto">
          <a:xfrm>
            <a:off x="804672" y="2395728"/>
            <a:ext cx="960120" cy="594360"/>
          </a:xfrm>
          <a:prstGeom prst="roundRect">
            <a:avLst>
              <a:gd name="adj" fmla="val 7692"/>
            </a:avLst>
          </a:prstGeom>
          <a:solidFill>
            <a:srgbClr val="101B1F"/>
          </a:solidFill>
          <a:ln w="11430">
            <a:solidFill>
              <a:srgbClr val="B4533B"/>
            </a:solidFill>
            <a:prstDash val="solid"/>
          </a:ln>
        </p:spPr>
        <p:txBody>
          <a:bodyPr anchor="ctr"/>
          <a:p>
            <a:pPr algn="ctr">
              <a:defRPr/>
            </a:pPr>
            <a:endParaRPr>
              <a:latin typeface="Asana"/>
              <a:cs typeface="Asana"/>
            </a:endParaRPr>
          </a:p>
        </p:txBody>
      </p:sp>
      <p:sp>
        <p:nvSpPr>
          <p:cNvPr id="1681172066" name="Text 55"/>
          <p:cNvSpPr/>
          <p:nvPr/>
        </p:nvSpPr>
        <p:spPr bwMode="auto">
          <a:xfrm>
            <a:off x="877824" y="2478024"/>
            <a:ext cx="813816" cy="146304"/>
          </a:xfrm>
          <a:prstGeom prst="rect">
            <a:avLst/>
          </a:prstGeom>
          <a:noFill/>
          <a:ln/>
        </p:spPr>
        <p:txBody>
          <a:bodyPr wrap="square" lIns="0" tIns="0" rIns="0" bIns="0" rtlCol="0" anchor="ctr">
            <a:normAutofit/>
          </a:bodyPr>
          <a:lstStyle/>
          <a:p>
            <a:pPr marL="0" indent="0">
              <a:buNone/>
              <a:defRPr/>
            </a:pPr>
            <a:r>
              <a:rPr lang="en-US" sz="700" b="1">
                <a:solidFill>
                  <a:srgbClr val="F4EFEA"/>
                </a:solidFill>
                <a:latin typeface="Asana"/>
                <a:ea typeface="Asana"/>
                <a:cs typeface="Asana"/>
              </a:rPr>
              <a:t>Webhook</a:t>
            </a:r>
            <a:endParaRPr sz="700">
              <a:latin typeface="Asana"/>
              <a:cs typeface="Asana"/>
            </a:endParaRPr>
          </a:p>
        </p:txBody>
      </p:sp>
      <p:sp>
        <p:nvSpPr>
          <p:cNvPr id="487291895" name="Text 56"/>
          <p:cNvSpPr/>
          <p:nvPr/>
        </p:nvSpPr>
        <p:spPr bwMode="auto">
          <a:xfrm>
            <a:off x="877824" y="2688336"/>
            <a:ext cx="813816" cy="246888"/>
          </a:xfrm>
          <a:prstGeom prst="rect">
            <a:avLst/>
          </a:prstGeom>
          <a:noFill/>
          <a:ln/>
        </p:spPr>
        <p:txBody>
          <a:bodyPr wrap="square" lIns="0" tIns="0" rIns="0" bIns="0" rtlCol="0" anchor="ctr">
            <a:normAutofit/>
          </a:bodyPr>
          <a:lstStyle/>
          <a:p>
            <a:pPr marL="0" indent="0">
              <a:buNone/>
              <a:defRPr/>
            </a:pPr>
            <a:r>
              <a:rPr lang="en-US" sz="500">
                <a:solidFill>
                  <a:srgbClr val="B8C2C3"/>
                </a:solidFill>
                <a:latin typeface="Asana"/>
                <a:ea typeface="Asana"/>
                <a:cs typeface="Asana"/>
              </a:rPr>
              <a:t>chat or web payload</a:t>
            </a:r>
            <a:endParaRPr sz="500">
              <a:latin typeface="Asana"/>
              <a:cs typeface="Asana"/>
            </a:endParaRPr>
          </a:p>
        </p:txBody>
      </p:sp>
      <p:sp>
        <p:nvSpPr>
          <p:cNvPr id="78276697" name="Shape 57"/>
          <p:cNvSpPr/>
          <p:nvPr/>
        </p:nvSpPr>
        <p:spPr bwMode="auto">
          <a:xfrm>
            <a:off x="1965960" y="2395728"/>
            <a:ext cx="960120" cy="594360"/>
          </a:xfrm>
          <a:prstGeom prst="roundRect">
            <a:avLst>
              <a:gd name="adj" fmla="val 7692"/>
            </a:avLst>
          </a:prstGeom>
          <a:solidFill>
            <a:srgbClr val="101B1F"/>
          </a:solidFill>
          <a:ln w="11430">
            <a:solidFill>
              <a:srgbClr val="2C7F9E"/>
            </a:solidFill>
            <a:prstDash val="solid"/>
          </a:ln>
        </p:spPr>
        <p:txBody>
          <a:bodyPr anchor="ctr"/>
          <a:p>
            <a:pPr algn="ctr">
              <a:defRPr/>
            </a:pPr>
            <a:endParaRPr>
              <a:latin typeface="Asana"/>
              <a:cs typeface="Asana"/>
            </a:endParaRPr>
          </a:p>
        </p:txBody>
      </p:sp>
      <p:sp>
        <p:nvSpPr>
          <p:cNvPr id="700011097" name="Text 58"/>
          <p:cNvSpPr/>
          <p:nvPr/>
        </p:nvSpPr>
        <p:spPr bwMode="auto">
          <a:xfrm>
            <a:off x="2039112" y="2478024"/>
            <a:ext cx="813816" cy="146304"/>
          </a:xfrm>
          <a:prstGeom prst="rect">
            <a:avLst/>
          </a:prstGeom>
          <a:noFill/>
          <a:ln/>
        </p:spPr>
        <p:txBody>
          <a:bodyPr wrap="square" lIns="0" tIns="0" rIns="0" bIns="0" rtlCol="0" anchor="ctr">
            <a:normAutofit/>
          </a:bodyPr>
          <a:lstStyle/>
          <a:p>
            <a:pPr marL="0" indent="0">
              <a:buNone/>
              <a:defRPr/>
            </a:pPr>
            <a:r>
              <a:rPr lang="en-US" sz="700" b="1">
                <a:solidFill>
                  <a:srgbClr val="F4EFEA"/>
                </a:solidFill>
                <a:latin typeface="Asana"/>
                <a:ea typeface="Asana"/>
                <a:cs typeface="Asana"/>
              </a:rPr>
              <a:t>Parse</a:t>
            </a:r>
            <a:endParaRPr sz="700">
              <a:latin typeface="Asana"/>
              <a:cs typeface="Asana"/>
            </a:endParaRPr>
          </a:p>
        </p:txBody>
      </p:sp>
      <p:sp>
        <p:nvSpPr>
          <p:cNvPr id="1487105756" name="Text 59"/>
          <p:cNvSpPr/>
          <p:nvPr/>
        </p:nvSpPr>
        <p:spPr bwMode="auto">
          <a:xfrm>
            <a:off x="2039112" y="2688336"/>
            <a:ext cx="813816" cy="246888"/>
          </a:xfrm>
          <a:prstGeom prst="rect">
            <a:avLst/>
          </a:prstGeom>
          <a:noFill/>
          <a:ln/>
        </p:spPr>
        <p:txBody>
          <a:bodyPr wrap="square" lIns="0" tIns="0" rIns="0" bIns="0" rtlCol="0" anchor="ctr">
            <a:normAutofit/>
          </a:bodyPr>
          <a:lstStyle/>
          <a:p>
            <a:pPr marL="0" indent="0">
              <a:buNone/>
              <a:defRPr/>
            </a:pPr>
            <a:r>
              <a:rPr lang="en-US" sz="500">
                <a:solidFill>
                  <a:srgbClr val="B8C2C3"/>
                </a:solidFill>
                <a:latin typeface="Asana"/>
                <a:ea typeface="Asana"/>
                <a:cs typeface="Asana"/>
              </a:rPr>
              <a:t>message and session</a:t>
            </a:r>
            <a:endParaRPr sz="500">
              <a:latin typeface="Asana"/>
              <a:cs typeface="Asana"/>
            </a:endParaRPr>
          </a:p>
        </p:txBody>
      </p:sp>
      <p:sp>
        <p:nvSpPr>
          <p:cNvPr id="165378568" name="Shape 60"/>
          <p:cNvSpPr/>
          <p:nvPr/>
        </p:nvSpPr>
        <p:spPr bwMode="auto">
          <a:xfrm>
            <a:off x="3127248" y="2395728"/>
            <a:ext cx="960120" cy="594360"/>
          </a:xfrm>
          <a:prstGeom prst="roundRect">
            <a:avLst>
              <a:gd name="adj" fmla="val 7692"/>
            </a:avLst>
          </a:prstGeom>
          <a:solidFill>
            <a:srgbClr val="101B1F"/>
          </a:solidFill>
          <a:ln w="11430">
            <a:solidFill>
              <a:srgbClr val="2E865F"/>
            </a:solidFill>
            <a:prstDash val="solid"/>
          </a:ln>
        </p:spPr>
        <p:txBody>
          <a:bodyPr anchor="ctr"/>
          <a:p>
            <a:pPr algn="ctr">
              <a:defRPr/>
            </a:pPr>
            <a:endParaRPr>
              <a:latin typeface="Asana"/>
              <a:cs typeface="Asana"/>
            </a:endParaRPr>
          </a:p>
        </p:txBody>
      </p:sp>
      <p:sp>
        <p:nvSpPr>
          <p:cNvPr id="1628601062" name="Text 61"/>
          <p:cNvSpPr/>
          <p:nvPr/>
        </p:nvSpPr>
        <p:spPr bwMode="auto">
          <a:xfrm>
            <a:off x="3200400" y="2478024"/>
            <a:ext cx="813816" cy="146304"/>
          </a:xfrm>
          <a:prstGeom prst="rect">
            <a:avLst/>
          </a:prstGeom>
          <a:noFill/>
          <a:ln/>
        </p:spPr>
        <p:txBody>
          <a:bodyPr wrap="square" lIns="0" tIns="0" rIns="0" bIns="0" rtlCol="0" anchor="ctr">
            <a:normAutofit/>
          </a:bodyPr>
          <a:lstStyle/>
          <a:p>
            <a:pPr marL="0" indent="0">
              <a:buNone/>
              <a:defRPr/>
            </a:pPr>
            <a:r>
              <a:rPr lang="en-US" sz="700" b="1">
                <a:solidFill>
                  <a:srgbClr val="F4EFEA"/>
                </a:solidFill>
                <a:latin typeface="Asana"/>
                <a:ea typeface="Asana"/>
                <a:cs typeface="Asana"/>
              </a:rPr>
              <a:t>Route</a:t>
            </a:r>
            <a:endParaRPr sz="700">
              <a:latin typeface="Asana"/>
              <a:cs typeface="Asana"/>
            </a:endParaRPr>
          </a:p>
        </p:txBody>
      </p:sp>
      <p:sp>
        <p:nvSpPr>
          <p:cNvPr id="2041428314" name="Text 62"/>
          <p:cNvSpPr/>
          <p:nvPr/>
        </p:nvSpPr>
        <p:spPr bwMode="auto">
          <a:xfrm>
            <a:off x="3200400" y="2688336"/>
            <a:ext cx="813816" cy="246888"/>
          </a:xfrm>
          <a:prstGeom prst="rect">
            <a:avLst/>
          </a:prstGeom>
          <a:noFill/>
          <a:ln/>
        </p:spPr>
        <p:txBody>
          <a:bodyPr wrap="square" lIns="0" tIns="0" rIns="0" bIns="0" rtlCol="0" anchor="ctr">
            <a:normAutofit/>
          </a:bodyPr>
          <a:lstStyle/>
          <a:p>
            <a:pPr marL="0" indent="0">
              <a:buNone/>
              <a:defRPr/>
            </a:pPr>
            <a:r>
              <a:rPr lang="en-US" sz="500">
                <a:solidFill>
                  <a:srgbClr val="B8C2C3"/>
                </a:solidFill>
                <a:latin typeface="Asana"/>
                <a:ea typeface="Asana"/>
                <a:cs typeface="Asana"/>
              </a:rPr>
              <a:t>intent and fast path</a:t>
            </a:r>
            <a:endParaRPr sz="500">
              <a:latin typeface="Asana"/>
              <a:cs typeface="Asana"/>
            </a:endParaRPr>
          </a:p>
        </p:txBody>
      </p:sp>
      <p:sp>
        <p:nvSpPr>
          <p:cNvPr id="1084749623" name="Shape 63"/>
          <p:cNvSpPr/>
          <p:nvPr/>
        </p:nvSpPr>
        <p:spPr bwMode="auto">
          <a:xfrm>
            <a:off x="4288536" y="2395728"/>
            <a:ext cx="960120" cy="594360"/>
          </a:xfrm>
          <a:prstGeom prst="roundRect">
            <a:avLst>
              <a:gd name="adj" fmla="val 7692"/>
            </a:avLst>
          </a:prstGeom>
          <a:solidFill>
            <a:srgbClr val="101B1F"/>
          </a:solidFill>
          <a:ln w="11430">
            <a:solidFill>
              <a:srgbClr val="2E865F"/>
            </a:solidFill>
            <a:prstDash val="solid"/>
          </a:ln>
        </p:spPr>
        <p:txBody>
          <a:bodyPr anchor="ctr"/>
          <a:p>
            <a:pPr algn="ctr">
              <a:defRPr/>
            </a:pPr>
            <a:endParaRPr>
              <a:latin typeface="Asana"/>
              <a:cs typeface="Asana"/>
            </a:endParaRPr>
          </a:p>
        </p:txBody>
      </p:sp>
      <p:sp>
        <p:nvSpPr>
          <p:cNvPr id="71785899" name="Text 64"/>
          <p:cNvSpPr/>
          <p:nvPr/>
        </p:nvSpPr>
        <p:spPr bwMode="auto">
          <a:xfrm>
            <a:off x="4361688" y="2478024"/>
            <a:ext cx="813816" cy="146304"/>
          </a:xfrm>
          <a:prstGeom prst="rect">
            <a:avLst/>
          </a:prstGeom>
          <a:noFill/>
          <a:ln/>
        </p:spPr>
        <p:txBody>
          <a:bodyPr wrap="square" lIns="0" tIns="0" rIns="0" bIns="0" rtlCol="0" anchor="ctr">
            <a:normAutofit/>
          </a:bodyPr>
          <a:lstStyle/>
          <a:p>
            <a:pPr marL="0" indent="0">
              <a:buNone/>
              <a:defRPr/>
            </a:pPr>
            <a:r>
              <a:rPr lang="en-US" sz="700" b="1">
                <a:solidFill>
                  <a:srgbClr val="F4EFEA"/>
                </a:solidFill>
                <a:latin typeface="Asana"/>
                <a:ea typeface="Asana"/>
                <a:cs typeface="Asana"/>
              </a:rPr>
              <a:t>Region</a:t>
            </a:r>
            <a:endParaRPr sz="700">
              <a:latin typeface="Asana"/>
              <a:cs typeface="Asana"/>
            </a:endParaRPr>
          </a:p>
        </p:txBody>
      </p:sp>
      <p:sp>
        <p:nvSpPr>
          <p:cNvPr id="1589925934" name="Text 65"/>
          <p:cNvSpPr/>
          <p:nvPr/>
        </p:nvSpPr>
        <p:spPr bwMode="auto">
          <a:xfrm>
            <a:off x="4361688" y="2688336"/>
            <a:ext cx="813816" cy="246888"/>
          </a:xfrm>
          <a:prstGeom prst="rect">
            <a:avLst/>
          </a:prstGeom>
          <a:noFill/>
          <a:ln/>
        </p:spPr>
        <p:txBody>
          <a:bodyPr wrap="square" lIns="0" tIns="0" rIns="0" bIns="0" rtlCol="0" anchor="ctr">
            <a:normAutofit/>
          </a:bodyPr>
          <a:lstStyle/>
          <a:p>
            <a:pPr marL="0" indent="0">
              <a:buNone/>
              <a:defRPr/>
            </a:pPr>
            <a:r>
              <a:rPr lang="en-US" sz="500">
                <a:solidFill>
                  <a:srgbClr val="B8C2C3"/>
                </a:solidFill>
                <a:latin typeface="Asana"/>
                <a:ea typeface="Asana"/>
                <a:cs typeface="Asana"/>
              </a:rPr>
              <a:t>registry + map state</a:t>
            </a:r>
            <a:endParaRPr sz="500">
              <a:latin typeface="Asana"/>
              <a:cs typeface="Asana"/>
            </a:endParaRPr>
          </a:p>
        </p:txBody>
      </p:sp>
      <p:sp>
        <p:nvSpPr>
          <p:cNvPr id="904576322" name="Shape 66"/>
          <p:cNvSpPr/>
          <p:nvPr/>
        </p:nvSpPr>
        <p:spPr bwMode="auto">
          <a:xfrm>
            <a:off x="5449823" y="2395728"/>
            <a:ext cx="960120" cy="594360"/>
          </a:xfrm>
          <a:prstGeom prst="roundRect">
            <a:avLst>
              <a:gd name="adj" fmla="val 7692"/>
            </a:avLst>
          </a:prstGeom>
          <a:solidFill>
            <a:srgbClr val="101B1F"/>
          </a:solidFill>
          <a:ln w="11430">
            <a:solidFill>
              <a:srgbClr val="108A98"/>
            </a:solidFill>
            <a:prstDash val="solid"/>
          </a:ln>
        </p:spPr>
        <p:txBody>
          <a:bodyPr anchor="ctr"/>
          <a:p>
            <a:pPr algn="ctr">
              <a:defRPr/>
            </a:pPr>
            <a:endParaRPr>
              <a:latin typeface="Asana"/>
              <a:cs typeface="Asana"/>
            </a:endParaRPr>
          </a:p>
        </p:txBody>
      </p:sp>
      <p:sp>
        <p:nvSpPr>
          <p:cNvPr id="1024680777" name="Text 67"/>
          <p:cNvSpPr/>
          <p:nvPr/>
        </p:nvSpPr>
        <p:spPr bwMode="auto">
          <a:xfrm>
            <a:off x="5522976" y="2478024"/>
            <a:ext cx="813816" cy="146304"/>
          </a:xfrm>
          <a:prstGeom prst="rect">
            <a:avLst/>
          </a:prstGeom>
          <a:noFill/>
          <a:ln/>
        </p:spPr>
        <p:txBody>
          <a:bodyPr wrap="square" lIns="0" tIns="0" rIns="0" bIns="0" rtlCol="0" anchor="ctr">
            <a:normAutofit/>
          </a:bodyPr>
          <a:lstStyle/>
          <a:p>
            <a:pPr marL="0" indent="0">
              <a:buNone/>
              <a:defRPr/>
            </a:pPr>
            <a:r>
              <a:rPr lang="en-US" sz="700" b="1">
                <a:solidFill>
                  <a:srgbClr val="F4EFEA"/>
                </a:solidFill>
                <a:latin typeface="Asana"/>
                <a:ea typeface="Asana"/>
                <a:cs typeface="Asana"/>
              </a:rPr>
              <a:t>Analytics</a:t>
            </a:r>
            <a:endParaRPr sz="700">
              <a:latin typeface="Asana"/>
              <a:cs typeface="Asana"/>
            </a:endParaRPr>
          </a:p>
        </p:txBody>
      </p:sp>
      <p:sp>
        <p:nvSpPr>
          <p:cNvPr id="2097430014" name="Text 68"/>
          <p:cNvSpPr/>
          <p:nvPr/>
        </p:nvSpPr>
        <p:spPr bwMode="auto">
          <a:xfrm>
            <a:off x="5522976" y="2688336"/>
            <a:ext cx="813816" cy="246888"/>
          </a:xfrm>
          <a:prstGeom prst="rect">
            <a:avLst/>
          </a:prstGeom>
          <a:noFill/>
          <a:ln/>
        </p:spPr>
        <p:txBody>
          <a:bodyPr wrap="square" lIns="0" tIns="0" rIns="0" bIns="0" rtlCol="0" anchor="ctr">
            <a:normAutofit/>
          </a:bodyPr>
          <a:lstStyle/>
          <a:p>
            <a:pPr marL="0" indent="0">
              <a:buNone/>
              <a:defRPr/>
            </a:pPr>
            <a:r>
              <a:rPr lang="en-US" sz="500">
                <a:solidFill>
                  <a:srgbClr val="B8C2C3"/>
                </a:solidFill>
                <a:latin typeface="Asana"/>
                <a:ea typeface="Asana"/>
                <a:cs typeface="Asana"/>
              </a:rPr>
              <a:t>FastAPI telemetry</a:t>
            </a:r>
            <a:endParaRPr sz="500">
              <a:latin typeface="Asana"/>
              <a:cs typeface="Asana"/>
            </a:endParaRPr>
          </a:p>
        </p:txBody>
      </p:sp>
      <p:sp>
        <p:nvSpPr>
          <p:cNvPr id="304086749" name="Shape 69"/>
          <p:cNvSpPr/>
          <p:nvPr/>
        </p:nvSpPr>
        <p:spPr bwMode="auto">
          <a:xfrm>
            <a:off x="6611112" y="2395728"/>
            <a:ext cx="960120" cy="594360"/>
          </a:xfrm>
          <a:prstGeom prst="roundRect">
            <a:avLst>
              <a:gd name="adj" fmla="val 7692"/>
            </a:avLst>
          </a:prstGeom>
          <a:solidFill>
            <a:srgbClr val="101B1F"/>
          </a:solidFill>
          <a:ln w="11430">
            <a:solidFill>
              <a:srgbClr val="C28722"/>
            </a:solidFill>
            <a:prstDash val="solid"/>
          </a:ln>
        </p:spPr>
        <p:txBody>
          <a:bodyPr anchor="ctr"/>
          <a:p>
            <a:pPr algn="ctr">
              <a:defRPr/>
            </a:pPr>
            <a:endParaRPr>
              <a:latin typeface="Asana"/>
              <a:cs typeface="Asana"/>
            </a:endParaRPr>
          </a:p>
        </p:txBody>
      </p:sp>
      <p:sp>
        <p:nvSpPr>
          <p:cNvPr id="569304119" name="Text 70"/>
          <p:cNvSpPr/>
          <p:nvPr/>
        </p:nvSpPr>
        <p:spPr bwMode="auto">
          <a:xfrm>
            <a:off x="6684264" y="2478024"/>
            <a:ext cx="813816" cy="146304"/>
          </a:xfrm>
          <a:prstGeom prst="rect">
            <a:avLst/>
          </a:prstGeom>
          <a:noFill/>
          <a:ln/>
        </p:spPr>
        <p:txBody>
          <a:bodyPr wrap="square" lIns="0" tIns="0" rIns="0" bIns="0" rtlCol="0" anchor="ctr">
            <a:normAutofit/>
          </a:bodyPr>
          <a:lstStyle/>
          <a:p>
            <a:pPr marL="0" indent="0">
              <a:buNone/>
              <a:defRPr/>
            </a:pPr>
            <a:r>
              <a:rPr lang="en-US" sz="700" b="1">
                <a:solidFill>
                  <a:srgbClr val="F4EFEA"/>
                </a:solidFill>
                <a:latin typeface="Asana"/>
                <a:ea typeface="Asana"/>
                <a:cs typeface="Asana"/>
              </a:rPr>
              <a:t>State vector</a:t>
            </a:r>
            <a:endParaRPr sz="700">
              <a:latin typeface="Asana"/>
              <a:cs typeface="Asana"/>
            </a:endParaRPr>
          </a:p>
        </p:txBody>
      </p:sp>
      <p:sp>
        <p:nvSpPr>
          <p:cNvPr id="947241911" name="Text 71"/>
          <p:cNvSpPr/>
          <p:nvPr/>
        </p:nvSpPr>
        <p:spPr bwMode="auto">
          <a:xfrm>
            <a:off x="6684264" y="2688336"/>
            <a:ext cx="813816" cy="246888"/>
          </a:xfrm>
          <a:prstGeom prst="rect">
            <a:avLst/>
          </a:prstGeom>
          <a:noFill/>
          <a:ln/>
        </p:spPr>
        <p:txBody>
          <a:bodyPr wrap="square" lIns="0" tIns="0" rIns="0" bIns="0" rtlCol="0" anchor="ctr">
            <a:normAutofit/>
          </a:bodyPr>
          <a:lstStyle/>
          <a:p>
            <a:pPr marL="0" indent="0">
              <a:buNone/>
              <a:defRPr/>
            </a:pPr>
            <a:r>
              <a:rPr lang="en-US" sz="500">
                <a:solidFill>
                  <a:srgbClr val="B8C2C3"/>
                </a:solidFill>
                <a:latin typeface="Asana"/>
                <a:ea typeface="Asana"/>
                <a:cs typeface="Asana"/>
              </a:rPr>
              <a:t>bounded evidence</a:t>
            </a:r>
            <a:endParaRPr sz="500">
              <a:latin typeface="Asana"/>
              <a:cs typeface="Asana"/>
            </a:endParaRPr>
          </a:p>
        </p:txBody>
      </p:sp>
      <p:sp>
        <p:nvSpPr>
          <p:cNvPr id="591248624" name="Shape 72"/>
          <p:cNvSpPr/>
          <p:nvPr/>
        </p:nvSpPr>
        <p:spPr bwMode="auto">
          <a:xfrm>
            <a:off x="7772400" y="2395728"/>
            <a:ext cx="960120" cy="594360"/>
          </a:xfrm>
          <a:prstGeom prst="roundRect">
            <a:avLst>
              <a:gd name="adj" fmla="val 7692"/>
            </a:avLst>
          </a:prstGeom>
          <a:solidFill>
            <a:srgbClr val="101B1F"/>
          </a:solidFill>
          <a:ln w="11430">
            <a:solidFill>
              <a:srgbClr val="108A98"/>
            </a:solidFill>
            <a:prstDash val="solid"/>
          </a:ln>
        </p:spPr>
        <p:txBody>
          <a:bodyPr anchor="ctr"/>
          <a:p>
            <a:pPr algn="ctr">
              <a:defRPr/>
            </a:pPr>
            <a:endParaRPr>
              <a:latin typeface="Asana"/>
              <a:cs typeface="Asana"/>
            </a:endParaRPr>
          </a:p>
        </p:txBody>
      </p:sp>
      <p:sp>
        <p:nvSpPr>
          <p:cNvPr id="816733016" name="Text 73"/>
          <p:cNvSpPr/>
          <p:nvPr/>
        </p:nvSpPr>
        <p:spPr bwMode="auto">
          <a:xfrm>
            <a:off x="7845552" y="2478024"/>
            <a:ext cx="813816" cy="146304"/>
          </a:xfrm>
          <a:prstGeom prst="rect">
            <a:avLst/>
          </a:prstGeom>
          <a:noFill/>
          <a:ln/>
        </p:spPr>
        <p:txBody>
          <a:bodyPr wrap="square" lIns="0" tIns="0" rIns="0" bIns="0" rtlCol="0" anchor="ctr">
            <a:normAutofit/>
          </a:bodyPr>
          <a:lstStyle/>
          <a:p>
            <a:pPr marL="0" indent="0">
              <a:buNone/>
              <a:defRPr/>
            </a:pPr>
            <a:r>
              <a:rPr lang="en-US" sz="700" b="1">
                <a:solidFill>
                  <a:srgbClr val="F4EFEA"/>
                </a:solidFill>
                <a:latin typeface="Asana"/>
                <a:ea typeface="Asana"/>
                <a:cs typeface="Asana"/>
              </a:rPr>
              <a:t>Depth route</a:t>
            </a:r>
            <a:endParaRPr sz="700">
              <a:latin typeface="Asana"/>
              <a:cs typeface="Asana"/>
            </a:endParaRPr>
          </a:p>
        </p:txBody>
      </p:sp>
      <p:sp>
        <p:nvSpPr>
          <p:cNvPr id="1670841095" name="Text 74"/>
          <p:cNvSpPr/>
          <p:nvPr/>
        </p:nvSpPr>
        <p:spPr bwMode="auto">
          <a:xfrm>
            <a:off x="7845552" y="2688336"/>
            <a:ext cx="813816" cy="246888"/>
          </a:xfrm>
          <a:prstGeom prst="rect">
            <a:avLst/>
          </a:prstGeom>
          <a:noFill/>
          <a:ln/>
        </p:spPr>
        <p:txBody>
          <a:bodyPr wrap="square" lIns="0" tIns="0" rIns="0" bIns="0" rtlCol="0" anchor="ctr">
            <a:normAutofit/>
          </a:bodyPr>
          <a:lstStyle/>
          <a:p>
            <a:pPr marL="0" indent="0">
              <a:buNone/>
              <a:defRPr/>
            </a:pPr>
            <a:r>
              <a:rPr lang="en-US" sz="500">
                <a:solidFill>
                  <a:srgbClr val="B8C2C3"/>
                </a:solidFill>
                <a:latin typeface="Asana"/>
                <a:ea typeface="Asana"/>
                <a:cs typeface="Asana"/>
              </a:rPr>
              <a:t>fast or specialist</a:t>
            </a:r>
            <a:endParaRPr sz="500">
              <a:latin typeface="Asana"/>
              <a:cs typeface="Asana"/>
            </a:endParaRPr>
          </a:p>
        </p:txBody>
      </p:sp>
      <p:sp>
        <p:nvSpPr>
          <p:cNvPr id="515576667" name="Shape 75"/>
          <p:cNvSpPr/>
          <p:nvPr/>
        </p:nvSpPr>
        <p:spPr bwMode="auto">
          <a:xfrm>
            <a:off x="8933688" y="2395728"/>
            <a:ext cx="960120" cy="594360"/>
          </a:xfrm>
          <a:prstGeom prst="roundRect">
            <a:avLst>
              <a:gd name="adj" fmla="val 7692"/>
            </a:avLst>
          </a:prstGeom>
          <a:solidFill>
            <a:srgbClr val="101B1F"/>
          </a:solidFill>
          <a:ln w="11430">
            <a:solidFill>
              <a:srgbClr val="6C6B65"/>
            </a:solidFill>
            <a:prstDash val="solid"/>
          </a:ln>
        </p:spPr>
        <p:txBody>
          <a:bodyPr anchor="ctr"/>
          <a:p>
            <a:pPr algn="ctr">
              <a:defRPr/>
            </a:pPr>
            <a:endParaRPr>
              <a:latin typeface="Asana"/>
              <a:cs typeface="Asana"/>
            </a:endParaRPr>
          </a:p>
        </p:txBody>
      </p:sp>
      <p:sp>
        <p:nvSpPr>
          <p:cNvPr id="2108517618" name="Text 76"/>
          <p:cNvSpPr/>
          <p:nvPr/>
        </p:nvSpPr>
        <p:spPr bwMode="auto">
          <a:xfrm>
            <a:off x="9006840" y="2478024"/>
            <a:ext cx="813816" cy="146304"/>
          </a:xfrm>
          <a:prstGeom prst="rect">
            <a:avLst/>
          </a:prstGeom>
          <a:noFill/>
          <a:ln/>
        </p:spPr>
        <p:txBody>
          <a:bodyPr wrap="square" lIns="0" tIns="0" rIns="0" bIns="0" rtlCol="0" anchor="ctr">
            <a:normAutofit/>
          </a:bodyPr>
          <a:lstStyle/>
          <a:p>
            <a:pPr marL="0" indent="0">
              <a:buNone/>
              <a:defRPr/>
            </a:pPr>
            <a:r>
              <a:rPr lang="en-US" sz="700" b="1">
                <a:solidFill>
                  <a:srgbClr val="F4EFEA"/>
                </a:solidFill>
                <a:latin typeface="Asana"/>
                <a:ea typeface="Asana"/>
                <a:cs typeface="Asana"/>
              </a:rPr>
              <a:t>Assembler</a:t>
            </a:r>
            <a:endParaRPr sz="700">
              <a:latin typeface="Asana"/>
              <a:cs typeface="Asana"/>
            </a:endParaRPr>
          </a:p>
        </p:txBody>
      </p:sp>
      <p:sp>
        <p:nvSpPr>
          <p:cNvPr id="737023643" name="Text 77"/>
          <p:cNvSpPr/>
          <p:nvPr/>
        </p:nvSpPr>
        <p:spPr bwMode="auto">
          <a:xfrm>
            <a:off x="9006840" y="2688336"/>
            <a:ext cx="813816" cy="246888"/>
          </a:xfrm>
          <a:prstGeom prst="rect">
            <a:avLst/>
          </a:prstGeom>
          <a:noFill/>
          <a:ln/>
        </p:spPr>
        <p:txBody>
          <a:bodyPr wrap="square" lIns="0" tIns="0" rIns="0" bIns="0" rtlCol="0" anchor="ctr">
            <a:normAutofit/>
          </a:bodyPr>
          <a:lstStyle/>
          <a:p>
            <a:pPr marL="0" indent="0">
              <a:buNone/>
              <a:defRPr/>
            </a:pPr>
            <a:r>
              <a:rPr lang="en-US" sz="500">
                <a:solidFill>
                  <a:srgbClr val="B8C2C3"/>
                </a:solidFill>
                <a:latin typeface="Asana"/>
                <a:ea typeface="Asana"/>
                <a:cs typeface="Asana"/>
              </a:rPr>
              <a:t>strict JSON builder</a:t>
            </a:r>
            <a:endParaRPr sz="500">
              <a:latin typeface="Asana"/>
              <a:cs typeface="Asana"/>
            </a:endParaRPr>
          </a:p>
        </p:txBody>
      </p:sp>
      <p:sp>
        <p:nvSpPr>
          <p:cNvPr id="100690494" name="Shape 78"/>
          <p:cNvSpPr/>
          <p:nvPr/>
        </p:nvSpPr>
        <p:spPr bwMode="auto">
          <a:xfrm>
            <a:off x="10094976" y="2395728"/>
            <a:ext cx="960120" cy="594360"/>
          </a:xfrm>
          <a:prstGeom prst="roundRect">
            <a:avLst>
              <a:gd name="adj" fmla="val 7692"/>
            </a:avLst>
          </a:prstGeom>
          <a:solidFill>
            <a:srgbClr val="101B1F"/>
          </a:solidFill>
          <a:ln w="11430">
            <a:solidFill>
              <a:srgbClr val="108A98"/>
            </a:solidFill>
            <a:prstDash val="solid"/>
          </a:ln>
        </p:spPr>
        <p:txBody>
          <a:bodyPr anchor="ctr"/>
          <a:p>
            <a:pPr algn="ctr">
              <a:defRPr/>
            </a:pPr>
            <a:endParaRPr>
              <a:latin typeface="Asana"/>
              <a:cs typeface="Asana"/>
            </a:endParaRPr>
          </a:p>
        </p:txBody>
      </p:sp>
      <p:sp>
        <p:nvSpPr>
          <p:cNvPr id="1617384011" name="Text 79"/>
          <p:cNvSpPr/>
          <p:nvPr/>
        </p:nvSpPr>
        <p:spPr bwMode="auto">
          <a:xfrm>
            <a:off x="10168128" y="2478024"/>
            <a:ext cx="813816" cy="146304"/>
          </a:xfrm>
          <a:prstGeom prst="rect">
            <a:avLst/>
          </a:prstGeom>
          <a:noFill/>
          <a:ln/>
        </p:spPr>
        <p:txBody>
          <a:bodyPr wrap="square" lIns="0" tIns="0" rIns="0" bIns="0" rtlCol="0" anchor="ctr">
            <a:normAutofit/>
          </a:bodyPr>
          <a:lstStyle/>
          <a:p>
            <a:pPr marL="0" indent="0">
              <a:buNone/>
              <a:defRPr/>
            </a:pPr>
            <a:r>
              <a:rPr lang="en-US" sz="700" b="1">
                <a:solidFill>
                  <a:srgbClr val="F4EFEA"/>
                </a:solidFill>
                <a:latin typeface="Asana"/>
                <a:ea typeface="Asana"/>
                <a:cs typeface="Asana"/>
              </a:rPr>
              <a:t>Response</a:t>
            </a:r>
            <a:endParaRPr sz="700">
              <a:latin typeface="Asana"/>
              <a:cs typeface="Asana"/>
            </a:endParaRPr>
          </a:p>
        </p:txBody>
      </p:sp>
      <p:sp>
        <p:nvSpPr>
          <p:cNvPr id="1088481823" name="Text 80"/>
          <p:cNvSpPr/>
          <p:nvPr/>
        </p:nvSpPr>
        <p:spPr bwMode="auto">
          <a:xfrm>
            <a:off x="10168128" y="2688336"/>
            <a:ext cx="813816" cy="246888"/>
          </a:xfrm>
          <a:prstGeom prst="rect">
            <a:avLst/>
          </a:prstGeom>
          <a:noFill/>
          <a:ln/>
        </p:spPr>
        <p:txBody>
          <a:bodyPr wrap="square" lIns="0" tIns="0" rIns="0" bIns="0" rtlCol="0" anchor="ctr">
            <a:normAutofit/>
          </a:bodyPr>
          <a:lstStyle/>
          <a:p>
            <a:pPr marL="0" indent="0">
              <a:buNone/>
              <a:defRPr/>
            </a:pPr>
            <a:r>
              <a:rPr lang="en-US" sz="500">
                <a:solidFill>
                  <a:srgbClr val="B8C2C3"/>
                </a:solidFill>
                <a:latin typeface="Asana"/>
                <a:ea typeface="Asana"/>
                <a:cs typeface="Asana"/>
              </a:rPr>
              <a:t>chat / report JSON</a:t>
            </a:r>
            <a:endParaRPr sz="500">
              <a:latin typeface="Asana"/>
              <a:cs typeface="Asana"/>
            </a:endParaRPr>
          </a:p>
        </p:txBody>
      </p:sp>
      <p:sp>
        <p:nvSpPr>
          <p:cNvPr id="772124187" name="Shape 81"/>
          <p:cNvSpPr/>
          <p:nvPr/>
        </p:nvSpPr>
        <p:spPr bwMode="auto">
          <a:xfrm>
            <a:off x="960120" y="4343400"/>
            <a:ext cx="1143000" cy="640080"/>
          </a:xfrm>
          <a:prstGeom prst="roundRect">
            <a:avLst>
              <a:gd name="adj" fmla="val 7143"/>
            </a:avLst>
          </a:prstGeom>
          <a:solidFill>
            <a:srgbClr val="101B1F"/>
          </a:solidFill>
          <a:ln w="11430">
            <a:solidFill>
              <a:srgbClr val="C28722"/>
            </a:solidFill>
            <a:prstDash val="solid"/>
          </a:ln>
        </p:spPr>
        <p:txBody>
          <a:bodyPr anchor="ctr"/>
          <a:p>
            <a:pPr algn="ctr">
              <a:defRPr/>
            </a:pPr>
            <a:endParaRPr>
              <a:latin typeface="Asana"/>
              <a:cs typeface="Asana"/>
            </a:endParaRPr>
          </a:p>
        </p:txBody>
      </p:sp>
      <p:sp>
        <p:nvSpPr>
          <p:cNvPr id="1941696219" name="Text 82"/>
          <p:cNvSpPr/>
          <p:nvPr/>
        </p:nvSpPr>
        <p:spPr bwMode="auto">
          <a:xfrm>
            <a:off x="1033272" y="4425696"/>
            <a:ext cx="996696" cy="146304"/>
          </a:xfrm>
          <a:prstGeom prst="rect">
            <a:avLst/>
          </a:prstGeom>
          <a:noFill/>
          <a:ln/>
        </p:spPr>
        <p:txBody>
          <a:bodyPr wrap="square" lIns="0" tIns="0" rIns="0" bIns="0" rtlCol="0" anchor="ctr">
            <a:normAutofit/>
          </a:bodyPr>
          <a:lstStyle/>
          <a:p>
            <a:pPr marL="0" indent="0">
              <a:buNone/>
              <a:defRPr/>
            </a:pPr>
            <a:r>
              <a:rPr lang="en-US" sz="700" b="1">
                <a:solidFill>
                  <a:srgbClr val="F4EFEA"/>
                </a:solidFill>
                <a:latin typeface="Asana"/>
                <a:ea typeface="Asana"/>
                <a:cs typeface="Asana"/>
              </a:rPr>
              <a:t>Fast route</a:t>
            </a:r>
            <a:endParaRPr sz="700">
              <a:latin typeface="Asana"/>
              <a:cs typeface="Asana"/>
            </a:endParaRPr>
          </a:p>
        </p:txBody>
      </p:sp>
      <p:sp>
        <p:nvSpPr>
          <p:cNvPr id="304064903" name="Text 83"/>
          <p:cNvSpPr/>
          <p:nvPr/>
        </p:nvSpPr>
        <p:spPr bwMode="auto">
          <a:xfrm>
            <a:off x="1033272" y="4636008"/>
            <a:ext cx="996696" cy="292608"/>
          </a:xfrm>
          <a:prstGeom prst="rect">
            <a:avLst/>
          </a:prstGeom>
          <a:noFill/>
          <a:ln/>
        </p:spPr>
        <p:txBody>
          <a:bodyPr wrap="square" lIns="0" tIns="0" rIns="0" bIns="0" rtlCol="0" anchor="ctr">
            <a:normAutofit/>
          </a:bodyPr>
          <a:lstStyle/>
          <a:p>
            <a:pPr marL="0" indent="0">
              <a:buNone/>
              <a:defRPr/>
            </a:pPr>
            <a:r>
              <a:rPr lang="en-US" sz="500">
                <a:solidFill>
                  <a:srgbClr val="B8C2C3"/>
                </a:solidFill>
                <a:latin typeface="Asana"/>
                <a:ea typeface="Asana"/>
                <a:cs typeface="Asana"/>
              </a:rPr>
              <a:t>direct metric or FAQ</a:t>
            </a:r>
            <a:endParaRPr sz="500">
              <a:latin typeface="Asana"/>
              <a:cs typeface="Asana"/>
            </a:endParaRPr>
          </a:p>
        </p:txBody>
      </p:sp>
      <p:sp>
        <p:nvSpPr>
          <p:cNvPr id="1446508831" name="Shape 84"/>
          <p:cNvSpPr/>
          <p:nvPr/>
        </p:nvSpPr>
        <p:spPr bwMode="auto">
          <a:xfrm>
            <a:off x="2606040" y="4343400"/>
            <a:ext cx="1143000" cy="640080"/>
          </a:xfrm>
          <a:prstGeom prst="roundRect">
            <a:avLst>
              <a:gd name="adj" fmla="val 7143"/>
            </a:avLst>
          </a:prstGeom>
          <a:solidFill>
            <a:srgbClr val="101B1F"/>
          </a:solidFill>
          <a:ln w="11430">
            <a:solidFill>
              <a:srgbClr val="108A98"/>
            </a:solidFill>
            <a:prstDash val="solid"/>
          </a:ln>
        </p:spPr>
        <p:txBody>
          <a:bodyPr anchor="ctr"/>
          <a:p>
            <a:pPr algn="ctr">
              <a:defRPr/>
            </a:pPr>
            <a:endParaRPr>
              <a:latin typeface="Asana"/>
              <a:cs typeface="Asana"/>
            </a:endParaRPr>
          </a:p>
        </p:txBody>
      </p:sp>
      <p:sp>
        <p:nvSpPr>
          <p:cNvPr id="1252938022" name="Text 85"/>
          <p:cNvSpPr/>
          <p:nvPr/>
        </p:nvSpPr>
        <p:spPr bwMode="auto">
          <a:xfrm>
            <a:off x="2679192" y="4425696"/>
            <a:ext cx="996696" cy="146304"/>
          </a:xfrm>
          <a:prstGeom prst="rect">
            <a:avLst/>
          </a:prstGeom>
          <a:noFill/>
          <a:ln/>
        </p:spPr>
        <p:txBody>
          <a:bodyPr wrap="square" lIns="0" tIns="0" rIns="0" bIns="0" rtlCol="0" anchor="ctr">
            <a:normAutofit/>
          </a:bodyPr>
          <a:lstStyle/>
          <a:p>
            <a:pPr marL="0" indent="0">
              <a:buNone/>
              <a:defRPr/>
            </a:pPr>
            <a:r>
              <a:rPr lang="en-US" sz="700" b="1">
                <a:solidFill>
                  <a:srgbClr val="F4EFEA"/>
                </a:solidFill>
                <a:latin typeface="Asana"/>
                <a:ea typeface="Asana"/>
                <a:cs typeface="Asana"/>
              </a:rPr>
              <a:t>Research</a:t>
            </a:r>
            <a:endParaRPr sz="700">
              <a:latin typeface="Asana"/>
              <a:cs typeface="Asana"/>
            </a:endParaRPr>
          </a:p>
        </p:txBody>
      </p:sp>
      <p:sp>
        <p:nvSpPr>
          <p:cNvPr id="1417868596" name="Text 86"/>
          <p:cNvSpPr/>
          <p:nvPr/>
        </p:nvSpPr>
        <p:spPr bwMode="auto">
          <a:xfrm>
            <a:off x="2679192" y="4636008"/>
            <a:ext cx="996696" cy="292608"/>
          </a:xfrm>
          <a:prstGeom prst="rect">
            <a:avLst/>
          </a:prstGeom>
          <a:noFill/>
          <a:ln/>
        </p:spPr>
        <p:txBody>
          <a:bodyPr wrap="square" lIns="0" tIns="0" rIns="0" bIns="0" rtlCol="0" anchor="ctr">
            <a:normAutofit/>
          </a:bodyPr>
          <a:lstStyle/>
          <a:p>
            <a:pPr marL="0" indent="0">
              <a:buNone/>
              <a:defRPr/>
            </a:pPr>
            <a:r>
              <a:rPr lang="en-US" sz="500">
                <a:solidFill>
                  <a:srgbClr val="B8C2C3"/>
                </a:solidFill>
                <a:latin typeface="Asana"/>
                <a:ea typeface="Asana"/>
                <a:cs typeface="Asana"/>
              </a:rPr>
              <a:t>evidence meaning</a:t>
            </a:r>
            <a:endParaRPr sz="500">
              <a:latin typeface="Asana"/>
              <a:cs typeface="Asana"/>
            </a:endParaRPr>
          </a:p>
        </p:txBody>
      </p:sp>
      <p:sp>
        <p:nvSpPr>
          <p:cNvPr id="1631279218" name="Shape 87"/>
          <p:cNvSpPr/>
          <p:nvPr/>
        </p:nvSpPr>
        <p:spPr bwMode="auto">
          <a:xfrm>
            <a:off x="4251960" y="4343400"/>
            <a:ext cx="1143000" cy="640080"/>
          </a:xfrm>
          <a:prstGeom prst="roundRect">
            <a:avLst>
              <a:gd name="adj" fmla="val 7143"/>
            </a:avLst>
          </a:prstGeom>
          <a:solidFill>
            <a:srgbClr val="101B1F"/>
          </a:solidFill>
          <a:ln w="11430">
            <a:solidFill>
              <a:srgbClr val="2E865F"/>
            </a:solidFill>
            <a:prstDash val="solid"/>
          </a:ln>
        </p:spPr>
        <p:txBody>
          <a:bodyPr anchor="ctr"/>
          <a:p>
            <a:pPr algn="ctr">
              <a:defRPr/>
            </a:pPr>
            <a:endParaRPr>
              <a:latin typeface="Asana"/>
              <a:cs typeface="Asana"/>
            </a:endParaRPr>
          </a:p>
        </p:txBody>
      </p:sp>
      <p:sp>
        <p:nvSpPr>
          <p:cNvPr id="883801229" name="Text 88"/>
          <p:cNvSpPr/>
          <p:nvPr/>
        </p:nvSpPr>
        <p:spPr bwMode="auto">
          <a:xfrm>
            <a:off x="4325112" y="4425696"/>
            <a:ext cx="996696" cy="146304"/>
          </a:xfrm>
          <a:prstGeom prst="rect">
            <a:avLst/>
          </a:prstGeom>
          <a:noFill/>
          <a:ln/>
        </p:spPr>
        <p:txBody>
          <a:bodyPr wrap="square" lIns="0" tIns="0" rIns="0" bIns="0" rtlCol="0" anchor="ctr">
            <a:normAutofit/>
          </a:bodyPr>
          <a:lstStyle/>
          <a:p>
            <a:pPr marL="0" indent="0">
              <a:buNone/>
              <a:defRPr/>
            </a:pPr>
            <a:r>
              <a:rPr lang="en-US" sz="700" b="1">
                <a:solidFill>
                  <a:srgbClr val="F4EFEA"/>
                </a:solidFill>
                <a:latin typeface="Asana"/>
                <a:ea typeface="Asana"/>
                <a:cs typeface="Asana"/>
              </a:rPr>
              <a:t>Agriculture</a:t>
            </a:r>
            <a:endParaRPr sz="700">
              <a:latin typeface="Asana"/>
              <a:cs typeface="Asana"/>
            </a:endParaRPr>
          </a:p>
        </p:txBody>
      </p:sp>
      <p:sp>
        <p:nvSpPr>
          <p:cNvPr id="1934566381" name="Text 89"/>
          <p:cNvSpPr/>
          <p:nvPr/>
        </p:nvSpPr>
        <p:spPr bwMode="auto">
          <a:xfrm>
            <a:off x="4325112" y="4636008"/>
            <a:ext cx="996696" cy="292608"/>
          </a:xfrm>
          <a:prstGeom prst="rect">
            <a:avLst/>
          </a:prstGeom>
          <a:noFill/>
          <a:ln/>
        </p:spPr>
        <p:txBody>
          <a:bodyPr wrap="square" lIns="0" tIns="0" rIns="0" bIns="0" rtlCol="0" anchor="ctr">
            <a:normAutofit/>
          </a:bodyPr>
          <a:lstStyle/>
          <a:p>
            <a:pPr marL="0" indent="0">
              <a:buNone/>
              <a:defRPr/>
            </a:pPr>
            <a:r>
              <a:rPr lang="en-US" sz="500">
                <a:solidFill>
                  <a:srgbClr val="B8C2C3"/>
                </a:solidFill>
                <a:latin typeface="Asana"/>
                <a:ea typeface="Asana"/>
                <a:cs typeface="Asana"/>
              </a:rPr>
              <a:t>crop and water</a:t>
            </a:r>
            <a:endParaRPr sz="500">
              <a:latin typeface="Asana"/>
              <a:cs typeface="Asana"/>
            </a:endParaRPr>
          </a:p>
        </p:txBody>
      </p:sp>
      <p:sp>
        <p:nvSpPr>
          <p:cNvPr id="1663663518" name="Shape 90"/>
          <p:cNvSpPr/>
          <p:nvPr/>
        </p:nvSpPr>
        <p:spPr bwMode="auto">
          <a:xfrm>
            <a:off x="5897880" y="4343400"/>
            <a:ext cx="1143000" cy="640080"/>
          </a:xfrm>
          <a:prstGeom prst="roundRect">
            <a:avLst>
              <a:gd name="adj" fmla="val 7143"/>
            </a:avLst>
          </a:prstGeom>
          <a:solidFill>
            <a:srgbClr val="101B1F"/>
          </a:solidFill>
          <a:ln w="11430">
            <a:solidFill>
              <a:srgbClr val="C28722"/>
            </a:solidFill>
            <a:prstDash val="solid"/>
          </a:ln>
        </p:spPr>
        <p:txBody>
          <a:bodyPr anchor="ctr"/>
          <a:p>
            <a:pPr algn="ctr">
              <a:defRPr/>
            </a:pPr>
            <a:endParaRPr>
              <a:latin typeface="Asana"/>
              <a:cs typeface="Asana"/>
            </a:endParaRPr>
          </a:p>
        </p:txBody>
      </p:sp>
      <p:sp>
        <p:nvSpPr>
          <p:cNvPr id="1655822559" name="Text 91"/>
          <p:cNvSpPr/>
          <p:nvPr/>
        </p:nvSpPr>
        <p:spPr bwMode="auto">
          <a:xfrm>
            <a:off x="5971032" y="4425696"/>
            <a:ext cx="996696" cy="146304"/>
          </a:xfrm>
          <a:prstGeom prst="rect">
            <a:avLst/>
          </a:prstGeom>
          <a:noFill/>
          <a:ln/>
        </p:spPr>
        <p:txBody>
          <a:bodyPr wrap="square" lIns="0" tIns="0" rIns="0" bIns="0" rtlCol="0" anchor="ctr">
            <a:normAutofit/>
          </a:bodyPr>
          <a:lstStyle/>
          <a:p>
            <a:pPr marL="0" indent="0">
              <a:buNone/>
              <a:defRPr/>
            </a:pPr>
            <a:r>
              <a:rPr lang="en-US" sz="700" b="1">
                <a:solidFill>
                  <a:srgbClr val="F4EFEA"/>
                </a:solidFill>
                <a:latin typeface="Asana"/>
                <a:ea typeface="Asana"/>
                <a:cs typeface="Asana"/>
              </a:rPr>
              <a:t>Grid</a:t>
            </a:r>
            <a:endParaRPr sz="700">
              <a:latin typeface="Asana"/>
              <a:cs typeface="Asana"/>
            </a:endParaRPr>
          </a:p>
        </p:txBody>
      </p:sp>
      <p:sp>
        <p:nvSpPr>
          <p:cNvPr id="73034228" name="Text 92"/>
          <p:cNvSpPr/>
          <p:nvPr/>
        </p:nvSpPr>
        <p:spPr bwMode="auto">
          <a:xfrm>
            <a:off x="5971032" y="4636008"/>
            <a:ext cx="996696" cy="292608"/>
          </a:xfrm>
          <a:prstGeom prst="rect">
            <a:avLst/>
          </a:prstGeom>
          <a:noFill/>
          <a:ln/>
        </p:spPr>
        <p:txBody>
          <a:bodyPr wrap="square" lIns="0" tIns="0" rIns="0" bIns="0" rtlCol="0" anchor="ctr">
            <a:normAutofit/>
          </a:bodyPr>
          <a:lstStyle/>
          <a:p>
            <a:pPr marL="0" indent="0">
              <a:buNone/>
              <a:defRPr/>
            </a:pPr>
            <a:r>
              <a:rPr lang="en-US" sz="500">
                <a:solidFill>
                  <a:srgbClr val="B8C2C3"/>
                </a:solidFill>
                <a:latin typeface="Asana"/>
                <a:ea typeface="Asana"/>
                <a:cs typeface="Asana"/>
              </a:rPr>
              <a:t>capacity pressure</a:t>
            </a:r>
            <a:endParaRPr sz="500">
              <a:latin typeface="Asana"/>
              <a:cs typeface="Asana"/>
            </a:endParaRPr>
          </a:p>
        </p:txBody>
      </p:sp>
      <p:sp>
        <p:nvSpPr>
          <p:cNvPr id="1413262419" name="Shape 93"/>
          <p:cNvSpPr/>
          <p:nvPr/>
        </p:nvSpPr>
        <p:spPr bwMode="auto">
          <a:xfrm>
            <a:off x="7543800" y="4343400"/>
            <a:ext cx="1143000" cy="640080"/>
          </a:xfrm>
          <a:prstGeom prst="roundRect">
            <a:avLst>
              <a:gd name="adj" fmla="val 7143"/>
            </a:avLst>
          </a:prstGeom>
          <a:solidFill>
            <a:srgbClr val="101B1F"/>
          </a:solidFill>
          <a:ln w="11430">
            <a:solidFill>
              <a:srgbClr val="B4533B"/>
            </a:solidFill>
            <a:prstDash val="solid"/>
          </a:ln>
        </p:spPr>
        <p:txBody>
          <a:bodyPr anchor="ctr"/>
          <a:p>
            <a:pPr algn="ctr">
              <a:defRPr/>
            </a:pPr>
            <a:endParaRPr>
              <a:latin typeface="Asana"/>
              <a:cs typeface="Asana"/>
            </a:endParaRPr>
          </a:p>
        </p:txBody>
      </p:sp>
      <p:sp>
        <p:nvSpPr>
          <p:cNvPr id="1868685240" name="Text 94"/>
          <p:cNvSpPr/>
          <p:nvPr/>
        </p:nvSpPr>
        <p:spPr bwMode="auto">
          <a:xfrm>
            <a:off x="7616952" y="4425696"/>
            <a:ext cx="996696" cy="146304"/>
          </a:xfrm>
          <a:prstGeom prst="rect">
            <a:avLst/>
          </a:prstGeom>
          <a:noFill/>
          <a:ln/>
        </p:spPr>
        <p:txBody>
          <a:bodyPr wrap="square" lIns="0" tIns="0" rIns="0" bIns="0" rtlCol="0" anchor="ctr">
            <a:normAutofit/>
          </a:bodyPr>
          <a:lstStyle/>
          <a:p>
            <a:pPr marL="0" indent="0">
              <a:buNone/>
              <a:defRPr/>
            </a:pPr>
            <a:r>
              <a:rPr lang="en-US" sz="700" b="1">
                <a:solidFill>
                  <a:srgbClr val="F4EFEA"/>
                </a:solidFill>
                <a:latin typeface="Asana"/>
                <a:ea typeface="Asana"/>
                <a:cs typeface="Asana"/>
              </a:rPr>
              <a:t>Logistics</a:t>
            </a:r>
            <a:endParaRPr sz="700">
              <a:latin typeface="Asana"/>
              <a:cs typeface="Asana"/>
            </a:endParaRPr>
          </a:p>
        </p:txBody>
      </p:sp>
      <p:sp>
        <p:nvSpPr>
          <p:cNvPr id="1400553162" name="Text 95"/>
          <p:cNvSpPr/>
          <p:nvPr/>
        </p:nvSpPr>
        <p:spPr bwMode="auto">
          <a:xfrm>
            <a:off x="7616952" y="4636008"/>
            <a:ext cx="996696" cy="292608"/>
          </a:xfrm>
          <a:prstGeom prst="rect">
            <a:avLst/>
          </a:prstGeom>
          <a:noFill/>
          <a:ln/>
        </p:spPr>
        <p:txBody>
          <a:bodyPr wrap="square" lIns="0" tIns="0" rIns="0" bIns="0" rtlCol="0" anchor="ctr">
            <a:normAutofit/>
          </a:bodyPr>
          <a:lstStyle/>
          <a:p>
            <a:pPr marL="0" indent="0">
              <a:buNone/>
              <a:defRPr/>
            </a:pPr>
            <a:r>
              <a:rPr lang="en-US" sz="500">
                <a:solidFill>
                  <a:srgbClr val="B8C2C3"/>
                </a:solidFill>
                <a:latin typeface="Asana"/>
                <a:ea typeface="Asana"/>
                <a:cs typeface="Asana"/>
              </a:rPr>
              <a:t>route continuity</a:t>
            </a:r>
            <a:endParaRPr sz="500">
              <a:latin typeface="Asana"/>
              <a:cs typeface="Asana"/>
            </a:endParaRPr>
          </a:p>
        </p:txBody>
      </p:sp>
      <p:sp>
        <p:nvSpPr>
          <p:cNvPr id="2042159251" name="Shape 96"/>
          <p:cNvSpPr/>
          <p:nvPr/>
        </p:nvSpPr>
        <p:spPr bwMode="auto">
          <a:xfrm>
            <a:off x="9189720" y="4343400"/>
            <a:ext cx="1143000" cy="640080"/>
          </a:xfrm>
          <a:prstGeom prst="roundRect">
            <a:avLst>
              <a:gd name="adj" fmla="val 7143"/>
            </a:avLst>
          </a:prstGeom>
          <a:solidFill>
            <a:srgbClr val="101B1F"/>
          </a:solidFill>
          <a:ln w="11430">
            <a:solidFill>
              <a:srgbClr val="6C6B65"/>
            </a:solidFill>
            <a:prstDash val="solid"/>
          </a:ln>
        </p:spPr>
        <p:txBody>
          <a:bodyPr anchor="ctr"/>
          <a:p>
            <a:pPr algn="ctr">
              <a:defRPr/>
            </a:pPr>
            <a:endParaRPr>
              <a:latin typeface="Asana"/>
              <a:cs typeface="Asana"/>
            </a:endParaRPr>
          </a:p>
        </p:txBody>
      </p:sp>
      <p:sp>
        <p:nvSpPr>
          <p:cNvPr id="325503440" name="Text 97"/>
          <p:cNvSpPr/>
          <p:nvPr/>
        </p:nvSpPr>
        <p:spPr bwMode="auto">
          <a:xfrm>
            <a:off x="9262872" y="4425696"/>
            <a:ext cx="996696" cy="146304"/>
          </a:xfrm>
          <a:prstGeom prst="rect">
            <a:avLst/>
          </a:prstGeom>
          <a:noFill/>
          <a:ln/>
        </p:spPr>
        <p:txBody>
          <a:bodyPr wrap="square" lIns="0" tIns="0" rIns="0" bIns="0" rtlCol="0" anchor="ctr">
            <a:normAutofit/>
          </a:bodyPr>
          <a:lstStyle/>
          <a:p>
            <a:pPr marL="0" indent="0">
              <a:buNone/>
              <a:defRPr/>
            </a:pPr>
            <a:r>
              <a:rPr lang="en-US" sz="700" b="1">
                <a:solidFill>
                  <a:srgbClr val="F4EFEA"/>
                </a:solidFill>
                <a:latin typeface="Asana"/>
                <a:ea typeface="Asana"/>
                <a:cs typeface="Asana"/>
              </a:rPr>
              <a:t>Memory</a:t>
            </a:r>
            <a:endParaRPr sz="700">
              <a:latin typeface="Asana"/>
              <a:cs typeface="Asana"/>
            </a:endParaRPr>
          </a:p>
        </p:txBody>
      </p:sp>
      <p:sp>
        <p:nvSpPr>
          <p:cNvPr id="349432411" name="Text 98"/>
          <p:cNvSpPr/>
          <p:nvPr/>
        </p:nvSpPr>
        <p:spPr bwMode="auto">
          <a:xfrm>
            <a:off x="9262872" y="4636008"/>
            <a:ext cx="996696" cy="292608"/>
          </a:xfrm>
          <a:prstGeom prst="rect">
            <a:avLst/>
          </a:prstGeom>
          <a:noFill/>
          <a:ln/>
        </p:spPr>
        <p:txBody>
          <a:bodyPr wrap="square" lIns="0" tIns="0" rIns="0" bIns="0" rtlCol="0" anchor="ctr">
            <a:normAutofit/>
          </a:bodyPr>
          <a:lstStyle/>
          <a:p>
            <a:pPr marL="0" indent="0">
              <a:buNone/>
              <a:defRPr/>
            </a:pPr>
            <a:r>
              <a:rPr lang="en-US" sz="500">
                <a:solidFill>
                  <a:srgbClr val="B8C2C3"/>
                </a:solidFill>
                <a:latin typeface="Asana"/>
                <a:ea typeface="Asana"/>
                <a:cs typeface="Asana"/>
              </a:rPr>
              <a:t>recent session context</a:t>
            </a:r>
            <a:endParaRPr sz="500">
              <a:latin typeface="Asana"/>
              <a:cs typeface="Asana"/>
            </a:endParaRPr>
          </a:p>
        </p:txBody>
      </p:sp>
      <p:sp>
        <p:nvSpPr>
          <p:cNvPr id="1528686590" name="Text 99"/>
          <p:cNvSpPr/>
          <p:nvPr/>
        </p:nvSpPr>
        <p:spPr bwMode="auto">
          <a:xfrm>
            <a:off x="786384" y="5870448"/>
            <a:ext cx="7772400" cy="109728"/>
          </a:xfrm>
          <a:prstGeom prst="rect">
            <a:avLst/>
          </a:prstGeom>
          <a:noFill/>
          <a:ln/>
        </p:spPr>
        <p:txBody>
          <a:bodyPr wrap="square" lIns="0" tIns="0" rIns="0" bIns="0" rtlCol="0" anchor="ctr"/>
          <a:lstStyle/>
          <a:p>
            <a:pPr marL="0" indent="0">
              <a:buNone/>
              <a:defRPr/>
            </a:pPr>
            <a:r>
              <a:rPr lang="en-US" sz="600" b="1">
                <a:solidFill>
                  <a:srgbClr val="92A2A2"/>
                </a:solidFill>
                <a:latin typeface="Asana"/>
                <a:ea typeface="Asana"/>
                <a:cs typeface="Asana"/>
              </a:rPr>
              <a:t>58 NODES IN THE CURRENT EXPORT. REPEATED VALIDATION, FALLBACK AND RESPONSE FORMATTING STAGES ARE GROUPED IN THIS VIEW.</a:t>
            </a:r>
            <a:endParaRPr sz="600" b="1">
              <a:latin typeface="Asana"/>
              <a:cs typeface="Asana"/>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500" advClick="1">
        <p:fade thruBlk="0"/>
      </p:transition>
    </mc:Choice>
    <mc:Fallback>
      <p:transition spd="fast" advClick="1">
        <p:fade thruBlk="0"/>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8">
    <p:bg>
      <p:bgPr shadeToTitle="0">
        <a:solidFill>
          <a:srgbClr val="F4EFEA"/>
        </a:solidFill>
      </p:bgPr>
    </p:bg>
    <p:spTree>
      <p:nvGrpSpPr>
        <p:cNvPr id="1" name=""/>
        <p:cNvGrpSpPr/>
        <p:nvPr/>
      </p:nvGrpSpPr>
      <p:grpSpPr bwMode="auto">
        <a:xfrm>
          <a:off x="0" y="0"/>
          <a:ext cx="0" cy="0"/>
          <a:chOff x="0" y="0"/>
          <a:chExt cx="0" cy="0"/>
        </a:xfrm>
      </p:grpSpPr>
      <p:sp>
        <p:nvSpPr>
          <p:cNvPr id="136979478" name="Shape 0"/>
          <p:cNvSpPr/>
          <p:nvPr/>
        </p:nvSpPr>
        <p:spPr bwMode="auto">
          <a:xfrm>
            <a:off x="164592" y="164592"/>
            <a:ext cx="11859768" cy="6528816"/>
          </a:xfrm>
          <a:prstGeom prst="rect">
            <a:avLst/>
          </a:prstGeom>
          <a:solidFill>
            <a:srgbClr val="F4EFEA">
              <a:alpha val="0"/>
            </a:srgbClr>
          </a:solidFill>
          <a:ln w="10160">
            <a:solidFill>
              <a:srgbClr val="27343A"/>
            </a:solidFill>
            <a:prstDash val="solid"/>
          </a:ln>
        </p:spPr>
        <p:txBody>
          <a:bodyPr anchor="ctr"/>
          <a:p>
            <a:pPr algn="ctr">
              <a:defRPr/>
            </a:pPr>
            <a:endParaRPr>
              <a:latin typeface="Asana"/>
              <a:cs typeface="Asana"/>
            </a:endParaRPr>
          </a:p>
        </p:txBody>
      </p:sp>
      <p:sp>
        <p:nvSpPr>
          <p:cNvPr id="1878129240" name="Shape 1"/>
          <p:cNvSpPr/>
          <p:nvPr/>
        </p:nvSpPr>
        <p:spPr bwMode="auto">
          <a:xfrm>
            <a:off x="36576" y="164592"/>
            <a:ext cx="256032" cy="0"/>
          </a:xfrm>
          <a:prstGeom prst="line">
            <a:avLst/>
          </a:prstGeom>
          <a:noFill/>
          <a:ln w="9525">
            <a:solidFill>
              <a:srgbClr val="27343A"/>
            </a:solidFill>
            <a:prstDash val="solid"/>
          </a:ln>
        </p:spPr>
      </p:sp>
      <p:sp>
        <p:nvSpPr>
          <p:cNvPr id="776319505" name="Shape 2"/>
          <p:cNvSpPr/>
          <p:nvPr/>
        </p:nvSpPr>
        <p:spPr bwMode="auto">
          <a:xfrm>
            <a:off x="164592" y="36576"/>
            <a:ext cx="0" cy="256032"/>
          </a:xfrm>
          <a:prstGeom prst="line">
            <a:avLst/>
          </a:prstGeom>
          <a:noFill/>
          <a:ln w="9525">
            <a:solidFill>
              <a:srgbClr val="27343A"/>
            </a:solidFill>
            <a:prstDash val="solid"/>
          </a:ln>
        </p:spPr>
      </p:sp>
      <p:sp>
        <p:nvSpPr>
          <p:cNvPr id="616135123" name="Shape 3"/>
          <p:cNvSpPr/>
          <p:nvPr/>
        </p:nvSpPr>
        <p:spPr bwMode="auto">
          <a:xfrm>
            <a:off x="11896344" y="164592"/>
            <a:ext cx="256032" cy="0"/>
          </a:xfrm>
          <a:prstGeom prst="line">
            <a:avLst/>
          </a:prstGeom>
          <a:noFill/>
          <a:ln w="9525">
            <a:solidFill>
              <a:srgbClr val="27343A"/>
            </a:solidFill>
            <a:prstDash val="solid"/>
          </a:ln>
        </p:spPr>
      </p:sp>
      <p:sp>
        <p:nvSpPr>
          <p:cNvPr id="1127012584" name="Shape 4"/>
          <p:cNvSpPr/>
          <p:nvPr/>
        </p:nvSpPr>
        <p:spPr bwMode="auto">
          <a:xfrm>
            <a:off x="12024360" y="36576"/>
            <a:ext cx="0" cy="256032"/>
          </a:xfrm>
          <a:prstGeom prst="line">
            <a:avLst/>
          </a:prstGeom>
          <a:noFill/>
          <a:ln w="9525">
            <a:solidFill>
              <a:srgbClr val="27343A"/>
            </a:solidFill>
            <a:prstDash val="solid"/>
          </a:ln>
        </p:spPr>
      </p:sp>
      <p:sp>
        <p:nvSpPr>
          <p:cNvPr id="197463168" name="Shape 5"/>
          <p:cNvSpPr/>
          <p:nvPr/>
        </p:nvSpPr>
        <p:spPr bwMode="auto">
          <a:xfrm>
            <a:off x="36576" y="6693408"/>
            <a:ext cx="256032" cy="0"/>
          </a:xfrm>
          <a:prstGeom prst="line">
            <a:avLst/>
          </a:prstGeom>
          <a:noFill/>
          <a:ln w="9525">
            <a:solidFill>
              <a:srgbClr val="27343A"/>
            </a:solidFill>
            <a:prstDash val="solid"/>
          </a:ln>
        </p:spPr>
      </p:sp>
      <p:sp>
        <p:nvSpPr>
          <p:cNvPr id="250338529" name="Shape 6"/>
          <p:cNvSpPr/>
          <p:nvPr/>
        </p:nvSpPr>
        <p:spPr bwMode="auto">
          <a:xfrm>
            <a:off x="164592" y="6565392"/>
            <a:ext cx="0" cy="256032"/>
          </a:xfrm>
          <a:prstGeom prst="line">
            <a:avLst/>
          </a:prstGeom>
          <a:noFill/>
          <a:ln w="9525">
            <a:solidFill>
              <a:srgbClr val="27343A"/>
            </a:solidFill>
            <a:prstDash val="solid"/>
          </a:ln>
        </p:spPr>
      </p:sp>
      <p:sp>
        <p:nvSpPr>
          <p:cNvPr id="442314517" name="Shape 7"/>
          <p:cNvSpPr/>
          <p:nvPr/>
        </p:nvSpPr>
        <p:spPr bwMode="auto">
          <a:xfrm>
            <a:off x="11896344" y="6693408"/>
            <a:ext cx="256032" cy="0"/>
          </a:xfrm>
          <a:prstGeom prst="line">
            <a:avLst/>
          </a:prstGeom>
          <a:noFill/>
          <a:ln w="9525">
            <a:solidFill>
              <a:srgbClr val="27343A"/>
            </a:solidFill>
            <a:prstDash val="solid"/>
          </a:ln>
        </p:spPr>
      </p:sp>
      <p:sp>
        <p:nvSpPr>
          <p:cNvPr id="1540206694" name="Shape 8"/>
          <p:cNvSpPr/>
          <p:nvPr/>
        </p:nvSpPr>
        <p:spPr bwMode="auto">
          <a:xfrm>
            <a:off x="12024360" y="6565392"/>
            <a:ext cx="0" cy="256032"/>
          </a:xfrm>
          <a:prstGeom prst="line">
            <a:avLst/>
          </a:prstGeom>
          <a:noFill/>
          <a:ln w="9525">
            <a:solidFill>
              <a:srgbClr val="27343A"/>
            </a:solidFill>
            <a:prstDash val="solid"/>
          </a:ln>
        </p:spPr>
      </p:sp>
      <p:sp>
        <p:nvSpPr>
          <p:cNvPr id="315461491" name="Text 9"/>
          <p:cNvSpPr/>
          <p:nvPr/>
        </p:nvSpPr>
        <p:spPr bwMode="auto">
          <a:xfrm>
            <a:off x="393192" y="393192"/>
            <a:ext cx="2834640" cy="109728"/>
          </a:xfrm>
          <a:prstGeom prst="rect">
            <a:avLst/>
          </a:prstGeom>
          <a:noFill/>
          <a:ln/>
        </p:spPr>
        <p:txBody>
          <a:bodyPr wrap="square" lIns="0" tIns="0" rIns="0" bIns="0" rtlCol="0" anchor="ctr"/>
          <a:lstStyle/>
          <a:p>
            <a:pPr marL="0" indent="0">
              <a:buNone/>
              <a:defRPr/>
            </a:pPr>
            <a:r>
              <a:rPr lang="en-US" sz="500">
                <a:solidFill>
                  <a:srgbClr val="6C6B65"/>
                </a:solidFill>
                <a:latin typeface="Asana"/>
                <a:ea typeface="Asana"/>
                <a:cs typeface="Asana"/>
              </a:rPr>
              <a:t>WIAAS ASIA FIELD ATLAS</a:t>
            </a:r>
            <a:endParaRPr sz="500">
              <a:latin typeface="Asana"/>
              <a:cs typeface="Asana"/>
            </a:endParaRPr>
          </a:p>
        </p:txBody>
      </p:sp>
      <p:sp>
        <p:nvSpPr>
          <p:cNvPr id="1672313433" name="Text 10"/>
          <p:cNvSpPr/>
          <p:nvPr/>
        </p:nvSpPr>
        <p:spPr bwMode="auto">
          <a:xfrm>
            <a:off x="9418320" y="393192"/>
            <a:ext cx="2331720" cy="109728"/>
          </a:xfrm>
          <a:prstGeom prst="rect">
            <a:avLst/>
          </a:prstGeom>
          <a:noFill/>
          <a:ln/>
        </p:spPr>
        <p:txBody>
          <a:bodyPr wrap="square" lIns="0" tIns="0" rIns="0" bIns="0" rtlCol="0" anchor="ctr"/>
          <a:lstStyle/>
          <a:p>
            <a:pPr marL="0" indent="0" algn="r">
              <a:buNone/>
              <a:defRPr/>
            </a:pPr>
            <a:r>
              <a:rPr lang="en-US" sz="700" b="1">
                <a:solidFill>
                  <a:srgbClr val="6C6B65"/>
                </a:solidFill>
                <a:latin typeface="Asana"/>
                <a:ea typeface="Asana"/>
                <a:cs typeface="Asana"/>
              </a:rPr>
              <a:t>PLATE 08 - CRISISLENS WORKFLOW SYSTEM</a:t>
            </a:r>
            <a:endParaRPr sz="700" b="1">
              <a:latin typeface="Asana"/>
              <a:cs typeface="Asana"/>
            </a:endParaRPr>
          </a:p>
        </p:txBody>
      </p:sp>
      <p:sp>
        <p:nvSpPr>
          <p:cNvPr id="1839374227" name="Text 11"/>
          <p:cNvSpPr/>
          <p:nvPr/>
        </p:nvSpPr>
        <p:spPr bwMode="auto">
          <a:xfrm>
            <a:off x="393192" y="6492240"/>
            <a:ext cx="3017519" cy="109728"/>
          </a:xfrm>
          <a:prstGeom prst="rect">
            <a:avLst/>
          </a:prstGeom>
          <a:noFill/>
          <a:ln/>
        </p:spPr>
        <p:txBody>
          <a:bodyPr wrap="square" lIns="0" tIns="0" rIns="0" bIns="0" rtlCol="0" anchor="ctr"/>
          <a:lstStyle/>
          <a:p>
            <a:pPr marL="0" indent="0">
              <a:buNone/>
              <a:defRPr/>
            </a:pPr>
            <a:r>
              <a:rPr lang="en-US" sz="450">
                <a:solidFill>
                  <a:srgbClr val="6C6B65"/>
                </a:solidFill>
                <a:latin typeface="Asana"/>
                <a:ea typeface="Asana"/>
                <a:cs typeface="Asana"/>
              </a:rPr>
              <a:t>DEVELOPED WITH QODER + N8N ORCHESTRATION</a:t>
            </a:r>
            <a:endParaRPr sz="450">
              <a:latin typeface="Asana"/>
              <a:cs typeface="Asana"/>
            </a:endParaRPr>
          </a:p>
        </p:txBody>
      </p:sp>
      <p:sp>
        <p:nvSpPr>
          <p:cNvPr id="1907866701" name="Text 12"/>
          <p:cNvSpPr/>
          <p:nvPr/>
        </p:nvSpPr>
        <p:spPr bwMode="auto">
          <a:xfrm>
            <a:off x="11411712" y="6492240"/>
            <a:ext cx="329184" cy="109728"/>
          </a:xfrm>
          <a:prstGeom prst="rect">
            <a:avLst/>
          </a:prstGeom>
          <a:noFill/>
          <a:ln/>
        </p:spPr>
        <p:txBody>
          <a:bodyPr wrap="square" lIns="0" tIns="0" rIns="0" bIns="0" rtlCol="0" anchor="ctr"/>
          <a:lstStyle/>
          <a:p>
            <a:pPr marL="0" indent="0" algn="r">
              <a:buNone/>
              <a:defRPr/>
            </a:pPr>
            <a:r>
              <a:rPr lang="en-US" sz="450">
                <a:solidFill>
                  <a:srgbClr val="6C6B65"/>
                </a:solidFill>
                <a:latin typeface="Asana"/>
                <a:ea typeface="Asana"/>
                <a:cs typeface="Asana"/>
              </a:rPr>
              <a:t>08 / 12</a:t>
            </a:r>
            <a:endParaRPr sz="450">
              <a:latin typeface="Asana"/>
              <a:cs typeface="Asana"/>
            </a:endParaRPr>
          </a:p>
        </p:txBody>
      </p:sp>
      <p:sp>
        <p:nvSpPr>
          <p:cNvPr id="1397763293" name="Shape 13"/>
          <p:cNvSpPr/>
          <p:nvPr/>
        </p:nvSpPr>
        <p:spPr bwMode="auto">
          <a:xfrm>
            <a:off x="530352" y="914400"/>
            <a:ext cx="365760" cy="0"/>
          </a:xfrm>
          <a:prstGeom prst="line">
            <a:avLst/>
          </a:prstGeom>
          <a:noFill/>
          <a:ln w="16510">
            <a:solidFill>
              <a:srgbClr val="B4533B"/>
            </a:solidFill>
            <a:prstDash val="solid"/>
          </a:ln>
        </p:spPr>
      </p:sp>
      <p:sp>
        <p:nvSpPr>
          <p:cNvPr id="1127007345" name="Text 14"/>
          <p:cNvSpPr/>
          <p:nvPr/>
        </p:nvSpPr>
        <p:spPr bwMode="auto">
          <a:xfrm>
            <a:off x="1060704" y="850392"/>
            <a:ext cx="1828800" cy="146304"/>
          </a:xfrm>
          <a:prstGeom prst="rect">
            <a:avLst/>
          </a:prstGeom>
          <a:noFill/>
          <a:ln/>
        </p:spPr>
        <p:txBody>
          <a:bodyPr wrap="square" lIns="0" tIns="0" rIns="0" bIns="0" rtlCol="0" anchor="ctr"/>
          <a:lstStyle/>
          <a:p>
            <a:pPr marL="0" indent="0">
              <a:buNone/>
              <a:defRPr/>
            </a:pPr>
            <a:r>
              <a:rPr lang="en-US" sz="550">
                <a:solidFill>
                  <a:srgbClr val="B4533B"/>
                </a:solidFill>
                <a:latin typeface="Asana"/>
                <a:ea typeface="Asana"/>
                <a:cs typeface="Asana"/>
              </a:rPr>
              <a:t>WORKFLOW SYSTEM</a:t>
            </a:r>
            <a:endParaRPr sz="550">
              <a:latin typeface="Asana"/>
              <a:cs typeface="Asana"/>
            </a:endParaRPr>
          </a:p>
        </p:txBody>
      </p:sp>
      <p:sp>
        <p:nvSpPr>
          <p:cNvPr id="1490719500" name="Text 15"/>
          <p:cNvSpPr/>
          <p:nvPr/>
        </p:nvSpPr>
        <p:spPr bwMode="auto">
          <a:xfrm>
            <a:off x="530352" y="1115568"/>
            <a:ext cx="9875520" cy="384048"/>
          </a:xfrm>
          <a:prstGeom prst="rect">
            <a:avLst/>
          </a:prstGeom>
          <a:noFill/>
          <a:ln/>
        </p:spPr>
        <p:txBody>
          <a:bodyPr wrap="square" lIns="0" tIns="0" rIns="0" bIns="0" rtlCol="0" anchor="ctr"/>
          <a:lstStyle/>
          <a:p>
            <a:pPr marL="0" indent="0">
              <a:buNone/>
              <a:defRPr/>
            </a:pPr>
            <a:r>
              <a:rPr lang="en-US" sz="2800" b="1">
                <a:solidFill>
                  <a:srgbClr val="0D1B21"/>
                </a:solidFill>
                <a:latin typeface="Asana"/>
                <a:ea typeface="Asana"/>
                <a:cs typeface="Asana"/>
              </a:rPr>
              <a:t>CrisisLens emergency workflow</a:t>
            </a:r>
            <a:endParaRPr sz="2800">
              <a:latin typeface="Asana"/>
              <a:cs typeface="Asana"/>
            </a:endParaRPr>
          </a:p>
        </p:txBody>
      </p:sp>
      <p:sp>
        <p:nvSpPr>
          <p:cNvPr id="35942475" name="Text 16"/>
          <p:cNvSpPr/>
          <p:nvPr/>
        </p:nvSpPr>
        <p:spPr bwMode="auto">
          <a:xfrm>
            <a:off x="530352" y="1645920"/>
            <a:ext cx="9601200" cy="256032"/>
          </a:xfrm>
          <a:prstGeom prst="rect">
            <a:avLst/>
          </a:prstGeom>
          <a:noFill/>
          <a:ln/>
        </p:spPr>
        <p:txBody>
          <a:bodyPr wrap="square" lIns="0" tIns="0" rIns="0" bIns="0" rtlCol="0" anchor="ctr"/>
          <a:lstStyle/>
          <a:p>
            <a:pPr marL="0" indent="0">
              <a:buNone/>
              <a:defRPr/>
            </a:pPr>
            <a:r>
              <a:rPr lang="en-US" sz="1100">
                <a:solidFill>
                  <a:srgbClr val="0D1B21"/>
                </a:solidFill>
                <a:latin typeface="Asana"/>
                <a:ea typeface="Asana"/>
                <a:cs typeface="Asana"/>
              </a:rPr>
              <a:t>The current n8n export resolves the location, gathers configured evidence, scores the threat, and saves the result.</a:t>
            </a:r>
            <a:endParaRPr sz="1100">
              <a:latin typeface="Asana"/>
              <a:cs typeface="Asana"/>
            </a:endParaRPr>
          </a:p>
        </p:txBody>
      </p:sp>
      <p:sp>
        <p:nvSpPr>
          <p:cNvPr id="2056135722" name="Shape 17"/>
          <p:cNvSpPr/>
          <p:nvPr/>
        </p:nvSpPr>
        <p:spPr bwMode="auto">
          <a:xfrm>
            <a:off x="548640" y="1938528"/>
            <a:ext cx="11018520" cy="4187952"/>
          </a:xfrm>
          <a:prstGeom prst="roundRect">
            <a:avLst>
              <a:gd name="adj" fmla="val 1747"/>
            </a:avLst>
          </a:prstGeom>
          <a:solidFill>
            <a:srgbClr val="071013"/>
          </a:solidFill>
          <a:ln w="12700">
            <a:solidFill>
              <a:srgbClr val="1B2F35"/>
            </a:solidFill>
            <a:prstDash val="solid"/>
          </a:ln>
        </p:spPr>
        <p:txBody>
          <a:bodyPr anchor="ctr"/>
          <a:p>
            <a:pPr algn="ctr">
              <a:defRPr/>
            </a:pPr>
            <a:endParaRPr>
              <a:latin typeface="Asana"/>
              <a:cs typeface="Asana"/>
            </a:endParaRPr>
          </a:p>
        </p:txBody>
      </p:sp>
      <p:sp>
        <p:nvSpPr>
          <p:cNvPr id="1719934172" name="Shape 18"/>
          <p:cNvSpPr/>
          <p:nvPr/>
        </p:nvSpPr>
        <p:spPr bwMode="auto">
          <a:xfrm>
            <a:off x="713232" y="2103120"/>
            <a:ext cx="0" cy="3858768"/>
          </a:xfrm>
          <a:prstGeom prst="line">
            <a:avLst/>
          </a:prstGeom>
          <a:noFill/>
          <a:ln w="3175">
            <a:solidFill>
              <a:srgbClr val="1E3338">
                <a:alpha val="80000"/>
              </a:srgbClr>
            </a:solidFill>
            <a:prstDash val="solid"/>
          </a:ln>
        </p:spPr>
      </p:sp>
      <p:sp>
        <p:nvSpPr>
          <p:cNvPr id="1029616387" name="Shape 19"/>
          <p:cNvSpPr/>
          <p:nvPr/>
        </p:nvSpPr>
        <p:spPr bwMode="auto">
          <a:xfrm>
            <a:off x="1631442" y="2103120"/>
            <a:ext cx="0" cy="3858768"/>
          </a:xfrm>
          <a:prstGeom prst="line">
            <a:avLst/>
          </a:prstGeom>
          <a:noFill/>
          <a:ln w="3175">
            <a:solidFill>
              <a:srgbClr val="1E3338">
                <a:alpha val="80000"/>
              </a:srgbClr>
            </a:solidFill>
            <a:prstDash val="solid"/>
          </a:ln>
        </p:spPr>
      </p:sp>
      <p:sp>
        <p:nvSpPr>
          <p:cNvPr id="228813481" name="Shape 20"/>
          <p:cNvSpPr/>
          <p:nvPr/>
        </p:nvSpPr>
        <p:spPr bwMode="auto">
          <a:xfrm>
            <a:off x="2549652" y="2103120"/>
            <a:ext cx="0" cy="3858768"/>
          </a:xfrm>
          <a:prstGeom prst="line">
            <a:avLst/>
          </a:prstGeom>
          <a:noFill/>
          <a:ln w="3175">
            <a:solidFill>
              <a:srgbClr val="1E3338">
                <a:alpha val="80000"/>
              </a:srgbClr>
            </a:solidFill>
            <a:prstDash val="solid"/>
          </a:ln>
        </p:spPr>
      </p:sp>
      <p:sp>
        <p:nvSpPr>
          <p:cNvPr id="243760729" name="Shape 21"/>
          <p:cNvSpPr/>
          <p:nvPr/>
        </p:nvSpPr>
        <p:spPr bwMode="auto">
          <a:xfrm>
            <a:off x="3467862" y="2103120"/>
            <a:ext cx="0" cy="3858768"/>
          </a:xfrm>
          <a:prstGeom prst="line">
            <a:avLst/>
          </a:prstGeom>
          <a:noFill/>
          <a:ln w="3175">
            <a:solidFill>
              <a:srgbClr val="1E3338">
                <a:alpha val="80000"/>
              </a:srgbClr>
            </a:solidFill>
            <a:prstDash val="solid"/>
          </a:ln>
        </p:spPr>
      </p:sp>
      <p:sp>
        <p:nvSpPr>
          <p:cNvPr id="1750388384" name="Shape 22"/>
          <p:cNvSpPr/>
          <p:nvPr/>
        </p:nvSpPr>
        <p:spPr bwMode="auto">
          <a:xfrm>
            <a:off x="4386072" y="2103120"/>
            <a:ext cx="0" cy="3858768"/>
          </a:xfrm>
          <a:prstGeom prst="line">
            <a:avLst/>
          </a:prstGeom>
          <a:noFill/>
          <a:ln w="3175">
            <a:solidFill>
              <a:srgbClr val="1E3338">
                <a:alpha val="80000"/>
              </a:srgbClr>
            </a:solidFill>
            <a:prstDash val="solid"/>
          </a:ln>
        </p:spPr>
      </p:sp>
      <p:sp>
        <p:nvSpPr>
          <p:cNvPr id="1473280175" name="Shape 23"/>
          <p:cNvSpPr/>
          <p:nvPr/>
        </p:nvSpPr>
        <p:spPr bwMode="auto">
          <a:xfrm>
            <a:off x="5304282" y="2103120"/>
            <a:ext cx="0" cy="3858768"/>
          </a:xfrm>
          <a:prstGeom prst="line">
            <a:avLst/>
          </a:prstGeom>
          <a:noFill/>
          <a:ln w="3175">
            <a:solidFill>
              <a:srgbClr val="1E3338">
                <a:alpha val="80000"/>
              </a:srgbClr>
            </a:solidFill>
            <a:prstDash val="solid"/>
          </a:ln>
        </p:spPr>
      </p:sp>
      <p:sp>
        <p:nvSpPr>
          <p:cNvPr id="1182800288" name="Shape 24"/>
          <p:cNvSpPr/>
          <p:nvPr/>
        </p:nvSpPr>
        <p:spPr bwMode="auto">
          <a:xfrm>
            <a:off x="6222492" y="2103120"/>
            <a:ext cx="0" cy="3858768"/>
          </a:xfrm>
          <a:prstGeom prst="line">
            <a:avLst/>
          </a:prstGeom>
          <a:noFill/>
          <a:ln w="3175">
            <a:solidFill>
              <a:srgbClr val="1E3338">
                <a:alpha val="80000"/>
              </a:srgbClr>
            </a:solidFill>
            <a:prstDash val="solid"/>
          </a:ln>
        </p:spPr>
      </p:sp>
      <p:sp>
        <p:nvSpPr>
          <p:cNvPr id="2100672053" name="Shape 25"/>
          <p:cNvSpPr/>
          <p:nvPr/>
        </p:nvSpPr>
        <p:spPr bwMode="auto">
          <a:xfrm>
            <a:off x="7140702" y="2103120"/>
            <a:ext cx="0" cy="3858768"/>
          </a:xfrm>
          <a:prstGeom prst="line">
            <a:avLst/>
          </a:prstGeom>
          <a:noFill/>
          <a:ln w="3175">
            <a:solidFill>
              <a:srgbClr val="1E3338">
                <a:alpha val="80000"/>
              </a:srgbClr>
            </a:solidFill>
            <a:prstDash val="solid"/>
          </a:ln>
        </p:spPr>
      </p:sp>
      <p:sp>
        <p:nvSpPr>
          <p:cNvPr id="2140386571" name="Shape 26"/>
          <p:cNvSpPr/>
          <p:nvPr/>
        </p:nvSpPr>
        <p:spPr bwMode="auto">
          <a:xfrm>
            <a:off x="8058912" y="2103120"/>
            <a:ext cx="0" cy="3858768"/>
          </a:xfrm>
          <a:prstGeom prst="line">
            <a:avLst/>
          </a:prstGeom>
          <a:noFill/>
          <a:ln w="3175">
            <a:solidFill>
              <a:srgbClr val="1E3338">
                <a:alpha val="80000"/>
              </a:srgbClr>
            </a:solidFill>
            <a:prstDash val="solid"/>
          </a:ln>
        </p:spPr>
      </p:sp>
      <p:sp>
        <p:nvSpPr>
          <p:cNvPr id="927816901" name="Shape 27"/>
          <p:cNvSpPr/>
          <p:nvPr/>
        </p:nvSpPr>
        <p:spPr bwMode="auto">
          <a:xfrm>
            <a:off x="8977122" y="2103120"/>
            <a:ext cx="0" cy="3858768"/>
          </a:xfrm>
          <a:prstGeom prst="line">
            <a:avLst/>
          </a:prstGeom>
          <a:noFill/>
          <a:ln w="3175">
            <a:solidFill>
              <a:srgbClr val="1E3338">
                <a:alpha val="80000"/>
              </a:srgbClr>
            </a:solidFill>
            <a:prstDash val="solid"/>
          </a:ln>
        </p:spPr>
      </p:sp>
      <p:sp>
        <p:nvSpPr>
          <p:cNvPr id="1415629596" name="Shape 28"/>
          <p:cNvSpPr/>
          <p:nvPr/>
        </p:nvSpPr>
        <p:spPr bwMode="auto">
          <a:xfrm>
            <a:off x="9895332" y="2103120"/>
            <a:ext cx="0" cy="3858768"/>
          </a:xfrm>
          <a:prstGeom prst="line">
            <a:avLst/>
          </a:prstGeom>
          <a:noFill/>
          <a:ln w="3175">
            <a:solidFill>
              <a:srgbClr val="1E3338">
                <a:alpha val="80000"/>
              </a:srgbClr>
            </a:solidFill>
            <a:prstDash val="solid"/>
          </a:ln>
        </p:spPr>
      </p:sp>
      <p:sp>
        <p:nvSpPr>
          <p:cNvPr id="1245506932" name="Shape 29"/>
          <p:cNvSpPr/>
          <p:nvPr/>
        </p:nvSpPr>
        <p:spPr bwMode="auto">
          <a:xfrm>
            <a:off x="10813542" y="2103120"/>
            <a:ext cx="0" cy="3858768"/>
          </a:xfrm>
          <a:prstGeom prst="line">
            <a:avLst/>
          </a:prstGeom>
          <a:noFill/>
          <a:ln w="3175">
            <a:solidFill>
              <a:srgbClr val="1E3338">
                <a:alpha val="80000"/>
              </a:srgbClr>
            </a:solidFill>
            <a:prstDash val="solid"/>
          </a:ln>
        </p:spPr>
      </p:sp>
      <p:sp>
        <p:nvSpPr>
          <p:cNvPr id="1419732218" name="Shape 30"/>
          <p:cNvSpPr/>
          <p:nvPr/>
        </p:nvSpPr>
        <p:spPr bwMode="auto">
          <a:xfrm>
            <a:off x="713232" y="2103120"/>
            <a:ext cx="10689336" cy="0"/>
          </a:xfrm>
          <a:prstGeom prst="line">
            <a:avLst/>
          </a:prstGeom>
          <a:noFill/>
          <a:ln w="3175">
            <a:solidFill>
              <a:srgbClr val="1E3338">
                <a:alpha val="80000"/>
              </a:srgbClr>
            </a:solidFill>
            <a:prstDash val="solid"/>
          </a:ln>
        </p:spPr>
      </p:sp>
      <p:sp>
        <p:nvSpPr>
          <p:cNvPr id="1192137846" name="Shape 31"/>
          <p:cNvSpPr/>
          <p:nvPr/>
        </p:nvSpPr>
        <p:spPr bwMode="auto">
          <a:xfrm>
            <a:off x="713232" y="2701399"/>
            <a:ext cx="10689336" cy="0"/>
          </a:xfrm>
          <a:prstGeom prst="line">
            <a:avLst/>
          </a:prstGeom>
          <a:noFill/>
          <a:ln w="3175">
            <a:solidFill>
              <a:srgbClr val="1E3338">
                <a:alpha val="80000"/>
              </a:srgbClr>
            </a:solidFill>
            <a:prstDash val="solid"/>
          </a:ln>
        </p:spPr>
      </p:sp>
      <p:sp>
        <p:nvSpPr>
          <p:cNvPr id="6344776" name="Shape 32"/>
          <p:cNvSpPr/>
          <p:nvPr/>
        </p:nvSpPr>
        <p:spPr bwMode="auto">
          <a:xfrm>
            <a:off x="713231" y="3299677"/>
            <a:ext cx="10689336" cy="0"/>
          </a:xfrm>
          <a:prstGeom prst="line">
            <a:avLst/>
          </a:prstGeom>
          <a:noFill/>
          <a:ln w="3175">
            <a:solidFill>
              <a:srgbClr val="1E3338">
                <a:alpha val="80000"/>
              </a:srgbClr>
            </a:solidFill>
            <a:prstDash val="solid"/>
          </a:ln>
        </p:spPr>
      </p:sp>
      <p:sp>
        <p:nvSpPr>
          <p:cNvPr id="1245651587" name="Shape 33"/>
          <p:cNvSpPr/>
          <p:nvPr/>
        </p:nvSpPr>
        <p:spPr bwMode="auto">
          <a:xfrm>
            <a:off x="713232" y="3897957"/>
            <a:ext cx="10689336" cy="0"/>
          </a:xfrm>
          <a:prstGeom prst="line">
            <a:avLst/>
          </a:prstGeom>
          <a:noFill/>
          <a:ln w="3175">
            <a:solidFill>
              <a:srgbClr val="1E3338">
                <a:alpha val="80000"/>
              </a:srgbClr>
            </a:solidFill>
            <a:prstDash val="solid"/>
          </a:ln>
        </p:spPr>
      </p:sp>
      <p:sp>
        <p:nvSpPr>
          <p:cNvPr id="685401942" name="Shape 34"/>
          <p:cNvSpPr/>
          <p:nvPr/>
        </p:nvSpPr>
        <p:spPr bwMode="auto">
          <a:xfrm>
            <a:off x="713232" y="4496235"/>
            <a:ext cx="10689336" cy="0"/>
          </a:xfrm>
          <a:prstGeom prst="line">
            <a:avLst/>
          </a:prstGeom>
          <a:noFill/>
          <a:ln w="3175">
            <a:solidFill>
              <a:srgbClr val="1E3338">
                <a:alpha val="80000"/>
              </a:srgbClr>
            </a:solidFill>
            <a:prstDash val="solid"/>
          </a:ln>
        </p:spPr>
      </p:sp>
      <p:sp>
        <p:nvSpPr>
          <p:cNvPr id="583955772" name="Shape 35"/>
          <p:cNvSpPr/>
          <p:nvPr/>
        </p:nvSpPr>
        <p:spPr bwMode="auto">
          <a:xfrm>
            <a:off x="713232" y="5094514"/>
            <a:ext cx="10689336" cy="0"/>
          </a:xfrm>
          <a:prstGeom prst="line">
            <a:avLst/>
          </a:prstGeom>
          <a:noFill/>
          <a:ln w="3175">
            <a:solidFill>
              <a:srgbClr val="1E3338">
                <a:alpha val="80000"/>
              </a:srgbClr>
            </a:solidFill>
            <a:prstDash val="solid"/>
          </a:ln>
        </p:spPr>
      </p:sp>
      <p:sp>
        <p:nvSpPr>
          <p:cNvPr id="445360300" name="Shape 36"/>
          <p:cNvSpPr/>
          <p:nvPr/>
        </p:nvSpPr>
        <p:spPr bwMode="auto">
          <a:xfrm>
            <a:off x="713232" y="5692793"/>
            <a:ext cx="10689336" cy="0"/>
          </a:xfrm>
          <a:prstGeom prst="line">
            <a:avLst/>
          </a:prstGeom>
          <a:noFill/>
          <a:ln w="3175">
            <a:solidFill>
              <a:srgbClr val="1E3338">
                <a:alpha val="80000"/>
              </a:srgbClr>
            </a:solidFill>
            <a:prstDash val="solid"/>
          </a:ln>
        </p:spPr>
      </p:sp>
      <p:sp>
        <p:nvSpPr>
          <p:cNvPr id="1530903981" name="Shape 37"/>
          <p:cNvSpPr/>
          <p:nvPr/>
        </p:nvSpPr>
        <p:spPr bwMode="auto">
          <a:xfrm>
            <a:off x="1755648" y="2642616"/>
            <a:ext cx="164592" cy="0"/>
          </a:xfrm>
          <a:prstGeom prst="line">
            <a:avLst/>
          </a:prstGeom>
          <a:noFill/>
          <a:ln w="9525">
            <a:solidFill>
              <a:srgbClr val="B4533B"/>
            </a:solidFill>
            <a:prstDash val="solid"/>
            <a:headEnd type="none"/>
            <a:tailEnd type="triangle"/>
          </a:ln>
        </p:spPr>
      </p:sp>
      <p:sp>
        <p:nvSpPr>
          <p:cNvPr id="1921546227" name="Shape 38"/>
          <p:cNvSpPr/>
          <p:nvPr/>
        </p:nvSpPr>
        <p:spPr bwMode="auto">
          <a:xfrm>
            <a:off x="2926080" y="2642616"/>
            <a:ext cx="164592" cy="0"/>
          </a:xfrm>
          <a:prstGeom prst="line">
            <a:avLst/>
          </a:prstGeom>
          <a:noFill/>
          <a:ln w="9525">
            <a:solidFill>
              <a:srgbClr val="6C6B65"/>
            </a:solidFill>
            <a:prstDash val="solid"/>
            <a:headEnd type="none"/>
            <a:tailEnd type="triangle"/>
          </a:ln>
        </p:spPr>
      </p:sp>
      <p:sp>
        <p:nvSpPr>
          <p:cNvPr id="956358805" name="Shape 39"/>
          <p:cNvSpPr/>
          <p:nvPr/>
        </p:nvSpPr>
        <p:spPr bwMode="auto">
          <a:xfrm>
            <a:off x="4096512" y="2642616"/>
            <a:ext cx="164592" cy="0"/>
          </a:xfrm>
          <a:prstGeom prst="line">
            <a:avLst/>
          </a:prstGeom>
          <a:noFill/>
          <a:ln w="9525">
            <a:solidFill>
              <a:srgbClr val="2E865F"/>
            </a:solidFill>
            <a:prstDash val="solid"/>
            <a:headEnd type="none"/>
            <a:tailEnd type="triangle"/>
          </a:ln>
        </p:spPr>
      </p:sp>
      <p:sp>
        <p:nvSpPr>
          <p:cNvPr id="1000602418" name="Shape 40"/>
          <p:cNvSpPr/>
          <p:nvPr/>
        </p:nvSpPr>
        <p:spPr bwMode="auto">
          <a:xfrm>
            <a:off x="5266944" y="2642616"/>
            <a:ext cx="164592" cy="0"/>
          </a:xfrm>
          <a:prstGeom prst="line">
            <a:avLst/>
          </a:prstGeom>
          <a:noFill/>
          <a:ln w="9525">
            <a:solidFill>
              <a:srgbClr val="2C7F9E"/>
            </a:solidFill>
            <a:prstDash val="solid"/>
            <a:headEnd type="none"/>
            <a:tailEnd type="triangle"/>
          </a:ln>
        </p:spPr>
      </p:sp>
      <p:sp>
        <p:nvSpPr>
          <p:cNvPr id="388190886" name="Shape 41"/>
          <p:cNvSpPr/>
          <p:nvPr/>
        </p:nvSpPr>
        <p:spPr bwMode="auto">
          <a:xfrm>
            <a:off x="6437376" y="2642616"/>
            <a:ext cx="164592" cy="0"/>
          </a:xfrm>
          <a:prstGeom prst="line">
            <a:avLst/>
          </a:prstGeom>
          <a:noFill/>
          <a:ln w="9525">
            <a:solidFill>
              <a:srgbClr val="108A98"/>
            </a:solidFill>
            <a:prstDash val="solid"/>
            <a:headEnd type="none"/>
            <a:tailEnd type="triangle"/>
          </a:ln>
        </p:spPr>
      </p:sp>
      <p:sp>
        <p:nvSpPr>
          <p:cNvPr id="2085612844" name="Shape 42"/>
          <p:cNvSpPr/>
          <p:nvPr/>
        </p:nvSpPr>
        <p:spPr bwMode="auto">
          <a:xfrm>
            <a:off x="7607808" y="2642616"/>
            <a:ext cx="164592" cy="0"/>
          </a:xfrm>
          <a:prstGeom prst="line">
            <a:avLst/>
          </a:prstGeom>
          <a:noFill/>
          <a:ln w="9525">
            <a:solidFill>
              <a:srgbClr val="C53E2F"/>
            </a:solidFill>
            <a:prstDash val="solid"/>
            <a:headEnd type="none"/>
            <a:tailEnd type="triangle"/>
          </a:ln>
        </p:spPr>
      </p:sp>
      <p:sp>
        <p:nvSpPr>
          <p:cNvPr id="842137977" name="Shape 43"/>
          <p:cNvSpPr/>
          <p:nvPr/>
        </p:nvSpPr>
        <p:spPr bwMode="auto">
          <a:xfrm>
            <a:off x="8778240" y="2642616"/>
            <a:ext cx="164592" cy="0"/>
          </a:xfrm>
          <a:prstGeom prst="line">
            <a:avLst/>
          </a:prstGeom>
          <a:noFill/>
          <a:ln w="9525">
            <a:solidFill>
              <a:srgbClr val="C28722"/>
            </a:solidFill>
            <a:prstDash val="solid"/>
            <a:headEnd type="none"/>
            <a:tailEnd type="triangle"/>
          </a:ln>
        </p:spPr>
      </p:sp>
      <p:sp>
        <p:nvSpPr>
          <p:cNvPr id="288449096" name="Shape 44"/>
          <p:cNvSpPr/>
          <p:nvPr/>
        </p:nvSpPr>
        <p:spPr bwMode="auto">
          <a:xfrm>
            <a:off x="9948672" y="2642616"/>
            <a:ext cx="164592" cy="0"/>
          </a:xfrm>
          <a:prstGeom prst="line">
            <a:avLst/>
          </a:prstGeom>
          <a:noFill/>
          <a:ln w="9525">
            <a:solidFill>
              <a:srgbClr val="108A98"/>
            </a:solidFill>
            <a:prstDash val="solid"/>
            <a:headEnd type="none"/>
            <a:tailEnd type="triangle"/>
          </a:ln>
        </p:spPr>
      </p:sp>
      <p:sp>
        <p:nvSpPr>
          <p:cNvPr id="1408619867" name="Shape 45"/>
          <p:cNvSpPr/>
          <p:nvPr/>
        </p:nvSpPr>
        <p:spPr bwMode="auto">
          <a:xfrm>
            <a:off x="960120" y="3973068"/>
            <a:ext cx="9966960" cy="1325880"/>
          </a:xfrm>
          <a:prstGeom prst="roundRect">
            <a:avLst>
              <a:gd name="adj" fmla="val 2759"/>
            </a:avLst>
          </a:prstGeom>
          <a:solidFill>
            <a:srgbClr val="0B171A"/>
          </a:solidFill>
          <a:ln w="7620">
            <a:solidFill>
              <a:srgbClr val="273E43"/>
            </a:solidFill>
            <a:prstDash val="solid"/>
          </a:ln>
        </p:spPr>
        <p:txBody>
          <a:bodyPr anchor="ctr"/>
          <a:p>
            <a:pPr algn="ctr">
              <a:defRPr/>
            </a:pPr>
            <a:endParaRPr>
              <a:latin typeface="Asana"/>
              <a:cs typeface="Asana"/>
            </a:endParaRPr>
          </a:p>
        </p:txBody>
      </p:sp>
      <p:sp>
        <p:nvSpPr>
          <p:cNvPr id="1627202008" name="Text 46"/>
          <p:cNvSpPr/>
          <p:nvPr/>
        </p:nvSpPr>
        <p:spPr bwMode="auto">
          <a:xfrm>
            <a:off x="1161288" y="4123944"/>
            <a:ext cx="1920240" cy="109728"/>
          </a:xfrm>
          <a:prstGeom prst="rect">
            <a:avLst/>
          </a:prstGeom>
          <a:noFill/>
          <a:ln/>
        </p:spPr>
        <p:txBody>
          <a:bodyPr wrap="square" lIns="0" tIns="0" rIns="0" bIns="0" rtlCol="0" anchor="ctr"/>
          <a:lstStyle/>
          <a:p>
            <a:pPr marL="0" indent="0">
              <a:buNone/>
              <a:defRPr/>
            </a:pPr>
            <a:r>
              <a:rPr lang="en-US" sz="600">
                <a:solidFill>
                  <a:srgbClr val="92A2A2"/>
                </a:solidFill>
                <a:latin typeface="Asana"/>
                <a:ea typeface="Asana"/>
                <a:cs typeface="Asana"/>
              </a:rPr>
              <a:t>PARALLEL EVIDENCE SOURCES</a:t>
            </a:r>
            <a:endParaRPr sz="600">
              <a:latin typeface="Asana"/>
              <a:cs typeface="Asana"/>
            </a:endParaRPr>
          </a:p>
        </p:txBody>
      </p:sp>
      <p:sp>
        <p:nvSpPr>
          <p:cNvPr id="1124691104" name="Shape 47"/>
          <p:cNvSpPr/>
          <p:nvPr/>
        </p:nvSpPr>
        <p:spPr bwMode="auto">
          <a:xfrm>
            <a:off x="4764024" y="2926080"/>
            <a:ext cx="0" cy="1051560"/>
          </a:xfrm>
          <a:prstGeom prst="line">
            <a:avLst/>
          </a:prstGeom>
          <a:noFill/>
          <a:ln w="8890">
            <a:solidFill>
              <a:srgbClr val="2C7F9E"/>
            </a:solidFill>
            <a:prstDash val="solid"/>
            <a:headEnd type="none"/>
            <a:tailEnd type="triangle"/>
          </a:ln>
        </p:spPr>
      </p:sp>
      <p:sp>
        <p:nvSpPr>
          <p:cNvPr id="1009762029" name="Shape 48"/>
          <p:cNvSpPr/>
          <p:nvPr/>
        </p:nvSpPr>
        <p:spPr bwMode="auto">
          <a:xfrm>
            <a:off x="5934456" y="3977640"/>
            <a:ext cx="0" cy="0"/>
          </a:xfrm>
          <a:prstGeom prst="line">
            <a:avLst/>
          </a:prstGeom>
          <a:noFill/>
          <a:ln w="8890">
            <a:solidFill>
              <a:srgbClr val="108A98"/>
            </a:solidFill>
            <a:prstDash val="solid"/>
            <a:headEnd type="none"/>
            <a:tailEnd type="triangle"/>
          </a:ln>
        </p:spPr>
      </p:sp>
      <p:sp>
        <p:nvSpPr>
          <p:cNvPr id="1981692674" name="Shape 49"/>
          <p:cNvSpPr/>
          <p:nvPr/>
        </p:nvSpPr>
        <p:spPr bwMode="auto">
          <a:xfrm>
            <a:off x="1280160" y="4343400"/>
            <a:ext cx="1417320" cy="566928"/>
          </a:xfrm>
          <a:prstGeom prst="roundRect">
            <a:avLst>
              <a:gd name="adj" fmla="val 8065"/>
            </a:avLst>
          </a:prstGeom>
          <a:solidFill>
            <a:srgbClr val="101B1F"/>
          </a:solidFill>
          <a:ln w="11430">
            <a:solidFill>
              <a:srgbClr val="108A98"/>
            </a:solidFill>
            <a:prstDash val="solid"/>
          </a:ln>
        </p:spPr>
        <p:txBody>
          <a:bodyPr anchor="ctr"/>
          <a:p>
            <a:pPr algn="ctr">
              <a:defRPr/>
            </a:pPr>
            <a:endParaRPr>
              <a:latin typeface="Asana"/>
              <a:cs typeface="Asana"/>
            </a:endParaRPr>
          </a:p>
        </p:txBody>
      </p:sp>
      <p:sp>
        <p:nvSpPr>
          <p:cNvPr id="897338652" name="Text 50"/>
          <p:cNvSpPr/>
          <p:nvPr/>
        </p:nvSpPr>
        <p:spPr bwMode="auto">
          <a:xfrm>
            <a:off x="1353312" y="4425696"/>
            <a:ext cx="1271016" cy="146304"/>
          </a:xfrm>
          <a:prstGeom prst="rect">
            <a:avLst/>
          </a:prstGeom>
          <a:noFill/>
          <a:ln/>
        </p:spPr>
        <p:txBody>
          <a:bodyPr wrap="square" lIns="0" tIns="0" rIns="0" bIns="0" rtlCol="0" anchor="ctr">
            <a:normAutofit/>
          </a:bodyPr>
          <a:lstStyle/>
          <a:p>
            <a:pPr marL="0" indent="0">
              <a:buNone/>
              <a:defRPr/>
            </a:pPr>
            <a:r>
              <a:rPr lang="en-US" sz="700" b="1">
                <a:solidFill>
                  <a:srgbClr val="F4EFEA"/>
                </a:solidFill>
                <a:latin typeface="Asana"/>
                <a:ea typeface="Asana"/>
                <a:cs typeface="Asana"/>
              </a:rPr>
              <a:t>Open-Meteo</a:t>
            </a:r>
            <a:endParaRPr sz="700">
              <a:latin typeface="Asana"/>
              <a:cs typeface="Asana"/>
            </a:endParaRPr>
          </a:p>
        </p:txBody>
      </p:sp>
      <p:sp>
        <p:nvSpPr>
          <p:cNvPr id="170512237" name="Text 51"/>
          <p:cNvSpPr/>
          <p:nvPr/>
        </p:nvSpPr>
        <p:spPr bwMode="auto">
          <a:xfrm>
            <a:off x="1353312" y="4636008"/>
            <a:ext cx="1271016" cy="219456"/>
          </a:xfrm>
          <a:prstGeom prst="rect">
            <a:avLst/>
          </a:prstGeom>
          <a:noFill/>
          <a:ln/>
        </p:spPr>
        <p:txBody>
          <a:bodyPr wrap="square" lIns="0" tIns="0" rIns="0" bIns="0" rtlCol="0" anchor="ctr">
            <a:normAutofit/>
          </a:bodyPr>
          <a:lstStyle/>
          <a:p>
            <a:pPr marL="0" indent="0">
              <a:buNone/>
              <a:defRPr/>
            </a:pPr>
            <a:r>
              <a:rPr lang="en-US" sz="500">
                <a:solidFill>
                  <a:srgbClr val="B8C2C3"/>
                </a:solidFill>
                <a:latin typeface="Asana"/>
                <a:ea typeface="Asana"/>
                <a:cs typeface="Asana"/>
              </a:rPr>
              <a:t>weather + heat</a:t>
            </a:r>
            <a:endParaRPr sz="500">
              <a:latin typeface="Asana"/>
              <a:cs typeface="Asana"/>
            </a:endParaRPr>
          </a:p>
        </p:txBody>
      </p:sp>
      <p:sp>
        <p:nvSpPr>
          <p:cNvPr id="1398973889" name="Shape 52"/>
          <p:cNvSpPr/>
          <p:nvPr/>
        </p:nvSpPr>
        <p:spPr bwMode="auto">
          <a:xfrm>
            <a:off x="3337560" y="4343400"/>
            <a:ext cx="1417320" cy="566928"/>
          </a:xfrm>
          <a:prstGeom prst="roundRect">
            <a:avLst>
              <a:gd name="adj" fmla="val 8065"/>
            </a:avLst>
          </a:prstGeom>
          <a:solidFill>
            <a:srgbClr val="101B1F"/>
          </a:solidFill>
          <a:ln w="11430">
            <a:solidFill>
              <a:srgbClr val="C53E2F"/>
            </a:solidFill>
            <a:prstDash val="solid"/>
          </a:ln>
        </p:spPr>
        <p:txBody>
          <a:bodyPr anchor="ctr"/>
          <a:p>
            <a:pPr algn="ctr">
              <a:defRPr/>
            </a:pPr>
            <a:endParaRPr>
              <a:latin typeface="Asana"/>
              <a:cs typeface="Asana"/>
            </a:endParaRPr>
          </a:p>
        </p:txBody>
      </p:sp>
      <p:sp>
        <p:nvSpPr>
          <p:cNvPr id="535127020" name="Text 53"/>
          <p:cNvSpPr/>
          <p:nvPr/>
        </p:nvSpPr>
        <p:spPr bwMode="auto">
          <a:xfrm>
            <a:off x="3410712" y="4425696"/>
            <a:ext cx="1271016" cy="146304"/>
          </a:xfrm>
          <a:prstGeom prst="rect">
            <a:avLst/>
          </a:prstGeom>
          <a:noFill/>
          <a:ln/>
        </p:spPr>
        <p:txBody>
          <a:bodyPr wrap="square" lIns="0" tIns="0" rIns="0" bIns="0" rtlCol="0" anchor="ctr">
            <a:normAutofit/>
          </a:bodyPr>
          <a:lstStyle/>
          <a:p>
            <a:pPr marL="0" indent="0">
              <a:buNone/>
              <a:defRPr/>
            </a:pPr>
            <a:r>
              <a:rPr lang="en-US" sz="700" b="1">
                <a:solidFill>
                  <a:srgbClr val="F4EFEA"/>
                </a:solidFill>
                <a:latin typeface="Asana"/>
                <a:ea typeface="Asana"/>
                <a:cs typeface="Asana"/>
              </a:rPr>
              <a:t>GDACS</a:t>
            </a:r>
            <a:endParaRPr sz="700">
              <a:latin typeface="Asana"/>
              <a:cs typeface="Asana"/>
            </a:endParaRPr>
          </a:p>
        </p:txBody>
      </p:sp>
      <p:sp>
        <p:nvSpPr>
          <p:cNvPr id="934875680" name="Text 54"/>
          <p:cNvSpPr/>
          <p:nvPr/>
        </p:nvSpPr>
        <p:spPr bwMode="auto">
          <a:xfrm>
            <a:off x="3410712" y="4636008"/>
            <a:ext cx="1271016" cy="219456"/>
          </a:xfrm>
          <a:prstGeom prst="rect">
            <a:avLst/>
          </a:prstGeom>
          <a:noFill/>
          <a:ln/>
        </p:spPr>
        <p:txBody>
          <a:bodyPr wrap="square" lIns="0" tIns="0" rIns="0" bIns="0" rtlCol="0" anchor="ctr">
            <a:normAutofit/>
          </a:bodyPr>
          <a:lstStyle/>
          <a:p>
            <a:pPr marL="0" indent="0">
              <a:buNone/>
              <a:defRPr/>
            </a:pPr>
            <a:r>
              <a:rPr lang="en-US" sz="500">
                <a:solidFill>
                  <a:srgbClr val="B8C2C3"/>
                </a:solidFill>
                <a:latin typeface="Asana"/>
                <a:ea typeface="Asana"/>
                <a:cs typeface="Asana"/>
              </a:rPr>
              <a:t>disaster alerts</a:t>
            </a:r>
            <a:endParaRPr sz="500">
              <a:latin typeface="Asana"/>
              <a:cs typeface="Asana"/>
            </a:endParaRPr>
          </a:p>
        </p:txBody>
      </p:sp>
      <p:sp>
        <p:nvSpPr>
          <p:cNvPr id="980221995" name="Shape 55"/>
          <p:cNvSpPr/>
          <p:nvPr/>
        </p:nvSpPr>
        <p:spPr bwMode="auto">
          <a:xfrm>
            <a:off x="5394960" y="4343400"/>
            <a:ext cx="1417320" cy="566928"/>
          </a:xfrm>
          <a:prstGeom prst="roundRect">
            <a:avLst>
              <a:gd name="adj" fmla="val 8065"/>
            </a:avLst>
          </a:prstGeom>
          <a:solidFill>
            <a:srgbClr val="101B1F"/>
          </a:solidFill>
          <a:ln w="11430">
            <a:solidFill>
              <a:srgbClr val="C28722"/>
            </a:solidFill>
            <a:prstDash val="solid"/>
          </a:ln>
        </p:spPr>
        <p:txBody>
          <a:bodyPr anchor="ctr"/>
          <a:p>
            <a:pPr algn="ctr">
              <a:defRPr/>
            </a:pPr>
            <a:endParaRPr>
              <a:latin typeface="Asana"/>
              <a:cs typeface="Asana"/>
            </a:endParaRPr>
          </a:p>
        </p:txBody>
      </p:sp>
      <p:sp>
        <p:nvSpPr>
          <p:cNvPr id="2026675288" name="Text 56"/>
          <p:cNvSpPr/>
          <p:nvPr/>
        </p:nvSpPr>
        <p:spPr bwMode="auto">
          <a:xfrm>
            <a:off x="5468112" y="4425696"/>
            <a:ext cx="1271016" cy="146304"/>
          </a:xfrm>
          <a:prstGeom prst="rect">
            <a:avLst/>
          </a:prstGeom>
          <a:noFill/>
          <a:ln/>
        </p:spPr>
        <p:txBody>
          <a:bodyPr wrap="square" lIns="0" tIns="0" rIns="0" bIns="0" rtlCol="0" anchor="ctr">
            <a:normAutofit/>
          </a:bodyPr>
          <a:lstStyle/>
          <a:p>
            <a:pPr marL="0" indent="0">
              <a:buNone/>
              <a:defRPr/>
            </a:pPr>
            <a:r>
              <a:rPr lang="en-US" sz="700" b="1">
                <a:solidFill>
                  <a:srgbClr val="F4EFEA"/>
                </a:solidFill>
                <a:latin typeface="Asana"/>
                <a:ea typeface="Asana"/>
                <a:cs typeface="Asana"/>
              </a:rPr>
              <a:t>GDELT</a:t>
            </a:r>
            <a:endParaRPr sz="700">
              <a:latin typeface="Asana"/>
              <a:cs typeface="Asana"/>
            </a:endParaRPr>
          </a:p>
        </p:txBody>
      </p:sp>
      <p:sp>
        <p:nvSpPr>
          <p:cNvPr id="1729507179" name="Text 57"/>
          <p:cNvSpPr/>
          <p:nvPr/>
        </p:nvSpPr>
        <p:spPr bwMode="auto">
          <a:xfrm>
            <a:off x="5468112" y="4636008"/>
            <a:ext cx="1271016" cy="219456"/>
          </a:xfrm>
          <a:prstGeom prst="rect">
            <a:avLst/>
          </a:prstGeom>
          <a:noFill/>
          <a:ln/>
        </p:spPr>
        <p:txBody>
          <a:bodyPr wrap="square" lIns="0" tIns="0" rIns="0" bIns="0" rtlCol="0" anchor="ctr">
            <a:normAutofit/>
          </a:bodyPr>
          <a:lstStyle/>
          <a:p>
            <a:pPr marL="0" indent="0">
              <a:buNone/>
              <a:defRPr/>
            </a:pPr>
            <a:r>
              <a:rPr lang="en-US" sz="500">
                <a:solidFill>
                  <a:srgbClr val="B8C2C3"/>
                </a:solidFill>
                <a:latin typeface="Asana"/>
                <a:ea typeface="Asana"/>
                <a:cs typeface="Asana"/>
              </a:rPr>
              <a:t>news context</a:t>
            </a:r>
            <a:endParaRPr sz="500">
              <a:latin typeface="Asana"/>
              <a:cs typeface="Asana"/>
            </a:endParaRPr>
          </a:p>
        </p:txBody>
      </p:sp>
      <p:sp>
        <p:nvSpPr>
          <p:cNvPr id="866608137" name="Shape 58"/>
          <p:cNvSpPr/>
          <p:nvPr/>
        </p:nvSpPr>
        <p:spPr bwMode="auto">
          <a:xfrm>
            <a:off x="7452360" y="4343400"/>
            <a:ext cx="1417320" cy="566928"/>
          </a:xfrm>
          <a:prstGeom prst="roundRect">
            <a:avLst>
              <a:gd name="adj" fmla="val 8065"/>
            </a:avLst>
          </a:prstGeom>
          <a:solidFill>
            <a:srgbClr val="101B1F"/>
          </a:solidFill>
          <a:ln w="11430">
            <a:solidFill>
              <a:srgbClr val="B4533B"/>
            </a:solidFill>
            <a:prstDash val="solid"/>
          </a:ln>
        </p:spPr>
        <p:txBody>
          <a:bodyPr anchor="ctr"/>
          <a:p>
            <a:pPr algn="ctr">
              <a:defRPr/>
            </a:pPr>
            <a:endParaRPr>
              <a:latin typeface="Asana"/>
              <a:cs typeface="Asana"/>
            </a:endParaRPr>
          </a:p>
        </p:txBody>
      </p:sp>
      <p:sp>
        <p:nvSpPr>
          <p:cNvPr id="484702972" name="Text 59"/>
          <p:cNvSpPr/>
          <p:nvPr/>
        </p:nvSpPr>
        <p:spPr bwMode="auto">
          <a:xfrm>
            <a:off x="7525512" y="4425696"/>
            <a:ext cx="1271016" cy="146304"/>
          </a:xfrm>
          <a:prstGeom prst="rect">
            <a:avLst/>
          </a:prstGeom>
          <a:noFill/>
          <a:ln/>
        </p:spPr>
        <p:txBody>
          <a:bodyPr wrap="square" lIns="0" tIns="0" rIns="0" bIns="0" rtlCol="0" anchor="ctr">
            <a:normAutofit/>
          </a:bodyPr>
          <a:lstStyle/>
          <a:p>
            <a:pPr marL="0" indent="0">
              <a:buNone/>
              <a:defRPr/>
            </a:pPr>
            <a:r>
              <a:rPr lang="en-US" sz="700" b="1">
                <a:solidFill>
                  <a:srgbClr val="F4EFEA"/>
                </a:solidFill>
                <a:latin typeface="Asana"/>
                <a:ea typeface="Asana"/>
                <a:cs typeface="Asana"/>
              </a:rPr>
              <a:t>FIRMS optional</a:t>
            </a:r>
            <a:endParaRPr sz="700">
              <a:latin typeface="Asana"/>
              <a:cs typeface="Asana"/>
            </a:endParaRPr>
          </a:p>
        </p:txBody>
      </p:sp>
      <p:sp>
        <p:nvSpPr>
          <p:cNvPr id="1157873261" name="Text 60"/>
          <p:cNvSpPr/>
          <p:nvPr/>
        </p:nvSpPr>
        <p:spPr bwMode="auto">
          <a:xfrm>
            <a:off x="7525512" y="4636008"/>
            <a:ext cx="1271016" cy="219456"/>
          </a:xfrm>
          <a:prstGeom prst="rect">
            <a:avLst/>
          </a:prstGeom>
          <a:noFill/>
          <a:ln/>
        </p:spPr>
        <p:txBody>
          <a:bodyPr wrap="square" lIns="0" tIns="0" rIns="0" bIns="0" rtlCol="0" anchor="ctr">
            <a:normAutofit/>
          </a:bodyPr>
          <a:lstStyle/>
          <a:p>
            <a:pPr marL="0" indent="0">
              <a:buNone/>
              <a:defRPr/>
            </a:pPr>
            <a:r>
              <a:rPr lang="en-US" sz="500">
                <a:solidFill>
                  <a:srgbClr val="B8C2C3"/>
                </a:solidFill>
                <a:latin typeface="Asana"/>
                <a:ea typeface="Asana"/>
                <a:cs typeface="Asana"/>
              </a:rPr>
              <a:t>API key required</a:t>
            </a:r>
            <a:endParaRPr sz="500">
              <a:latin typeface="Asana"/>
              <a:cs typeface="Asana"/>
            </a:endParaRPr>
          </a:p>
        </p:txBody>
      </p:sp>
      <p:sp>
        <p:nvSpPr>
          <p:cNvPr id="1692962115" name="Shape 61"/>
          <p:cNvSpPr/>
          <p:nvPr/>
        </p:nvSpPr>
        <p:spPr bwMode="auto">
          <a:xfrm flipH="0" flipV="0">
            <a:off x="1704828" y="3424427"/>
            <a:ext cx="1261872" cy="473528"/>
          </a:xfrm>
          <a:prstGeom prst="roundRect">
            <a:avLst>
              <a:gd name="adj" fmla="val 10000"/>
            </a:avLst>
          </a:prstGeom>
          <a:solidFill>
            <a:srgbClr val="101B1F"/>
          </a:solidFill>
          <a:ln w="11430">
            <a:solidFill>
              <a:srgbClr val="C28722"/>
            </a:solidFill>
            <a:prstDash val="solid"/>
          </a:ln>
        </p:spPr>
        <p:txBody>
          <a:bodyPr anchor="ctr"/>
          <a:p>
            <a:pPr algn="ctr">
              <a:defRPr/>
            </a:pPr>
            <a:endParaRPr>
              <a:latin typeface="Asana"/>
              <a:cs typeface="Asana"/>
            </a:endParaRPr>
          </a:p>
        </p:txBody>
      </p:sp>
      <p:sp>
        <p:nvSpPr>
          <p:cNvPr id="1722219172" name="Text 62"/>
          <p:cNvSpPr/>
          <p:nvPr/>
        </p:nvSpPr>
        <p:spPr bwMode="auto">
          <a:xfrm>
            <a:off x="1765085" y="3502093"/>
            <a:ext cx="1115568" cy="146304"/>
          </a:xfrm>
          <a:prstGeom prst="rect">
            <a:avLst/>
          </a:prstGeom>
          <a:noFill/>
          <a:ln/>
        </p:spPr>
        <p:txBody>
          <a:bodyPr wrap="square" lIns="0" tIns="0" rIns="0" bIns="0" rtlCol="0" anchor="ctr">
            <a:normAutofit/>
          </a:bodyPr>
          <a:lstStyle/>
          <a:p>
            <a:pPr marL="0" indent="0">
              <a:buNone/>
              <a:defRPr/>
            </a:pPr>
            <a:r>
              <a:rPr lang="en-US" sz="600" b="1">
                <a:solidFill>
                  <a:srgbClr val="F4EFEA"/>
                </a:solidFill>
                <a:latin typeface="Asana"/>
                <a:ea typeface="Asana"/>
                <a:cs typeface="Asana"/>
              </a:rPr>
              <a:t>Cached follow-up</a:t>
            </a:r>
            <a:endParaRPr sz="600">
              <a:latin typeface="Asana"/>
              <a:cs typeface="Asana"/>
            </a:endParaRPr>
          </a:p>
        </p:txBody>
      </p:sp>
      <p:sp>
        <p:nvSpPr>
          <p:cNvPr id="2107165896" name="Text 63"/>
          <p:cNvSpPr/>
          <p:nvPr/>
        </p:nvSpPr>
        <p:spPr bwMode="auto">
          <a:xfrm>
            <a:off x="1777980" y="3701033"/>
            <a:ext cx="1115568" cy="109728"/>
          </a:xfrm>
          <a:prstGeom prst="rect">
            <a:avLst/>
          </a:prstGeom>
          <a:noFill/>
          <a:ln/>
        </p:spPr>
        <p:txBody>
          <a:bodyPr wrap="square" lIns="0" tIns="0" rIns="0" bIns="0" rtlCol="0" anchor="ctr">
            <a:normAutofit/>
          </a:bodyPr>
          <a:lstStyle/>
          <a:p>
            <a:pPr marL="0" indent="0">
              <a:buNone/>
              <a:defRPr/>
            </a:pPr>
            <a:r>
              <a:rPr lang="en-US" sz="450">
                <a:solidFill>
                  <a:srgbClr val="B8C2C3"/>
                </a:solidFill>
                <a:latin typeface="Asana"/>
                <a:ea typeface="Asana"/>
                <a:cs typeface="Asana"/>
              </a:rPr>
              <a:t>reuse recent severity</a:t>
            </a:r>
            <a:endParaRPr sz="450">
              <a:latin typeface="Asana"/>
              <a:cs typeface="Asana"/>
            </a:endParaRPr>
          </a:p>
        </p:txBody>
      </p:sp>
      <p:sp>
        <p:nvSpPr>
          <p:cNvPr id="936414306" name="Shape 64"/>
          <p:cNvSpPr/>
          <p:nvPr/>
        </p:nvSpPr>
        <p:spPr bwMode="auto">
          <a:xfrm>
            <a:off x="2423160" y="2926080"/>
            <a:ext cx="0" cy="384048"/>
          </a:xfrm>
          <a:prstGeom prst="line">
            <a:avLst/>
          </a:prstGeom>
          <a:noFill/>
          <a:ln w="6985">
            <a:solidFill>
              <a:srgbClr val="C28722"/>
            </a:solidFill>
            <a:prstDash val="solid"/>
          </a:ln>
        </p:spPr>
      </p:sp>
      <p:sp>
        <p:nvSpPr>
          <p:cNvPr id="1743128345" name="Shape 65"/>
          <p:cNvSpPr/>
          <p:nvPr/>
        </p:nvSpPr>
        <p:spPr bwMode="auto">
          <a:xfrm flipH="0" flipV="0">
            <a:off x="2423160" y="3310127"/>
            <a:ext cx="0" cy="114299"/>
          </a:xfrm>
          <a:prstGeom prst="line">
            <a:avLst/>
          </a:prstGeom>
          <a:noFill/>
          <a:ln w="6985">
            <a:solidFill>
              <a:srgbClr val="C28722"/>
            </a:solidFill>
            <a:prstDash val="solid"/>
            <a:headEnd type="none"/>
            <a:tailEnd type="triangle"/>
          </a:ln>
        </p:spPr>
      </p:sp>
      <p:sp>
        <p:nvSpPr>
          <p:cNvPr id="542602679" name="Shape 66"/>
          <p:cNvSpPr/>
          <p:nvPr/>
        </p:nvSpPr>
        <p:spPr bwMode="auto">
          <a:xfrm>
            <a:off x="9829800" y="3420031"/>
            <a:ext cx="1261872" cy="457200"/>
          </a:xfrm>
          <a:prstGeom prst="roundRect">
            <a:avLst>
              <a:gd name="adj" fmla="val 10000"/>
            </a:avLst>
          </a:prstGeom>
          <a:solidFill>
            <a:srgbClr val="101B1F"/>
          </a:solidFill>
          <a:ln w="11430">
            <a:solidFill>
              <a:srgbClr val="6C6B65"/>
            </a:solidFill>
            <a:prstDash val="solid"/>
          </a:ln>
        </p:spPr>
        <p:txBody>
          <a:bodyPr anchor="ctr"/>
          <a:p>
            <a:pPr algn="ctr">
              <a:defRPr/>
            </a:pPr>
            <a:endParaRPr>
              <a:latin typeface="Asana"/>
              <a:cs typeface="Asana"/>
            </a:endParaRPr>
          </a:p>
        </p:txBody>
      </p:sp>
      <p:sp>
        <p:nvSpPr>
          <p:cNvPr id="985581391" name="Text 67"/>
          <p:cNvSpPr/>
          <p:nvPr/>
        </p:nvSpPr>
        <p:spPr bwMode="auto">
          <a:xfrm>
            <a:off x="9902952" y="3465693"/>
            <a:ext cx="1115568" cy="146304"/>
          </a:xfrm>
          <a:prstGeom prst="rect">
            <a:avLst/>
          </a:prstGeom>
          <a:noFill/>
          <a:ln/>
        </p:spPr>
        <p:txBody>
          <a:bodyPr wrap="square" lIns="0" tIns="0" rIns="0" bIns="0" rtlCol="0" anchor="ctr">
            <a:normAutofit/>
          </a:bodyPr>
          <a:lstStyle/>
          <a:p>
            <a:pPr marL="0" indent="0">
              <a:buNone/>
              <a:defRPr/>
            </a:pPr>
            <a:r>
              <a:rPr lang="en-US" sz="600" b="1">
                <a:solidFill>
                  <a:srgbClr val="F4EFEA"/>
                </a:solidFill>
                <a:latin typeface="Asana"/>
                <a:ea typeface="Asana"/>
                <a:cs typeface="Asana"/>
              </a:rPr>
              <a:t>Safe fallback</a:t>
            </a:r>
            <a:endParaRPr sz="600">
              <a:latin typeface="Asana"/>
              <a:cs typeface="Asana"/>
            </a:endParaRPr>
          </a:p>
        </p:txBody>
      </p:sp>
      <p:sp>
        <p:nvSpPr>
          <p:cNvPr id="285113908" name="Text 68"/>
          <p:cNvSpPr/>
          <p:nvPr/>
        </p:nvSpPr>
        <p:spPr bwMode="auto">
          <a:xfrm>
            <a:off x="9902952" y="3676005"/>
            <a:ext cx="1115568" cy="109728"/>
          </a:xfrm>
          <a:prstGeom prst="rect">
            <a:avLst/>
          </a:prstGeom>
          <a:noFill/>
          <a:ln/>
        </p:spPr>
        <p:txBody>
          <a:bodyPr wrap="square" lIns="0" tIns="0" rIns="0" bIns="0" rtlCol="0" anchor="ctr">
            <a:normAutofit/>
          </a:bodyPr>
          <a:lstStyle/>
          <a:p>
            <a:pPr marL="0" indent="0">
              <a:buNone/>
              <a:defRPr/>
            </a:pPr>
            <a:r>
              <a:rPr lang="en-US" sz="450">
                <a:solidFill>
                  <a:srgbClr val="B8C2C3"/>
                </a:solidFill>
                <a:latin typeface="Asana"/>
                <a:ea typeface="Asana"/>
                <a:cs typeface="Asana"/>
              </a:rPr>
              <a:t>missing evidence visible</a:t>
            </a:r>
            <a:endParaRPr sz="450">
              <a:latin typeface="Asana"/>
              <a:cs typeface="Asana"/>
            </a:endParaRPr>
          </a:p>
        </p:txBody>
      </p:sp>
      <p:sp>
        <p:nvSpPr>
          <p:cNvPr id="1715404768" name="Shape 69"/>
          <p:cNvSpPr/>
          <p:nvPr/>
        </p:nvSpPr>
        <p:spPr bwMode="auto">
          <a:xfrm>
            <a:off x="8211312" y="2926080"/>
            <a:ext cx="0" cy="384048"/>
          </a:xfrm>
          <a:prstGeom prst="line">
            <a:avLst/>
          </a:prstGeom>
          <a:noFill/>
          <a:ln w="6985">
            <a:solidFill>
              <a:srgbClr val="6C6B65"/>
            </a:solidFill>
            <a:prstDash val="solid"/>
          </a:ln>
        </p:spPr>
      </p:sp>
      <p:sp>
        <p:nvSpPr>
          <p:cNvPr id="99959548" name="Shape 70"/>
          <p:cNvSpPr/>
          <p:nvPr/>
        </p:nvSpPr>
        <p:spPr bwMode="auto">
          <a:xfrm flipH="0" flipV="0">
            <a:off x="8211312" y="3310127"/>
            <a:ext cx="1618488" cy="338269"/>
          </a:xfrm>
          <a:prstGeom prst="line">
            <a:avLst/>
          </a:prstGeom>
          <a:noFill/>
          <a:ln w="6985">
            <a:solidFill>
              <a:srgbClr val="6C6B65"/>
            </a:solidFill>
            <a:prstDash val="solid"/>
            <a:headEnd type="none"/>
            <a:tailEnd type="triangle"/>
          </a:ln>
        </p:spPr>
      </p:sp>
      <p:sp>
        <p:nvSpPr>
          <p:cNvPr id="743393826" name="Shape 71"/>
          <p:cNvSpPr/>
          <p:nvPr/>
        </p:nvSpPr>
        <p:spPr bwMode="auto">
          <a:xfrm>
            <a:off x="749808" y="2359152"/>
            <a:ext cx="1005840" cy="566928"/>
          </a:xfrm>
          <a:prstGeom prst="roundRect">
            <a:avLst>
              <a:gd name="adj" fmla="val 8065"/>
            </a:avLst>
          </a:prstGeom>
          <a:solidFill>
            <a:srgbClr val="101B1F"/>
          </a:solidFill>
          <a:ln w="11430">
            <a:solidFill>
              <a:srgbClr val="B4533B"/>
            </a:solidFill>
            <a:prstDash val="solid"/>
          </a:ln>
        </p:spPr>
        <p:txBody>
          <a:bodyPr anchor="ctr"/>
          <a:p>
            <a:pPr algn="ctr">
              <a:defRPr/>
            </a:pPr>
            <a:endParaRPr>
              <a:latin typeface="Asana"/>
              <a:cs typeface="Asana"/>
            </a:endParaRPr>
          </a:p>
        </p:txBody>
      </p:sp>
      <p:sp>
        <p:nvSpPr>
          <p:cNvPr id="1664046932" name="Text 72"/>
          <p:cNvSpPr/>
          <p:nvPr/>
        </p:nvSpPr>
        <p:spPr bwMode="auto">
          <a:xfrm>
            <a:off x="822960" y="2441448"/>
            <a:ext cx="859536" cy="146304"/>
          </a:xfrm>
          <a:prstGeom prst="rect">
            <a:avLst/>
          </a:prstGeom>
          <a:noFill/>
          <a:ln/>
        </p:spPr>
        <p:txBody>
          <a:bodyPr wrap="square" lIns="0" tIns="0" rIns="0" bIns="0" rtlCol="0" anchor="ctr">
            <a:normAutofit/>
          </a:bodyPr>
          <a:lstStyle/>
          <a:p>
            <a:pPr marL="0" indent="0">
              <a:buNone/>
              <a:defRPr/>
            </a:pPr>
            <a:r>
              <a:rPr lang="en-US" sz="650" b="1">
                <a:solidFill>
                  <a:srgbClr val="F4EFEA"/>
                </a:solidFill>
                <a:latin typeface="Asana"/>
                <a:ea typeface="Asana"/>
                <a:cs typeface="Asana"/>
              </a:rPr>
              <a:t>Webhook</a:t>
            </a:r>
            <a:endParaRPr sz="650">
              <a:latin typeface="Asana"/>
              <a:cs typeface="Asana"/>
            </a:endParaRPr>
          </a:p>
        </p:txBody>
      </p:sp>
      <p:sp>
        <p:nvSpPr>
          <p:cNvPr id="1588835056" name="Text 73"/>
          <p:cNvSpPr/>
          <p:nvPr/>
        </p:nvSpPr>
        <p:spPr bwMode="auto">
          <a:xfrm>
            <a:off x="822960" y="2651760"/>
            <a:ext cx="859536" cy="219456"/>
          </a:xfrm>
          <a:prstGeom prst="rect">
            <a:avLst/>
          </a:prstGeom>
          <a:noFill/>
          <a:ln/>
        </p:spPr>
        <p:txBody>
          <a:bodyPr wrap="square" lIns="0" tIns="0" rIns="0" bIns="0" rtlCol="0" anchor="ctr">
            <a:normAutofit/>
          </a:bodyPr>
          <a:lstStyle/>
          <a:p>
            <a:pPr marL="0" indent="0">
              <a:buNone/>
              <a:defRPr/>
            </a:pPr>
            <a:r>
              <a:rPr lang="en-US" sz="500">
                <a:solidFill>
                  <a:srgbClr val="B8C2C3"/>
                </a:solidFill>
                <a:latin typeface="Asana"/>
                <a:ea typeface="Asana"/>
                <a:cs typeface="Asana"/>
              </a:rPr>
              <a:t>crisis request</a:t>
            </a:r>
            <a:endParaRPr sz="500">
              <a:latin typeface="Asana"/>
              <a:cs typeface="Asana"/>
            </a:endParaRPr>
          </a:p>
        </p:txBody>
      </p:sp>
      <p:sp>
        <p:nvSpPr>
          <p:cNvPr id="257570323" name="Shape 74"/>
          <p:cNvSpPr/>
          <p:nvPr/>
        </p:nvSpPr>
        <p:spPr bwMode="auto">
          <a:xfrm>
            <a:off x="1920240" y="2359152"/>
            <a:ext cx="1005840" cy="566928"/>
          </a:xfrm>
          <a:prstGeom prst="roundRect">
            <a:avLst>
              <a:gd name="adj" fmla="val 8065"/>
            </a:avLst>
          </a:prstGeom>
          <a:solidFill>
            <a:srgbClr val="101B1F"/>
          </a:solidFill>
          <a:ln w="11430">
            <a:solidFill>
              <a:srgbClr val="6C6B65"/>
            </a:solidFill>
            <a:prstDash val="solid"/>
          </a:ln>
        </p:spPr>
        <p:txBody>
          <a:bodyPr anchor="ctr"/>
          <a:p>
            <a:pPr algn="ctr">
              <a:defRPr/>
            </a:pPr>
            <a:endParaRPr>
              <a:latin typeface="Asana"/>
              <a:cs typeface="Asana"/>
            </a:endParaRPr>
          </a:p>
        </p:txBody>
      </p:sp>
      <p:sp>
        <p:nvSpPr>
          <p:cNvPr id="1230674836" name="Text 75"/>
          <p:cNvSpPr/>
          <p:nvPr/>
        </p:nvSpPr>
        <p:spPr bwMode="auto">
          <a:xfrm>
            <a:off x="1993392" y="2441448"/>
            <a:ext cx="859536" cy="146304"/>
          </a:xfrm>
          <a:prstGeom prst="rect">
            <a:avLst/>
          </a:prstGeom>
          <a:noFill/>
          <a:ln/>
        </p:spPr>
        <p:txBody>
          <a:bodyPr wrap="square" lIns="0" tIns="0" rIns="0" bIns="0" rtlCol="0" anchor="ctr">
            <a:normAutofit/>
          </a:bodyPr>
          <a:lstStyle/>
          <a:p>
            <a:pPr marL="0" indent="0">
              <a:buNone/>
              <a:defRPr/>
            </a:pPr>
            <a:r>
              <a:rPr lang="en-US" sz="650" b="1">
                <a:solidFill>
                  <a:srgbClr val="F4EFEA"/>
                </a:solidFill>
                <a:latin typeface="Asana"/>
                <a:ea typeface="Asana"/>
                <a:cs typeface="Asana"/>
              </a:rPr>
              <a:t>Memory</a:t>
            </a:r>
            <a:endParaRPr sz="650">
              <a:latin typeface="Asana"/>
              <a:cs typeface="Asana"/>
            </a:endParaRPr>
          </a:p>
        </p:txBody>
      </p:sp>
      <p:sp>
        <p:nvSpPr>
          <p:cNvPr id="1659105949" name="Text 76"/>
          <p:cNvSpPr/>
          <p:nvPr/>
        </p:nvSpPr>
        <p:spPr bwMode="auto">
          <a:xfrm>
            <a:off x="1993392" y="2651760"/>
            <a:ext cx="859536" cy="219456"/>
          </a:xfrm>
          <a:prstGeom prst="rect">
            <a:avLst/>
          </a:prstGeom>
          <a:noFill/>
          <a:ln/>
        </p:spPr>
        <p:txBody>
          <a:bodyPr wrap="square" lIns="0" tIns="0" rIns="0" bIns="0" rtlCol="0" anchor="ctr">
            <a:normAutofit/>
          </a:bodyPr>
          <a:lstStyle/>
          <a:p>
            <a:pPr marL="0" indent="0">
              <a:buNone/>
              <a:defRPr/>
            </a:pPr>
            <a:r>
              <a:rPr lang="en-US" sz="500">
                <a:solidFill>
                  <a:srgbClr val="B8C2C3"/>
                </a:solidFill>
                <a:latin typeface="Asana"/>
                <a:ea typeface="Asana"/>
                <a:cs typeface="Asana"/>
              </a:rPr>
              <a:t>last region and result</a:t>
            </a:r>
            <a:endParaRPr sz="500">
              <a:latin typeface="Asana"/>
              <a:cs typeface="Asana"/>
            </a:endParaRPr>
          </a:p>
        </p:txBody>
      </p:sp>
      <p:sp>
        <p:nvSpPr>
          <p:cNvPr id="2064284174" name="Shape 77"/>
          <p:cNvSpPr/>
          <p:nvPr/>
        </p:nvSpPr>
        <p:spPr bwMode="auto">
          <a:xfrm>
            <a:off x="3090672" y="2359152"/>
            <a:ext cx="1005840" cy="566928"/>
          </a:xfrm>
          <a:prstGeom prst="roundRect">
            <a:avLst>
              <a:gd name="adj" fmla="val 8065"/>
            </a:avLst>
          </a:prstGeom>
          <a:solidFill>
            <a:srgbClr val="101B1F"/>
          </a:solidFill>
          <a:ln w="11430">
            <a:solidFill>
              <a:srgbClr val="2E865F"/>
            </a:solidFill>
            <a:prstDash val="solid"/>
          </a:ln>
        </p:spPr>
        <p:txBody>
          <a:bodyPr anchor="ctr"/>
          <a:p>
            <a:pPr algn="ctr">
              <a:defRPr/>
            </a:pPr>
            <a:endParaRPr>
              <a:latin typeface="Asana"/>
              <a:cs typeface="Asana"/>
            </a:endParaRPr>
          </a:p>
        </p:txBody>
      </p:sp>
      <p:sp>
        <p:nvSpPr>
          <p:cNvPr id="463994591" name="Text 78"/>
          <p:cNvSpPr/>
          <p:nvPr/>
        </p:nvSpPr>
        <p:spPr bwMode="auto">
          <a:xfrm>
            <a:off x="3163824" y="2441448"/>
            <a:ext cx="859536" cy="146304"/>
          </a:xfrm>
          <a:prstGeom prst="rect">
            <a:avLst/>
          </a:prstGeom>
          <a:noFill/>
          <a:ln/>
        </p:spPr>
        <p:txBody>
          <a:bodyPr wrap="square" lIns="0" tIns="0" rIns="0" bIns="0" rtlCol="0" anchor="ctr">
            <a:normAutofit/>
          </a:bodyPr>
          <a:lstStyle/>
          <a:p>
            <a:pPr marL="0" indent="0">
              <a:buNone/>
              <a:defRPr/>
            </a:pPr>
            <a:r>
              <a:rPr lang="en-US" sz="650" b="1">
                <a:solidFill>
                  <a:srgbClr val="F4EFEA"/>
                </a:solidFill>
                <a:latin typeface="Asana"/>
                <a:ea typeface="Asana"/>
                <a:cs typeface="Asana"/>
              </a:rPr>
              <a:t>Intent + geo</a:t>
            </a:r>
            <a:endParaRPr sz="650">
              <a:latin typeface="Asana"/>
              <a:cs typeface="Asana"/>
            </a:endParaRPr>
          </a:p>
        </p:txBody>
      </p:sp>
      <p:sp>
        <p:nvSpPr>
          <p:cNvPr id="1620857857" name="Text 79"/>
          <p:cNvSpPr/>
          <p:nvPr/>
        </p:nvSpPr>
        <p:spPr bwMode="auto">
          <a:xfrm>
            <a:off x="3163824" y="2651760"/>
            <a:ext cx="859536" cy="219456"/>
          </a:xfrm>
          <a:prstGeom prst="rect">
            <a:avLst/>
          </a:prstGeom>
          <a:noFill/>
          <a:ln/>
        </p:spPr>
        <p:txBody>
          <a:bodyPr wrap="square" lIns="0" tIns="0" rIns="0" bIns="0" rtlCol="0" anchor="ctr">
            <a:normAutofit/>
          </a:bodyPr>
          <a:lstStyle/>
          <a:p>
            <a:pPr marL="0" indent="0">
              <a:buNone/>
              <a:defRPr/>
            </a:pPr>
            <a:r>
              <a:rPr lang="en-US" sz="500">
                <a:solidFill>
                  <a:srgbClr val="B8C2C3"/>
                </a:solidFill>
                <a:latin typeface="Asana"/>
                <a:ea typeface="Asana"/>
                <a:cs typeface="Asana"/>
              </a:rPr>
              <a:t>route and coordinates</a:t>
            </a:r>
            <a:endParaRPr sz="500">
              <a:latin typeface="Asana"/>
              <a:cs typeface="Asana"/>
            </a:endParaRPr>
          </a:p>
        </p:txBody>
      </p:sp>
      <p:sp>
        <p:nvSpPr>
          <p:cNvPr id="1851510909" name="Shape 80"/>
          <p:cNvSpPr/>
          <p:nvPr/>
        </p:nvSpPr>
        <p:spPr bwMode="auto">
          <a:xfrm>
            <a:off x="4261104" y="2359152"/>
            <a:ext cx="1005840" cy="566928"/>
          </a:xfrm>
          <a:prstGeom prst="roundRect">
            <a:avLst>
              <a:gd name="adj" fmla="val 8065"/>
            </a:avLst>
          </a:prstGeom>
          <a:solidFill>
            <a:srgbClr val="101B1F"/>
          </a:solidFill>
          <a:ln w="11430">
            <a:solidFill>
              <a:srgbClr val="2C7F9E"/>
            </a:solidFill>
            <a:prstDash val="solid"/>
          </a:ln>
        </p:spPr>
        <p:txBody>
          <a:bodyPr anchor="ctr"/>
          <a:p>
            <a:pPr algn="ctr">
              <a:defRPr/>
            </a:pPr>
            <a:endParaRPr>
              <a:latin typeface="Asana"/>
              <a:cs typeface="Asana"/>
            </a:endParaRPr>
          </a:p>
        </p:txBody>
      </p:sp>
      <p:sp>
        <p:nvSpPr>
          <p:cNvPr id="1772193095" name="Text 81"/>
          <p:cNvSpPr/>
          <p:nvPr/>
        </p:nvSpPr>
        <p:spPr bwMode="auto">
          <a:xfrm>
            <a:off x="4334256" y="2441448"/>
            <a:ext cx="859536" cy="146304"/>
          </a:xfrm>
          <a:prstGeom prst="rect">
            <a:avLst/>
          </a:prstGeom>
          <a:noFill/>
          <a:ln/>
        </p:spPr>
        <p:txBody>
          <a:bodyPr wrap="square" lIns="0" tIns="0" rIns="0" bIns="0" rtlCol="0" anchor="ctr">
            <a:normAutofit/>
          </a:bodyPr>
          <a:lstStyle/>
          <a:p>
            <a:pPr marL="0" indent="0">
              <a:buNone/>
              <a:defRPr/>
            </a:pPr>
            <a:r>
              <a:rPr lang="en-US" sz="650" b="1">
                <a:solidFill>
                  <a:srgbClr val="F4EFEA"/>
                </a:solidFill>
                <a:latin typeface="Asana"/>
                <a:ea typeface="Asana"/>
                <a:cs typeface="Asana"/>
              </a:rPr>
              <a:t>Evidence fan-out</a:t>
            </a:r>
            <a:endParaRPr sz="650">
              <a:latin typeface="Asana"/>
              <a:cs typeface="Asana"/>
            </a:endParaRPr>
          </a:p>
        </p:txBody>
      </p:sp>
      <p:sp>
        <p:nvSpPr>
          <p:cNvPr id="1390254383" name="Text 82"/>
          <p:cNvSpPr/>
          <p:nvPr/>
        </p:nvSpPr>
        <p:spPr bwMode="auto">
          <a:xfrm>
            <a:off x="4334256" y="2651760"/>
            <a:ext cx="859536" cy="219456"/>
          </a:xfrm>
          <a:prstGeom prst="rect">
            <a:avLst/>
          </a:prstGeom>
          <a:noFill/>
          <a:ln/>
        </p:spPr>
        <p:txBody>
          <a:bodyPr wrap="square" lIns="0" tIns="0" rIns="0" bIns="0" rtlCol="0" anchor="ctr">
            <a:normAutofit/>
          </a:bodyPr>
          <a:lstStyle/>
          <a:p>
            <a:pPr marL="0" indent="0">
              <a:buNone/>
              <a:defRPr/>
            </a:pPr>
            <a:r>
              <a:rPr lang="en-US" sz="500">
                <a:solidFill>
                  <a:srgbClr val="B8C2C3"/>
                </a:solidFill>
                <a:latin typeface="Asana"/>
                <a:ea typeface="Asana"/>
                <a:cs typeface="Asana"/>
              </a:rPr>
              <a:t>configured API calls</a:t>
            </a:r>
            <a:endParaRPr sz="500">
              <a:latin typeface="Asana"/>
              <a:cs typeface="Asana"/>
            </a:endParaRPr>
          </a:p>
        </p:txBody>
      </p:sp>
      <p:sp>
        <p:nvSpPr>
          <p:cNvPr id="705476930" name="Shape 83"/>
          <p:cNvSpPr/>
          <p:nvPr/>
        </p:nvSpPr>
        <p:spPr bwMode="auto">
          <a:xfrm>
            <a:off x="5431536" y="2359152"/>
            <a:ext cx="1005840" cy="566928"/>
          </a:xfrm>
          <a:prstGeom prst="roundRect">
            <a:avLst>
              <a:gd name="adj" fmla="val 8065"/>
            </a:avLst>
          </a:prstGeom>
          <a:solidFill>
            <a:srgbClr val="101B1F"/>
          </a:solidFill>
          <a:ln w="11430">
            <a:solidFill>
              <a:srgbClr val="108A98"/>
            </a:solidFill>
            <a:prstDash val="solid"/>
          </a:ln>
        </p:spPr>
        <p:txBody>
          <a:bodyPr anchor="ctr"/>
          <a:p>
            <a:pPr algn="ctr">
              <a:defRPr/>
            </a:pPr>
            <a:endParaRPr>
              <a:latin typeface="Asana"/>
              <a:cs typeface="Asana"/>
            </a:endParaRPr>
          </a:p>
        </p:txBody>
      </p:sp>
      <p:sp>
        <p:nvSpPr>
          <p:cNvPr id="164984213" name="Text 84"/>
          <p:cNvSpPr/>
          <p:nvPr/>
        </p:nvSpPr>
        <p:spPr bwMode="auto">
          <a:xfrm>
            <a:off x="5504687" y="2441448"/>
            <a:ext cx="859536" cy="146304"/>
          </a:xfrm>
          <a:prstGeom prst="rect">
            <a:avLst/>
          </a:prstGeom>
          <a:noFill/>
          <a:ln/>
        </p:spPr>
        <p:txBody>
          <a:bodyPr wrap="square" lIns="0" tIns="0" rIns="0" bIns="0" rtlCol="0" anchor="ctr">
            <a:normAutofit/>
          </a:bodyPr>
          <a:lstStyle/>
          <a:p>
            <a:pPr marL="0" indent="0">
              <a:buNone/>
              <a:defRPr/>
            </a:pPr>
            <a:r>
              <a:rPr lang="en-US" sz="650" b="1">
                <a:solidFill>
                  <a:srgbClr val="F4EFEA"/>
                </a:solidFill>
                <a:latin typeface="Asana"/>
                <a:ea typeface="Asana"/>
                <a:cs typeface="Asana"/>
              </a:rPr>
              <a:t>Normalize</a:t>
            </a:r>
            <a:endParaRPr sz="650">
              <a:latin typeface="Asana"/>
              <a:cs typeface="Asana"/>
            </a:endParaRPr>
          </a:p>
        </p:txBody>
      </p:sp>
      <p:sp>
        <p:nvSpPr>
          <p:cNvPr id="1561356819" name="Text 85"/>
          <p:cNvSpPr/>
          <p:nvPr/>
        </p:nvSpPr>
        <p:spPr bwMode="auto">
          <a:xfrm>
            <a:off x="5504687" y="2651760"/>
            <a:ext cx="859536" cy="219456"/>
          </a:xfrm>
          <a:prstGeom prst="rect">
            <a:avLst/>
          </a:prstGeom>
          <a:noFill/>
          <a:ln/>
        </p:spPr>
        <p:txBody>
          <a:bodyPr wrap="square" lIns="0" tIns="0" rIns="0" bIns="0" rtlCol="0" anchor="ctr">
            <a:normAutofit/>
          </a:bodyPr>
          <a:lstStyle/>
          <a:p>
            <a:pPr marL="0" indent="0">
              <a:buNone/>
              <a:defRPr/>
            </a:pPr>
            <a:r>
              <a:rPr lang="en-US" sz="500">
                <a:solidFill>
                  <a:srgbClr val="B8C2C3"/>
                </a:solidFill>
                <a:latin typeface="Asana"/>
                <a:ea typeface="Asana"/>
                <a:cs typeface="Asana"/>
              </a:rPr>
              <a:t>filter distant signals</a:t>
            </a:r>
            <a:endParaRPr sz="500">
              <a:latin typeface="Asana"/>
              <a:cs typeface="Asana"/>
            </a:endParaRPr>
          </a:p>
        </p:txBody>
      </p:sp>
      <p:sp>
        <p:nvSpPr>
          <p:cNvPr id="1066930989" name="Shape 86"/>
          <p:cNvSpPr/>
          <p:nvPr/>
        </p:nvSpPr>
        <p:spPr bwMode="auto">
          <a:xfrm>
            <a:off x="6601968" y="2359152"/>
            <a:ext cx="1005840" cy="566928"/>
          </a:xfrm>
          <a:prstGeom prst="roundRect">
            <a:avLst>
              <a:gd name="adj" fmla="val 8065"/>
            </a:avLst>
          </a:prstGeom>
          <a:solidFill>
            <a:srgbClr val="101B1F"/>
          </a:solidFill>
          <a:ln w="11430">
            <a:solidFill>
              <a:srgbClr val="C53E2F"/>
            </a:solidFill>
            <a:prstDash val="solid"/>
          </a:ln>
        </p:spPr>
        <p:txBody>
          <a:bodyPr anchor="ctr"/>
          <a:p>
            <a:pPr algn="ctr">
              <a:defRPr/>
            </a:pPr>
            <a:endParaRPr>
              <a:latin typeface="Asana"/>
              <a:cs typeface="Asana"/>
            </a:endParaRPr>
          </a:p>
        </p:txBody>
      </p:sp>
      <p:sp>
        <p:nvSpPr>
          <p:cNvPr id="1376342087" name="Text 87"/>
          <p:cNvSpPr/>
          <p:nvPr/>
        </p:nvSpPr>
        <p:spPr bwMode="auto">
          <a:xfrm>
            <a:off x="6675120" y="2441448"/>
            <a:ext cx="859536" cy="146304"/>
          </a:xfrm>
          <a:prstGeom prst="rect">
            <a:avLst/>
          </a:prstGeom>
          <a:noFill/>
          <a:ln/>
        </p:spPr>
        <p:txBody>
          <a:bodyPr wrap="square" lIns="0" tIns="0" rIns="0" bIns="0" rtlCol="0" anchor="ctr">
            <a:normAutofit/>
          </a:bodyPr>
          <a:lstStyle/>
          <a:p>
            <a:pPr marL="0" indent="0">
              <a:buNone/>
              <a:defRPr/>
            </a:pPr>
            <a:r>
              <a:rPr lang="en-US" sz="650" b="1">
                <a:solidFill>
                  <a:srgbClr val="F4EFEA"/>
                </a:solidFill>
                <a:latin typeface="Asana"/>
                <a:ea typeface="Asana"/>
                <a:cs typeface="Asana"/>
              </a:rPr>
              <a:t>OSINT score</a:t>
            </a:r>
            <a:endParaRPr sz="650">
              <a:latin typeface="Asana"/>
              <a:cs typeface="Asana"/>
            </a:endParaRPr>
          </a:p>
        </p:txBody>
      </p:sp>
      <p:sp>
        <p:nvSpPr>
          <p:cNvPr id="1875561977" name="Text 88"/>
          <p:cNvSpPr/>
          <p:nvPr/>
        </p:nvSpPr>
        <p:spPr bwMode="auto">
          <a:xfrm>
            <a:off x="6675120" y="2651760"/>
            <a:ext cx="859536" cy="219456"/>
          </a:xfrm>
          <a:prstGeom prst="rect">
            <a:avLst/>
          </a:prstGeom>
          <a:noFill/>
          <a:ln/>
        </p:spPr>
        <p:txBody>
          <a:bodyPr wrap="square" lIns="0" tIns="0" rIns="0" bIns="0" rtlCol="0" anchor="ctr">
            <a:normAutofit/>
          </a:bodyPr>
          <a:lstStyle/>
          <a:p>
            <a:pPr marL="0" indent="0">
              <a:buNone/>
              <a:defRPr/>
            </a:pPr>
            <a:r>
              <a:rPr lang="en-US" sz="500">
                <a:solidFill>
                  <a:srgbClr val="B8C2C3"/>
                </a:solidFill>
                <a:latin typeface="Asana"/>
                <a:ea typeface="Asana"/>
                <a:cs typeface="Asana"/>
              </a:rPr>
              <a:t>severity + confidence</a:t>
            </a:r>
            <a:endParaRPr sz="500">
              <a:latin typeface="Asana"/>
              <a:cs typeface="Asana"/>
            </a:endParaRPr>
          </a:p>
        </p:txBody>
      </p:sp>
      <p:sp>
        <p:nvSpPr>
          <p:cNvPr id="638910649" name="Shape 89"/>
          <p:cNvSpPr/>
          <p:nvPr/>
        </p:nvSpPr>
        <p:spPr bwMode="auto">
          <a:xfrm>
            <a:off x="7772400" y="2359152"/>
            <a:ext cx="1005840" cy="566928"/>
          </a:xfrm>
          <a:prstGeom prst="roundRect">
            <a:avLst>
              <a:gd name="adj" fmla="val 8065"/>
            </a:avLst>
          </a:prstGeom>
          <a:solidFill>
            <a:srgbClr val="101B1F"/>
          </a:solidFill>
          <a:ln w="11430">
            <a:solidFill>
              <a:srgbClr val="C28722"/>
            </a:solidFill>
            <a:prstDash val="solid"/>
          </a:ln>
        </p:spPr>
        <p:txBody>
          <a:bodyPr anchor="ctr"/>
          <a:p>
            <a:pPr algn="ctr">
              <a:defRPr/>
            </a:pPr>
            <a:endParaRPr>
              <a:latin typeface="Asana"/>
              <a:cs typeface="Asana"/>
            </a:endParaRPr>
          </a:p>
        </p:txBody>
      </p:sp>
      <p:sp>
        <p:nvSpPr>
          <p:cNvPr id="2114198747" name="Text 90"/>
          <p:cNvSpPr/>
          <p:nvPr/>
        </p:nvSpPr>
        <p:spPr bwMode="auto">
          <a:xfrm>
            <a:off x="7845552" y="2441448"/>
            <a:ext cx="859536" cy="146304"/>
          </a:xfrm>
          <a:prstGeom prst="rect">
            <a:avLst/>
          </a:prstGeom>
          <a:noFill/>
          <a:ln/>
        </p:spPr>
        <p:txBody>
          <a:bodyPr wrap="square" lIns="0" tIns="0" rIns="0" bIns="0" rtlCol="0" anchor="ctr">
            <a:normAutofit/>
          </a:bodyPr>
          <a:lstStyle/>
          <a:p>
            <a:pPr marL="0" indent="0">
              <a:buNone/>
              <a:defRPr/>
            </a:pPr>
            <a:r>
              <a:rPr lang="en-US" sz="650" b="1">
                <a:solidFill>
                  <a:srgbClr val="F4EFEA"/>
                </a:solidFill>
                <a:latin typeface="Asana"/>
                <a:ea typeface="Asana"/>
                <a:cs typeface="Asana"/>
              </a:rPr>
              <a:t>Action</a:t>
            </a:r>
            <a:endParaRPr sz="650">
              <a:latin typeface="Asana"/>
              <a:cs typeface="Asana"/>
            </a:endParaRPr>
          </a:p>
        </p:txBody>
      </p:sp>
      <p:sp>
        <p:nvSpPr>
          <p:cNvPr id="753675076" name="Text 91"/>
          <p:cNvSpPr/>
          <p:nvPr/>
        </p:nvSpPr>
        <p:spPr bwMode="auto">
          <a:xfrm>
            <a:off x="7845552" y="2651760"/>
            <a:ext cx="859536" cy="219456"/>
          </a:xfrm>
          <a:prstGeom prst="rect">
            <a:avLst/>
          </a:prstGeom>
          <a:noFill/>
          <a:ln/>
        </p:spPr>
        <p:txBody>
          <a:bodyPr wrap="square" lIns="0" tIns="0" rIns="0" bIns="0" rtlCol="0" anchor="ctr">
            <a:normAutofit/>
          </a:bodyPr>
          <a:lstStyle/>
          <a:p>
            <a:pPr marL="0" indent="0">
              <a:buNone/>
              <a:defRPr/>
            </a:pPr>
            <a:r>
              <a:rPr lang="en-US" sz="500">
                <a:solidFill>
                  <a:srgbClr val="B8C2C3"/>
                </a:solidFill>
                <a:latin typeface="Asana"/>
                <a:ea typeface="Asana"/>
                <a:cs typeface="Asana"/>
              </a:rPr>
              <a:t>stakeholder guidance</a:t>
            </a:r>
            <a:endParaRPr sz="500">
              <a:latin typeface="Asana"/>
              <a:cs typeface="Asana"/>
            </a:endParaRPr>
          </a:p>
        </p:txBody>
      </p:sp>
      <p:sp>
        <p:nvSpPr>
          <p:cNvPr id="1433767888" name="Shape 92"/>
          <p:cNvSpPr/>
          <p:nvPr/>
        </p:nvSpPr>
        <p:spPr bwMode="auto">
          <a:xfrm>
            <a:off x="8942832" y="2359152"/>
            <a:ext cx="1005840" cy="566928"/>
          </a:xfrm>
          <a:prstGeom prst="roundRect">
            <a:avLst>
              <a:gd name="adj" fmla="val 8065"/>
            </a:avLst>
          </a:prstGeom>
          <a:solidFill>
            <a:srgbClr val="101B1F"/>
          </a:solidFill>
          <a:ln w="11430">
            <a:solidFill>
              <a:srgbClr val="6C6B65"/>
            </a:solidFill>
            <a:prstDash val="solid"/>
          </a:ln>
        </p:spPr>
        <p:txBody>
          <a:bodyPr anchor="ctr"/>
          <a:p>
            <a:pPr algn="ctr">
              <a:defRPr/>
            </a:pPr>
            <a:endParaRPr>
              <a:latin typeface="Asana"/>
              <a:cs typeface="Asana"/>
            </a:endParaRPr>
          </a:p>
        </p:txBody>
      </p:sp>
      <p:sp>
        <p:nvSpPr>
          <p:cNvPr id="45316732" name="Text 93"/>
          <p:cNvSpPr/>
          <p:nvPr/>
        </p:nvSpPr>
        <p:spPr bwMode="auto">
          <a:xfrm>
            <a:off x="9015984" y="2441448"/>
            <a:ext cx="859536" cy="146304"/>
          </a:xfrm>
          <a:prstGeom prst="rect">
            <a:avLst/>
          </a:prstGeom>
          <a:noFill/>
          <a:ln/>
        </p:spPr>
        <p:txBody>
          <a:bodyPr wrap="square" lIns="0" tIns="0" rIns="0" bIns="0" rtlCol="0" anchor="ctr">
            <a:normAutofit/>
          </a:bodyPr>
          <a:lstStyle/>
          <a:p>
            <a:pPr marL="0" indent="0">
              <a:buNone/>
              <a:defRPr/>
            </a:pPr>
            <a:r>
              <a:rPr lang="en-US" sz="650" b="1">
                <a:solidFill>
                  <a:srgbClr val="F4EFEA"/>
                </a:solidFill>
                <a:latin typeface="Asana"/>
                <a:ea typeface="Asana"/>
                <a:cs typeface="Asana"/>
              </a:rPr>
              <a:t>Save state</a:t>
            </a:r>
            <a:endParaRPr sz="650">
              <a:latin typeface="Asana"/>
              <a:cs typeface="Asana"/>
            </a:endParaRPr>
          </a:p>
        </p:txBody>
      </p:sp>
      <p:sp>
        <p:nvSpPr>
          <p:cNvPr id="1809976905" name="Text 94"/>
          <p:cNvSpPr/>
          <p:nvPr/>
        </p:nvSpPr>
        <p:spPr bwMode="auto">
          <a:xfrm>
            <a:off x="9015984" y="2651760"/>
            <a:ext cx="859536" cy="219456"/>
          </a:xfrm>
          <a:prstGeom prst="rect">
            <a:avLst/>
          </a:prstGeom>
          <a:noFill/>
          <a:ln/>
        </p:spPr>
        <p:txBody>
          <a:bodyPr wrap="square" lIns="0" tIns="0" rIns="0" bIns="0" rtlCol="0" anchor="ctr">
            <a:normAutofit/>
          </a:bodyPr>
          <a:lstStyle/>
          <a:p>
            <a:pPr marL="0" indent="0">
              <a:buNone/>
              <a:defRPr/>
            </a:pPr>
            <a:r>
              <a:rPr lang="en-US" sz="500">
                <a:solidFill>
                  <a:srgbClr val="B8C2C3"/>
                </a:solidFill>
                <a:latin typeface="Asana"/>
                <a:ea typeface="Asana"/>
                <a:cs typeface="Asana"/>
              </a:rPr>
              <a:t>session memory</a:t>
            </a:r>
            <a:endParaRPr sz="500">
              <a:latin typeface="Asana"/>
              <a:cs typeface="Asana"/>
            </a:endParaRPr>
          </a:p>
        </p:txBody>
      </p:sp>
      <p:sp>
        <p:nvSpPr>
          <p:cNvPr id="2013088525" name="Shape 95"/>
          <p:cNvSpPr/>
          <p:nvPr/>
        </p:nvSpPr>
        <p:spPr bwMode="auto">
          <a:xfrm>
            <a:off x="10113264" y="2359152"/>
            <a:ext cx="1005840" cy="566928"/>
          </a:xfrm>
          <a:prstGeom prst="roundRect">
            <a:avLst>
              <a:gd name="adj" fmla="val 8065"/>
            </a:avLst>
          </a:prstGeom>
          <a:solidFill>
            <a:srgbClr val="101B1F"/>
          </a:solidFill>
          <a:ln w="11430">
            <a:solidFill>
              <a:srgbClr val="108A98"/>
            </a:solidFill>
            <a:prstDash val="solid"/>
          </a:ln>
        </p:spPr>
        <p:txBody>
          <a:bodyPr anchor="ctr"/>
          <a:p>
            <a:pPr algn="ctr">
              <a:defRPr/>
            </a:pPr>
            <a:endParaRPr>
              <a:latin typeface="Asana"/>
              <a:cs typeface="Asana"/>
            </a:endParaRPr>
          </a:p>
        </p:txBody>
      </p:sp>
      <p:sp>
        <p:nvSpPr>
          <p:cNvPr id="675669332" name="Text 96"/>
          <p:cNvSpPr/>
          <p:nvPr/>
        </p:nvSpPr>
        <p:spPr bwMode="auto">
          <a:xfrm>
            <a:off x="10186416" y="2441448"/>
            <a:ext cx="859536" cy="146304"/>
          </a:xfrm>
          <a:prstGeom prst="rect">
            <a:avLst/>
          </a:prstGeom>
          <a:noFill/>
          <a:ln/>
        </p:spPr>
        <p:txBody>
          <a:bodyPr wrap="square" lIns="0" tIns="0" rIns="0" bIns="0" rtlCol="0" anchor="ctr">
            <a:normAutofit/>
          </a:bodyPr>
          <a:lstStyle/>
          <a:p>
            <a:pPr marL="0" indent="0">
              <a:buNone/>
              <a:defRPr/>
            </a:pPr>
            <a:r>
              <a:rPr lang="en-US" sz="650" b="1">
                <a:solidFill>
                  <a:srgbClr val="F4EFEA"/>
                </a:solidFill>
                <a:latin typeface="Asana"/>
                <a:ea typeface="Asana"/>
                <a:cs typeface="Asana"/>
              </a:rPr>
              <a:t>Response</a:t>
            </a:r>
            <a:endParaRPr sz="650">
              <a:latin typeface="Asana"/>
              <a:cs typeface="Asana"/>
            </a:endParaRPr>
          </a:p>
        </p:txBody>
      </p:sp>
      <p:sp>
        <p:nvSpPr>
          <p:cNvPr id="1881101720" name="Text 97"/>
          <p:cNvSpPr/>
          <p:nvPr/>
        </p:nvSpPr>
        <p:spPr bwMode="auto">
          <a:xfrm>
            <a:off x="10186416" y="2651760"/>
            <a:ext cx="859536" cy="219456"/>
          </a:xfrm>
          <a:prstGeom prst="rect">
            <a:avLst/>
          </a:prstGeom>
          <a:noFill/>
          <a:ln/>
        </p:spPr>
        <p:txBody>
          <a:bodyPr wrap="square" lIns="0" tIns="0" rIns="0" bIns="0" rtlCol="0" anchor="ctr">
            <a:normAutofit/>
          </a:bodyPr>
          <a:lstStyle/>
          <a:p>
            <a:pPr marL="0" indent="0">
              <a:buNone/>
              <a:defRPr/>
            </a:pPr>
            <a:r>
              <a:rPr lang="en-US" sz="500">
                <a:solidFill>
                  <a:srgbClr val="B8C2C3"/>
                </a:solidFill>
                <a:latin typeface="Asana"/>
                <a:ea typeface="Asana"/>
                <a:cs typeface="Asana"/>
              </a:rPr>
              <a:t>safe chat JSON</a:t>
            </a:r>
            <a:endParaRPr sz="500">
              <a:latin typeface="Asana"/>
              <a:cs typeface="Asana"/>
            </a:endParaRPr>
          </a:p>
        </p:txBody>
      </p:sp>
      <p:sp>
        <p:nvSpPr>
          <p:cNvPr id="1184805528" name="Text 98"/>
          <p:cNvSpPr/>
          <p:nvPr/>
        </p:nvSpPr>
        <p:spPr bwMode="auto">
          <a:xfrm>
            <a:off x="786384" y="5870448"/>
            <a:ext cx="7315200" cy="109728"/>
          </a:xfrm>
          <a:prstGeom prst="rect">
            <a:avLst/>
          </a:prstGeom>
          <a:noFill/>
          <a:ln/>
        </p:spPr>
        <p:txBody>
          <a:bodyPr wrap="square" lIns="0" tIns="0" rIns="0" bIns="0" rtlCol="0" anchor="ctr"/>
          <a:lstStyle/>
          <a:p>
            <a:pPr marL="0" indent="0">
              <a:buNone/>
              <a:defRPr/>
            </a:pPr>
            <a:r>
              <a:rPr lang="en-US" sz="600" b="1">
                <a:solidFill>
                  <a:srgbClr val="92A2A2"/>
                </a:solidFill>
                <a:latin typeface="Asana"/>
                <a:ea typeface="Asana"/>
                <a:cs typeface="Asana"/>
              </a:rPr>
              <a:t>47 NODES IN THE CURRENT EXPORT. REPEATED PARSING, SOURCE SKIPS </a:t>
            </a:r>
            <a:r>
              <a:rPr lang="en-US" sz="600" b="1">
                <a:solidFill>
                  <a:srgbClr val="92A2A2"/>
                </a:solidFill>
                <a:latin typeface="Asana"/>
                <a:ea typeface="Asana"/>
                <a:cs typeface="Asana"/>
              </a:rPr>
              <a:t>AND </a:t>
            </a:r>
            <a:r>
              <a:rPr lang="en-US" sz="600" b="1">
                <a:solidFill>
                  <a:srgbClr val="92A2A2"/>
                </a:solidFill>
                <a:latin typeface="Asana"/>
                <a:ea typeface="Asana"/>
                <a:cs typeface="Asana"/>
              </a:rPr>
              <a:t>RESPONSE FORMATTING ARE GROUPED IN THIS VIEW.</a:t>
            </a:r>
            <a:endParaRPr sz="600" b="1">
              <a:latin typeface="Asana"/>
              <a:cs typeface="Asana"/>
            </a:endParaRPr>
          </a:p>
        </p:txBody>
      </p:sp>
      <p:sp>
        <p:nvSpPr>
          <p:cNvPr id="776588815" name="Shape 47"/>
          <p:cNvSpPr/>
          <p:nvPr/>
        </p:nvSpPr>
        <p:spPr bwMode="auto">
          <a:xfrm flipH="0" flipV="1">
            <a:off x="2688155" y="4626864"/>
            <a:ext cx="640440" cy="0"/>
          </a:xfrm>
          <a:prstGeom prst="line">
            <a:avLst/>
          </a:prstGeom>
          <a:noFill/>
          <a:ln w="8890">
            <a:solidFill>
              <a:srgbClr val="2C7F9E"/>
            </a:solidFill>
            <a:prstDash val="solid"/>
            <a:headEnd type="none"/>
            <a:tailEnd type="triangle"/>
          </a:ln>
        </p:spPr>
      </p:sp>
      <p:sp>
        <p:nvSpPr>
          <p:cNvPr id="635848446" name="Shape 42"/>
          <p:cNvSpPr/>
          <p:nvPr/>
        </p:nvSpPr>
        <p:spPr bwMode="auto">
          <a:xfrm flipH="0" flipV="0">
            <a:off x="4764024" y="4626864"/>
            <a:ext cx="630936" cy="0"/>
          </a:xfrm>
          <a:prstGeom prst="line">
            <a:avLst/>
          </a:prstGeom>
          <a:noFill/>
          <a:ln w="9525">
            <a:solidFill>
              <a:srgbClr val="C53E2F"/>
            </a:solidFill>
            <a:prstDash val="solid"/>
            <a:headEnd type="none"/>
            <a:tailEnd type="triangle"/>
          </a:ln>
        </p:spPr>
      </p:sp>
      <p:sp>
        <p:nvSpPr>
          <p:cNvPr id="688705384" name="Shape 43"/>
          <p:cNvSpPr/>
          <p:nvPr/>
        </p:nvSpPr>
        <p:spPr bwMode="auto">
          <a:xfrm flipH="0" flipV="0">
            <a:off x="6812280" y="4635648"/>
            <a:ext cx="640079" cy="360"/>
          </a:xfrm>
          <a:prstGeom prst="line">
            <a:avLst/>
          </a:prstGeom>
          <a:noFill/>
          <a:ln w="9525">
            <a:solidFill>
              <a:srgbClr val="C28722"/>
            </a:solidFill>
            <a:prstDash val="solid"/>
            <a:headEnd type="none"/>
            <a:tailEnd type="triangle"/>
          </a:ln>
        </p:spPr>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500" advClick="1">
        <p:fade thruBlk="0"/>
      </p:transition>
    </mc:Choice>
    <mc:Fallback>
      <p:transition spd="fast" advClick="1">
        <p:fade thruBlk="0"/>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9">
    <p:bg>
      <p:bgPr shadeToTitle="0">
        <a:solidFill>
          <a:srgbClr val="F4EFEA"/>
        </a:solidFill>
      </p:bgPr>
    </p:bg>
    <p:spTree>
      <p:nvGrpSpPr>
        <p:cNvPr id="1" name=""/>
        <p:cNvGrpSpPr/>
        <p:nvPr/>
      </p:nvGrpSpPr>
      <p:grpSpPr bwMode="auto">
        <a:xfrm>
          <a:off x="0" y="0"/>
          <a:ext cx="0" cy="0"/>
          <a:chOff x="0" y="0"/>
          <a:chExt cx="0" cy="0"/>
        </a:xfrm>
      </p:grpSpPr>
      <p:sp>
        <p:nvSpPr>
          <p:cNvPr id="712288610" name="Shape 0"/>
          <p:cNvSpPr/>
          <p:nvPr/>
        </p:nvSpPr>
        <p:spPr bwMode="auto">
          <a:xfrm>
            <a:off x="164592" y="164592"/>
            <a:ext cx="11859768" cy="6528816"/>
          </a:xfrm>
          <a:prstGeom prst="rect">
            <a:avLst/>
          </a:prstGeom>
          <a:solidFill>
            <a:srgbClr val="F4EFEA">
              <a:alpha val="0"/>
            </a:srgbClr>
          </a:solidFill>
          <a:ln w="10160">
            <a:solidFill>
              <a:srgbClr val="27343A"/>
            </a:solidFill>
            <a:prstDash val="solid"/>
          </a:ln>
        </p:spPr>
        <p:txBody>
          <a:bodyPr anchor="ctr"/>
          <a:p>
            <a:pPr algn="ctr">
              <a:defRPr/>
            </a:pPr>
            <a:endParaRPr strike="noStrike">
              <a:latin typeface="Asana"/>
              <a:cs typeface="Asana"/>
            </a:endParaRPr>
          </a:p>
        </p:txBody>
      </p:sp>
      <p:sp>
        <p:nvSpPr>
          <p:cNvPr id="140102025" name="Shape 1"/>
          <p:cNvSpPr/>
          <p:nvPr/>
        </p:nvSpPr>
        <p:spPr bwMode="auto">
          <a:xfrm>
            <a:off x="36576" y="164592"/>
            <a:ext cx="256032" cy="0"/>
          </a:xfrm>
          <a:prstGeom prst="line">
            <a:avLst/>
          </a:prstGeom>
          <a:noFill/>
          <a:ln w="9525">
            <a:solidFill>
              <a:srgbClr val="27343A"/>
            </a:solidFill>
            <a:prstDash val="solid"/>
          </a:ln>
        </p:spPr>
      </p:sp>
      <p:sp>
        <p:nvSpPr>
          <p:cNvPr id="77808725" name="Shape 2"/>
          <p:cNvSpPr/>
          <p:nvPr/>
        </p:nvSpPr>
        <p:spPr bwMode="auto">
          <a:xfrm>
            <a:off x="164592" y="36576"/>
            <a:ext cx="0" cy="256032"/>
          </a:xfrm>
          <a:prstGeom prst="line">
            <a:avLst/>
          </a:prstGeom>
          <a:noFill/>
          <a:ln w="9525">
            <a:solidFill>
              <a:srgbClr val="27343A"/>
            </a:solidFill>
            <a:prstDash val="solid"/>
          </a:ln>
        </p:spPr>
      </p:sp>
      <p:sp>
        <p:nvSpPr>
          <p:cNvPr id="572610987" name="Shape 3"/>
          <p:cNvSpPr/>
          <p:nvPr/>
        </p:nvSpPr>
        <p:spPr bwMode="auto">
          <a:xfrm>
            <a:off x="11896344" y="164592"/>
            <a:ext cx="256032" cy="0"/>
          </a:xfrm>
          <a:prstGeom prst="line">
            <a:avLst/>
          </a:prstGeom>
          <a:noFill/>
          <a:ln w="9525">
            <a:solidFill>
              <a:srgbClr val="27343A"/>
            </a:solidFill>
            <a:prstDash val="solid"/>
          </a:ln>
        </p:spPr>
      </p:sp>
      <p:sp>
        <p:nvSpPr>
          <p:cNvPr id="1481140416" name="Shape 4"/>
          <p:cNvSpPr/>
          <p:nvPr/>
        </p:nvSpPr>
        <p:spPr bwMode="auto">
          <a:xfrm>
            <a:off x="12024360" y="36576"/>
            <a:ext cx="0" cy="256032"/>
          </a:xfrm>
          <a:prstGeom prst="line">
            <a:avLst/>
          </a:prstGeom>
          <a:noFill/>
          <a:ln w="9525">
            <a:solidFill>
              <a:srgbClr val="27343A"/>
            </a:solidFill>
            <a:prstDash val="solid"/>
          </a:ln>
        </p:spPr>
      </p:sp>
      <p:sp>
        <p:nvSpPr>
          <p:cNvPr id="1490087079" name="Shape 5"/>
          <p:cNvSpPr/>
          <p:nvPr/>
        </p:nvSpPr>
        <p:spPr bwMode="auto">
          <a:xfrm>
            <a:off x="36576" y="6693408"/>
            <a:ext cx="256032" cy="0"/>
          </a:xfrm>
          <a:prstGeom prst="line">
            <a:avLst/>
          </a:prstGeom>
          <a:noFill/>
          <a:ln w="9525">
            <a:solidFill>
              <a:srgbClr val="27343A"/>
            </a:solidFill>
            <a:prstDash val="solid"/>
          </a:ln>
        </p:spPr>
      </p:sp>
      <p:sp>
        <p:nvSpPr>
          <p:cNvPr id="1950567636" name="Shape 6"/>
          <p:cNvSpPr/>
          <p:nvPr/>
        </p:nvSpPr>
        <p:spPr bwMode="auto">
          <a:xfrm>
            <a:off x="164592" y="6565392"/>
            <a:ext cx="0" cy="256032"/>
          </a:xfrm>
          <a:prstGeom prst="line">
            <a:avLst/>
          </a:prstGeom>
          <a:noFill/>
          <a:ln w="9525">
            <a:solidFill>
              <a:srgbClr val="27343A"/>
            </a:solidFill>
            <a:prstDash val="solid"/>
          </a:ln>
        </p:spPr>
      </p:sp>
      <p:sp>
        <p:nvSpPr>
          <p:cNvPr id="76778197" name="Shape 7"/>
          <p:cNvSpPr/>
          <p:nvPr/>
        </p:nvSpPr>
        <p:spPr bwMode="auto">
          <a:xfrm>
            <a:off x="11896344" y="6693408"/>
            <a:ext cx="256032" cy="0"/>
          </a:xfrm>
          <a:prstGeom prst="line">
            <a:avLst/>
          </a:prstGeom>
          <a:noFill/>
          <a:ln w="9525">
            <a:solidFill>
              <a:srgbClr val="27343A"/>
            </a:solidFill>
            <a:prstDash val="solid"/>
          </a:ln>
        </p:spPr>
      </p:sp>
      <p:sp>
        <p:nvSpPr>
          <p:cNvPr id="1884300929" name="Shape 8"/>
          <p:cNvSpPr/>
          <p:nvPr/>
        </p:nvSpPr>
        <p:spPr bwMode="auto">
          <a:xfrm>
            <a:off x="12024360" y="6565392"/>
            <a:ext cx="0" cy="256032"/>
          </a:xfrm>
          <a:prstGeom prst="line">
            <a:avLst/>
          </a:prstGeom>
          <a:noFill/>
          <a:ln w="9525">
            <a:solidFill>
              <a:srgbClr val="27343A"/>
            </a:solidFill>
            <a:prstDash val="solid"/>
          </a:ln>
        </p:spPr>
      </p:sp>
      <p:sp>
        <p:nvSpPr>
          <p:cNvPr id="358117887" name="Text 9"/>
          <p:cNvSpPr/>
          <p:nvPr/>
        </p:nvSpPr>
        <p:spPr bwMode="auto">
          <a:xfrm>
            <a:off x="393192" y="393192"/>
            <a:ext cx="2834640" cy="109728"/>
          </a:xfrm>
          <a:prstGeom prst="rect">
            <a:avLst/>
          </a:prstGeom>
          <a:noFill/>
          <a:ln/>
        </p:spPr>
        <p:txBody>
          <a:bodyPr wrap="square" lIns="0" tIns="0" rIns="0" bIns="0" rtlCol="0" anchor="ctr"/>
          <a:lstStyle/>
          <a:p>
            <a:pPr marL="0" indent="0">
              <a:buNone/>
              <a:defRPr/>
            </a:pPr>
            <a:r>
              <a:rPr lang="en-US" sz="500" strike="noStrike">
                <a:solidFill>
                  <a:srgbClr val="6C6B65"/>
                </a:solidFill>
                <a:latin typeface="Asana"/>
                <a:ea typeface="Asana"/>
                <a:cs typeface="Asana"/>
              </a:rPr>
              <a:t>WIAAS ASIA FIELD ATLAS</a:t>
            </a:r>
            <a:endParaRPr sz="500" strike="noStrike">
              <a:latin typeface="Asana"/>
              <a:cs typeface="Asana"/>
            </a:endParaRPr>
          </a:p>
        </p:txBody>
      </p:sp>
      <p:sp>
        <p:nvSpPr>
          <p:cNvPr id="1983965865" name="Text 10"/>
          <p:cNvSpPr/>
          <p:nvPr/>
        </p:nvSpPr>
        <p:spPr bwMode="auto">
          <a:xfrm>
            <a:off x="9418320" y="393192"/>
            <a:ext cx="2331720" cy="109728"/>
          </a:xfrm>
          <a:prstGeom prst="rect">
            <a:avLst/>
          </a:prstGeom>
          <a:noFill/>
          <a:ln/>
        </p:spPr>
        <p:txBody>
          <a:bodyPr wrap="square" lIns="0" tIns="0" rIns="0" bIns="0" rtlCol="0" anchor="ctr"/>
          <a:lstStyle/>
          <a:p>
            <a:pPr marL="0" indent="0" algn="r">
              <a:buNone/>
              <a:defRPr/>
            </a:pPr>
            <a:r>
              <a:rPr lang="en-US" sz="700" b="1" strike="noStrike">
                <a:solidFill>
                  <a:srgbClr val="6C6B65"/>
                </a:solidFill>
                <a:latin typeface="Asana"/>
                <a:ea typeface="Asana"/>
                <a:cs typeface="Asana"/>
              </a:rPr>
              <a:t>PLATE 09 - MODEL USE AND TRACEABILITY</a:t>
            </a:r>
            <a:endParaRPr sz="700" b="1" strike="noStrike">
              <a:latin typeface="Asana"/>
              <a:cs typeface="Asana"/>
            </a:endParaRPr>
          </a:p>
        </p:txBody>
      </p:sp>
      <p:sp>
        <p:nvSpPr>
          <p:cNvPr id="30937909" name="Text 11"/>
          <p:cNvSpPr/>
          <p:nvPr/>
        </p:nvSpPr>
        <p:spPr bwMode="auto">
          <a:xfrm>
            <a:off x="393192" y="6492240"/>
            <a:ext cx="3017519" cy="109728"/>
          </a:xfrm>
          <a:prstGeom prst="rect">
            <a:avLst/>
          </a:prstGeom>
          <a:noFill/>
          <a:ln/>
        </p:spPr>
        <p:txBody>
          <a:bodyPr wrap="square" lIns="0" tIns="0" rIns="0" bIns="0" rtlCol="0" anchor="ctr"/>
          <a:lstStyle/>
          <a:p>
            <a:pPr marL="0" indent="0">
              <a:buNone/>
              <a:defRPr/>
            </a:pPr>
            <a:r>
              <a:rPr lang="en-US" sz="450" strike="noStrike">
                <a:solidFill>
                  <a:srgbClr val="6C6B65"/>
                </a:solidFill>
                <a:latin typeface="Asana"/>
                <a:ea typeface="Asana"/>
                <a:cs typeface="Asana"/>
              </a:rPr>
              <a:t>DEVELOPED WITH QODER + N8N ORCHESTRATION</a:t>
            </a:r>
            <a:endParaRPr sz="450" strike="noStrike">
              <a:latin typeface="Asana"/>
              <a:cs typeface="Asana"/>
            </a:endParaRPr>
          </a:p>
        </p:txBody>
      </p:sp>
      <p:sp>
        <p:nvSpPr>
          <p:cNvPr id="1284968852" name="Text 12"/>
          <p:cNvSpPr/>
          <p:nvPr/>
        </p:nvSpPr>
        <p:spPr bwMode="auto">
          <a:xfrm>
            <a:off x="11411712" y="6492240"/>
            <a:ext cx="329184" cy="109728"/>
          </a:xfrm>
          <a:prstGeom prst="rect">
            <a:avLst/>
          </a:prstGeom>
          <a:noFill/>
          <a:ln/>
        </p:spPr>
        <p:txBody>
          <a:bodyPr wrap="square" lIns="0" tIns="0" rIns="0" bIns="0" rtlCol="0" anchor="ctr"/>
          <a:lstStyle/>
          <a:p>
            <a:pPr marL="0" indent="0" algn="r">
              <a:buNone/>
              <a:defRPr/>
            </a:pPr>
            <a:r>
              <a:rPr lang="en-US" sz="450" strike="noStrike">
                <a:solidFill>
                  <a:srgbClr val="6C6B65"/>
                </a:solidFill>
                <a:latin typeface="Asana"/>
                <a:ea typeface="Asana"/>
                <a:cs typeface="Asana"/>
              </a:rPr>
              <a:t>09 / 12</a:t>
            </a:r>
            <a:endParaRPr sz="450" strike="noStrike">
              <a:latin typeface="Asana"/>
              <a:cs typeface="Asana"/>
            </a:endParaRPr>
          </a:p>
        </p:txBody>
      </p:sp>
      <p:sp>
        <p:nvSpPr>
          <p:cNvPr id="1370800761" name="Shape 13"/>
          <p:cNvSpPr/>
          <p:nvPr/>
        </p:nvSpPr>
        <p:spPr bwMode="auto">
          <a:xfrm>
            <a:off x="530352" y="914400"/>
            <a:ext cx="365760" cy="0"/>
          </a:xfrm>
          <a:prstGeom prst="line">
            <a:avLst/>
          </a:prstGeom>
          <a:noFill/>
          <a:ln w="16510">
            <a:solidFill>
              <a:srgbClr val="B4533B"/>
            </a:solidFill>
            <a:prstDash val="solid"/>
          </a:ln>
        </p:spPr>
      </p:sp>
      <p:sp>
        <p:nvSpPr>
          <p:cNvPr id="513360081" name="Text 14"/>
          <p:cNvSpPr/>
          <p:nvPr/>
        </p:nvSpPr>
        <p:spPr bwMode="auto">
          <a:xfrm>
            <a:off x="1060704" y="850392"/>
            <a:ext cx="1828800" cy="146304"/>
          </a:xfrm>
          <a:prstGeom prst="rect">
            <a:avLst/>
          </a:prstGeom>
          <a:noFill/>
          <a:ln/>
        </p:spPr>
        <p:txBody>
          <a:bodyPr wrap="square" lIns="0" tIns="0" rIns="0" bIns="0" rtlCol="0" anchor="ctr"/>
          <a:lstStyle/>
          <a:p>
            <a:pPr marL="0" indent="0">
              <a:buNone/>
              <a:defRPr/>
            </a:pPr>
            <a:r>
              <a:rPr lang="en-US" sz="550" strike="noStrike">
                <a:solidFill>
                  <a:srgbClr val="B4533B"/>
                </a:solidFill>
                <a:latin typeface="Asana"/>
                <a:ea typeface="Asana"/>
                <a:cs typeface="Asana"/>
              </a:rPr>
              <a:t>CONTROLLED ORCHESTRATION</a:t>
            </a:r>
            <a:endParaRPr sz="550" strike="noStrike">
              <a:latin typeface="Asana"/>
              <a:cs typeface="Asana"/>
            </a:endParaRPr>
          </a:p>
        </p:txBody>
      </p:sp>
      <p:sp>
        <p:nvSpPr>
          <p:cNvPr id="288339211" name="Text 15"/>
          <p:cNvSpPr/>
          <p:nvPr/>
        </p:nvSpPr>
        <p:spPr bwMode="auto">
          <a:xfrm>
            <a:off x="530352" y="1115568"/>
            <a:ext cx="9875520" cy="384048"/>
          </a:xfrm>
          <a:prstGeom prst="rect">
            <a:avLst/>
          </a:prstGeom>
          <a:noFill/>
          <a:ln/>
        </p:spPr>
        <p:txBody>
          <a:bodyPr wrap="square" lIns="0" tIns="0" rIns="0" bIns="0" rtlCol="0" anchor="ctr"/>
          <a:lstStyle/>
          <a:p>
            <a:pPr marL="0" indent="0">
              <a:buNone/>
              <a:defRPr/>
            </a:pPr>
            <a:r>
              <a:rPr lang="en-US" sz="2800" b="1" strike="noStrike">
                <a:solidFill>
                  <a:srgbClr val="0D1B21"/>
                </a:solidFill>
                <a:latin typeface="Asana"/>
                <a:ea typeface="Asana"/>
                <a:cs typeface="Asana"/>
              </a:rPr>
              <a:t>Routing controls model use</a:t>
            </a:r>
            <a:endParaRPr sz="2800" strike="noStrike">
              <a:latin typeface="Asana"/>
              <a:cs typeface="Asana"/>
            </a:endParaRPr>
          </a:p>
        </p:txBody>
      </p:sp>
      <p:sp>
        <p:nvSpPr>
          <p:cNvPr id="663951576" name="Text 16"/>
          <p:cNvSpPr/>
          <p:nvPr/>
        </p:nvSpPr>
        <p:spPr bwMode="auto">
          <a:xfrm>
            <a:off x="530352" y="1645920"/>
            <a:ext cx="9601200" cy="256032"/>
          </a:xfrm>
          <a:prstGeom prst="rect">
            <a:avLst/>
          </a:prstGeom>
          <a:noFill/>
          <a:ln/>
        </p:spPr>
        <p:txBody>
          <a:bodyPr wrap="square" lIns="0" tIns="0" rIns="0" bIns="0" rtlCol="0" anchor="ctr"/>
          <a:lstStyle/>
          <a:p>
            <a:pPr marL="0" indent="0">
              <a:buNone/>
              <a:defRPr/>
            </a:pPr>
            <a:r>
              <a:rPr lang="en-US" sz="1100" strike="noStrike">
                <a:solidFill>
                  <a:srgbClr val="0D1B21"/>
                </a:solidFill>
                <a:latin typeface="Asana"/>
                <a:ea typeface="Asana"/>
                <a:cs typeface="Asana"/>
              </a:rPr>
              <a:t>The workflow reduces and labels evidence before specialist reasoning begins.</a:t>
            </a:r>
            <a:endParaRPr sz="1100" strike="noStrike">
              <a:latin typeface="Asana"/>
              <a:cs typeface="Asana"/>
            </a:endParaRPr>
          </a:p>
        </p:txBody>
      </p:sp>
      <p:sp>
        <p:nvSpPr>
          <p:cNvPr id="1898381556" name="Shape 17"/>
          <p:cNvSpPr/>
          <p:nvPr/>
        </p:nvSpPr>
        <p:spPr bwMode="auto">
          <a:xfrm>
            <a:off x="685800" y="2057400"/>
            <a:ext cx="3246120" cy="2697480"/>
          </a:xfrm>
          <a:prstGeom prst="rect">
            <a:avLst/>
          </a:prstGeom>
          <a:solidFill>
            <a:srgbClr val="EFE7D5"/>
          </a:solidFill>
          <a:ln w="10160">
            <a:solidFill>
              <a:srgbClr val="B4533B"/>
            </a:solidFill>
            <a:prstDash val="solid"/>
          </a:ln>
        </p:spPr>
        <p:txBody>
          <a:bodyPr anchor="ctr"/>
          <a:p>
            <a:pPr algn="ctr">
              <a:defRPr/>
            </a:pPr>
            <a:endParaRPr strike="noStrike">
              <a:latin typeface="Asana"/>
              <a:cs typeface="Asana"/>
            </a:endParaRPr>
          </a:p>
        </p:txBody>
      </p:sp>
      <p:sp>
        <p:nvSpPr>
          <p:cNvPr id="1297850896" name="Shape 18"/>
          <p:cNvSpPr/>
          <p:nvPr/>
        </p:nvSpPr>
        <p:spPr bwMode="auto">
          <a:xfrm>
            <a:off x="914400" y="2496312"/>
            <a:ext cx="438912" cy="0"/>
          </a:xfrm>
          <a:prstGeom prst="line">
            <a:avLst/>
          </a:prstGeom>
          <a:noFill/>
          <a:ln w="19050">
            <a:solidFill>
              <a:srgbClr val="B4533B"/>
            </a:solidFill>
            <a:prstDash val="solid"/>
          </a:ln>
        </p:spPr>
      </p:sp>
      <p:sp>
        <p:nvSpPr>
          <p:cNvPr id="1990219855" name="Text 19"/>
          <p:cNvSpPr/>
          <p:nvPr/>
        </p:nvSpPr>
        <p:spPr bwMode="auto">
          <a:xfrm>
            <a:off x="914400" y="2633472"/>
            <a:ext cx="2560320" cy="164592"/>
          </a:xfrm>
          <a:prstGeom prst="rect">
            <a:avLst/>
          </a:prstGeom>
          <a:noFill/>
          <a:ln/>
        </p:spPr>
        <p:txBody>
          <a:bodyPr wrap="square" lIns="0" tIns="0" rIns="0" bIns="0" rtlCol="0" anchor="ctr"/>
          <a:lstStyle/>
          <a:p>
            <a:pPr marL="0" indent="0">
              <a:buNone/>
              <a:defRPr/>
            </a:pPr>
            <a:r>
              <a:rPr lang="en-US" sz="1350" b="1" strike="noStrike">
                <a:solidFill>
                  <a:srgbClr val="0D1B21"/>
                </a:solidFill>
                <a:latin typeface="Asana"/>
                <a:ea typeface="Asana"/>
                <a:cs typeface="Asana"/>
              </a:rPr>
              <a:t>Typical one-prompt pattern</a:t>
            </a:r>
            <a:endParaRPr sz="1350" strike="noStrike">
              <a:latin typeface="Asana"/>
              <a:cs typeface="Asana"/>
            </a:endParaRPr>
          </a:p>
        </p:txBody>
      </p:sp>
      <p:sp>
        <p:nvSpPr>
          <p:cNvPr id="1466451699" name="Shape 20"/>
          <p:cNvSpPr/>
          <p:nvPr/>
        </p:nvSpPr>
        <p:spPr bwMode="auto">
          <a:xfrm>
            <a:off x="914400" y="2962656"/>
            <a:ext cx="118872" cy="0"/>
          </a:xfrm>
          <a:prstGeom prst="line">
            <a:avLst/>
          </a:prstGeom>
          <a:noFill/>
          <a:ln w="13970">
            <a:solidFill>
              <a:srgbClr val="B4533B"/>
            </a:solidFill>
            <a:prstDash val="solid"/>
          </a:ln>
        </p:spPr>
      </p:sp>
      <p:sp>
        <p:nvSpPr>
          <p:cNvPr id="198567707" name="Text 21"/>
          <p:cNvSpPr/>
          <p:nvPr/>
        </p:nvSpPr>
        <p:spPr bwMode="auto">
          <a:xfrm>
            <a:off x="1115568" y="2880360"/>
            <a:ext cx="2313432" cy="301752"/>
          </a:xfrm>
          <a:prstGeom prst="rect">
            <a:avLst/>
          </a:prstGeom>
          <a:noFill/>
          <a:ln/>
        </p:spPr>
        <p:txBody>
          <a:bodyPr wrap="square" lIns="0" tIns="0" rIns="0" bIns="0" rtlCol="0" anchor="ctr">
            <a:normAutofit/>
          </a:bodyPr>
          <a:lstStyle/>
          <a:p>
            <a:pPr marL="0" indent="0">
              <a:buNone/>
              <a:defRPr/>
            </a:pPr>
            <a:r>
              <a:rPr lang="en-US" sz="900" strike="noStrike">
                <a:solidFill>
                  <a:srgbClr val="0D1B21"/>
                </a:solidFill>
                <a:latin typeface="Asana"/>
                <a:ea typeface="Asana"/>
                <a:cs typeface="Asana"/>
              </a:rPr>
              <a:t>Raw data, full chat history and every instruction enter one model call.</a:t>
            </a:r>
            <a:endParaRPr sz="900" strike="noStrike">
              <a:latin typeface="Asana"/>
              <a:cs typeface="Asana"/>
            </a:endParaRPr>
          </a:p>
        </p:txBody>
      </p:sp>
      <p:sp>
        <p:nvSpPr>
          <p:cNvPr id="290936239" name="Shape 22"/>
          <p:cNvSpPr/>
          <p:nvPr/>
        </p:nvSpPr>
        <p:spPr bwMode="auto">
          <a:xfrm>
            <a:off x="914400" y="3374136"/>
            <a:ext cx="118872" cy="0"/>
          </a:xfrm>
          <a:prstGeom prst="line">
            <a:avLst/>
          </a:prstGeom>
          <a:noFill/>
          <a:ln w="13970">
            <a:solidFill>
              <a:srgbClr val="B4533B"/>
            </a:solidFill>
            <a:prstDash val="solid"/>
          </a:ln>
        </p:spPr>
      </p:sp>
      <p:sp>
        <p:nvSpPr>
          <p:cNvPr id="1876491783" name="Text 23"/>
          <p:cNvSpPr/>
          <p:nvPr/>
        </p:nvSpPr>
        <p:spPr bwMode="auto">
          <a:xfrm>
            <a:off x="1115568" y="3291840"/>
            <a:ext cx="2313432" cy="301752"/>
          </a:xfrm>
          <a:prstGeom prst="rect">
            <a:avLst/>
          </a:prstGeom>
          <a:noFill/>
          <a:ln/>
        </p:spPr>
        <p:txBody>
          <a:bodyPr wrap="square" lIns="0" tIns="0" rIns="0" bIns="0" rtlCol="0" anchor="ctr">
            <a:normAutofit/>
          </a:bodyPr>
          <a:lstStyle/>
          <a:p>
            <a:pPr marL="0" indent="0">
              <a:buNone/>
              <a:defRPr/>
            </a:pPr>
            <a:r>
              <a:rPr lang="en-US" sz="900" strike="noStrike">
                <a:solidFill>
                  <a:srgbClr val="0D1B21"/>
                </a:solidFill>
                <a:latin typeface="Asana"/>
                <a:ea typeface="Asana"/>
                <a:cs typeface="Asana"/>
              </a:rPr>
              <a:t>The source of each conclusion becomes harder to trace.</a:t>
            </a:r>
            <a:endParaRPr sz="900" strike="noStrike">
              <a:latin typeface="Asana"/>
              <a:cs typeface="Asana"/>
            </a:endParaRPr>
          </a:p>
        </p:txBody>
      </p:sp>
      <p:sp>
        <p:nvSpPr>
          <p:cNvPr id="422590211" name="Shape 24"/>
          <p:cNvSpPr/>
          <p:nvPr/>
        </p:nvSpPr>
        <p:spPr bwMode="auto">
          <a:xfrm>
            <a:off x="914400" y="3785616"/>
            <a:ext cx="118872" cy="0"/>
          </a:xfrm>
          <a:prstGeom prst="line">
            <a:avLst/>
          </a:prstGeom>
          <a:noFill/>
          <a:ln w="13970">
            <a:solidFill>
              <a:srgbClr val="B4533B"/>
            </a:solidFill>
            <a:prstDash val="solid"/>
          </a:ln>
        </p:spPr>
      </p:sp>
      <p:sp>
        <p:nvSpPr>
          <p:cNvPr id="1027697600" name="Text 25"/>
          <p:cNvSpPr/>
          <p:nvPr/>
        </p:nvSpPr>
        <p:spPr bwMode="auto">
          <a:xfrm>
            <a:off x="1115568" y="3703320"/>
            <a:ext cx="2313432" cy="301752"/>
          </a:xfrm>
          <a:prstGeom prst="rect">
            <a:avLst/>
          </a:prstGeom>
          <a:noFill/>
          <a:ln/>
        </p:spPr>
        <p:txBody>
          <a:bodyPr wrap="square" lIns="0" tIns="0" rIns="0" bIns="0" rtlCol="0" anchor="ctr">
            <a:normAutofit/>
          </a:bodyPr>
          <a:lstStyle/>
          <a:p>
            <a:pPr marL="0" indent="0">
              <a:buNone/>
              <a:defRPr/>
            </a:pPr>
            <a:r>
              <a:rPr lang="en-US" sz="900" strike="noStrike">
                <a:solidFill>
                  <a:srgbClr val="0D1B21"/>
                </a:solidFill>
                <a:latin typeface="Asana"/>
                <a:ea typeface="Asana"/>
                <a:cs typeface="Asana"/>
              </a:rPr>
              <a:t>Every request pays the cost of the largest prompt.</a:t>
            </a:r>
            <a:endParaRPr sz="900" strike="noStrike">
              <a:latin typeface="Asana"/>
              <a:cs typeface="Asana"/>
            </a:endParaRPr>
          </a:p>
        </p:txBody>
      </p:sp>
      <p:sp>
        <p:nvSpPr>
          <p:cNvPr id="1808495220" name="Shape 26"/>
          <p:cNvSpPr/>
          <p:nvPr/>
        </p:nvSpPr>
        <p:spPr bwMode="auto">
          <a:xfrm>
            <a:off x="4434840" y="2057400"/>
            <a:ext cx="3246120" cy="2697480"/>
          </a:xfrm>
          <a:prstGeom prst="rect">
            <a:avLst/>
          </a:prstGeom>
          <a:solidFill>
            <a:srgbClr val="EFE7D5"/>
          </a:solidFill>
          <a:ln w="10160">
            <a:solidFill>
              <a:srgbClr val="108A98"/>
            </a:solidFill>
            <a:prstDash val="solid"/>
          </a:ln>
        </p:spPr>
        <p:txBody>
          <a:bodyPr anchor="ctr"/>
          <a:p>
            <a:pPr algn="ctr">
              <a:defRPr/>
            </a:pPr>
            <a:endParaRPr strike="noStrike">
              <a:latin typeface="Asana"/>
              <a:cs typeface="Asana"/>
            </a:endParaRPr>
          </a:p>
        </p:txBody>
      </p:sp>
      <p:sp>
        <p:nvSpPr>
          <p:cNvPr id="637357418" name="Shape 27"/>
          <p:cNvSpPr/>
          <p:nvPr/>
        </p:nvSpPr>
        <p:spPr bwMode="auto">
          <a:xfrm>
            <a:off x="4663440" y="2496312"/>
            <a:ext cx="438912" cy="0"/>
          </a:xfrm>
          <a:prstGeom prst="line">
            <a:avLst/>
          </a:prstGeom>
          <a:noFill/>
          <a:ln w="19050">
            <a:solidFill>
              <a:srgbClr val="108A98"/>
            </a:solidFill>
            <a:prstDash val="solid"/>
          </a:ln>
        </p:spPr>
      </p:sp>
      <p:sp>
        <p:nvSpPr>
          <p:cNvPr id="60415510" name="Text 28"/>
          <p:cNvSpPr/>
          <p:nvPr/>
        </p:nvSpPr>
        <p:spPr bwMode="auto">
          <a:xfrm>
            <a:off x="4663440" y="2633472"/>
            <a:ext cx="2560320" cy="164592"/>
          </a:xfrm>
          <a:prstGeom prst="rect">
            <a:avLst/>
          </a:prstGeom>
          <a:noFill/>
          <a:ln/>
        </p:spPr>
        <p:txBody>
          <a:bodyPr wrap="square" lIns="0" tIns="0" rIns="0" bIns="0" rtlCol="0" anchor="ctr"/>
          <a:lstStyle/>
          <a:p>
            <a:pPr marL="0" indent="0">
              <a:buNone/>
              <a:defRPr/>
            </a:pPr>
            <a:r>
              <a:rPr lang="en-US" sz="1350" b="1" strike="noStrike">
                <a:solidFill>
                  <a:srgbClr val="0D1B21"/>
                </a:solidFill>
                <a:latin typeface="Asana"/>
                <a:ea typeface="Asana"/>
                <a:cs typeface="Asana"/>
              </a:rPr>
              <a:t>WIaaS routed intelligence</a:t>
            </a:r>
            <a:endParaRPr sz="1350" strike="noStrike">
              <a:latin typeface="Asana"/>
              <a:cs typeface="Asana"/>
            </a:endParaRPr>
          </a:p>
        </p:txBody>
      </p:sp>
      <p:sp>
        <p:nvSpPr>
          <p:cNvPr id="2100800002" name="Shape 29"/>
          <p:cNvSpPr/>
          <p:nvPr/>
        </p:nvSpPr>
        <p:spPr bwMode="auto">
          <a:xfrm>
            <a:off x="4663440" y="2962656"/>
            <a:ext cx="118872" cy="0"/>
          </a:xfrm>
          <a:prstGeom prst="line">
            <a:avLst/>
          </a:prstGeom>
          <a:noFill/>
          <a:ln w="13970">
            <a:solidFill>
              <a:srgbClr val="108A98"/>
            </a:solidFill>
            <a:prstDash val="solid"/>
          </a:ln>
        </p:spPr>
      </p:sp>
      <p:sp>
        <p:nvSpPr>
          <p:cNvPr id="1860148222" name="Text 30"/>
          <p:cNvSpPr/>
          <p:nvPr/>
        </p:nvSpPr>
        <p:spPr bwMode="auto">
          <a:xfrm>
            <a:off x="4864607" y="2880360"/>
            <a:ext cx="2313432" cy="301752"/>
          </a:xfrm>
          <a:prstGeom prst="rect">
            <a:avLst/>
          </a:prstGeom>
          <a:noFill/>
          <a:ln/>
        </p:spPr>
        <p:txBody>
          <a:bodyPr wrap="square" lIns="0" tIns="0" rIns="0" bIns="0" rtlCol="0" anchor="ctr">
            <a:normAutofit/>
          </a:bodyPr>
          <a:lstStyle/>
          <a:p>
            <a:pPr marL="0" indent="0">
              <a:buNone/>
              <a:defRPr/>
            </a:pPr>
            <a:r>
              <a:rPr lang="en-US" sz="900" strike="noStrike">
                <a:solidFill>
                  <a:srgbClr val="0D1B21"/>
                </a:solidFill>
                <a:latin typeface="Asana"/>
                <a:ea typeface="Asana"/>
                <a:cs typeface="Asana"/>
              </a:rPr>
              <a:t>Deterministic routing narrows the task before any model call.</a:t>
            </a:r>
            <a:endParaRPr sz="900" strike="noStrike">
              <a:latin typeface="Asana"/>
              <a:cs typeface="Asana"/>
            </a:endParaRPr>
          </a:p>
        </p:txBody>
      </p:sp>
      <p:sp>
        <p:nvSpPr>
          <p:cNvPr id="1146223143" name="Shape 31"/>
          <p:cNvSpPr/>
          <p:nvPr/>
        </p:nvSpPr>
        <p:spPr bwMode="auto">
          <a:xfrm>
            <a:off x="4663440" y="3374136"/>
            <a:ext cx="118872" cy="0"/>
          </a:xfrm>
          <a:prstGeom prst="line">
            <a:avLst/>
          </a:prstGeom>
          <a:noFill/>
          <a:ln w="13970">
            <a:solidFill>
              <a:srgbClr val="108A98"/>
            </a:solidFill>
            <a:prstDash val="solid"/>
          </a:ln>
        </p:spPr>
      </p:sp>
      <p:sp>
        <p:nvSpPr>
          <p:cNvPr id="801681933" name="Text 32"/>
          <p:cNvSpPr/>
          <p:nvPr/>
        </p:nvSpPr>
        <p:spPr bwMode="auto">
          <a:xfrm>
            <a:off x="4864607" y="3291840"/>
            <a:ext cx="2313432" cy="301752"/>
          </a:xfrm>
          <a:prstGeom prst="rect">
            <a:avLst/>
          </a:prstGeom>
          <a:noFill/>
          <a:ln/>
        </p:spPr>
        <p:txBody>
          <a:bodyPr wrap="square" lIns="0" tIns="0" rIns="0" bIns="0" rtlCol="0" anchor="ctr">
            <a:normAutofit/>
          </a:bodyPr>
          <a:lstStyle/>
          <a:p>
            <a:pPr marL="0" indent="0">
              <a:buNone/>
              <a:defRPr/>
            </a:pPr>
            <a:r>
              <a:rPr lang="en-US" sz="900" strike="noStrike">
                <a:solidFill>
                  <a:srgbClr val="0D1B21"/>
                </a:solidFill>
                <a:latin typeface="Asana"/>
                <a:ea typeface="Asana"/>
                <a:cs typeface="Asana"/>
              </a:rPr>
              <a:t>Compact state vectors keep only relevant metrics and evidence.</a:t>
            </a:r>
            <a:endParaRPr sz="900" strike="noStrike">
              <a:latin typeface="Asana"/>
              <a:cs typeface="Asana"/>
            </a:endParaRPr>
          </a:p>
        </p:txBody>
      </p:sp>
      <p:sp>
        <p:nvSpPr>
          <p:cNvPr id="1159727515" name="Shape 33"/>
          <p:cNvSpPr/>
          <p:nvPr/>
        </p:nvSpPr>
        <p:spPr bwMode="auto">
          <a:xfrm>
            <a:off x="4663440" y="3785616"/>
            <a:ext cx="118872" cy="0"/>
          </a:xfrm>
          <a:prstGeom prst="line">
            <a:avLst/>
          </a:prstGeom>
          <a:noFill/>
          <a:ln w="13970">
            <a:solidFill>
              <a:srgbClr val="108A98"/>
            </a:solidFill>
            <a:prstDash val="solid"/>
          </a:ln>
        </p:spPr>
      </p:sp>
      <p:sp>
        <p:nvSpPr>
          <p:cNvPr id="577414541" name="Text 34"/>
          <p:cNvSpPr/>
          <p:nvPr/>
        </p:nvSpPr>
        <p:spPr bwMode="auto">
          <a:xfrm>
            <a:off x="4864607" y="3703320"/>
            <a:ext cx="2313432" cy="301752"/>
          </a:xfrm>
          <a:prstGeom prst="rect">
            <a:avLst/>
          </a:prstGeom>
          <a:noFill/>
          <a:ln/>
        </p:spPr>
        <p:txBody>
          <a:bodyPr wrap="square" lIns="0" tIns="0" rIns="0" bIns="0" rtlCol="0" anchor="ctr">
            <a:normAutofit/>
          </a:bodyPr>
          <a:lstStyle/>
          <a:p>
            <a:pPr marL="0" indent="0">
              <a:buNone/>
              <a:defRPr/>
            </a:pPr>
            <a:r>
              <a:rPr lang="en-US" sz="900" strike="noStrike">
                <a:solidFill>
                  <a:srgbClr val="0D1B21"/>
                </a:solidFill>
                <a:latin typeface="Asana"/>
                <a:ea typeface="Asana"/>
                <a:cs typeface="Asana"/>
              </a:rPr>
              <a:t>Cached follow-ups reuse recent severity and evidence.</a:t>
            </a:r>
            <a:endParaRPr sz="900" strike="noStrike">
              <a:latin typeface="Asana"/>
              <a:cs typeface="Asana"/>
            </a:endParaRPr>
          </a:p>
        </p:txBody>
      </p:sp>
      <p:sp>
        <p:nvSpPr>
          <p:cNvPr id="890753548" name="Shape 35"/>
          <p:cNvSpPr/>
          <p:nvPr/>
        </p:nvSpPr>
        <p:spPr bwMode="auto">
          <a:xfrm>
            <a:off x="8183880" y="2057400"/>
            <a:ext cx="3246120" cy="2697480"/>
          </a:xfrm>
          <a:prstGeom prst="rect">
            <a:avLst/>
          </a:prstGeom>
          <a:solidFill>
            <a:srgbClr val="EFE7D5"/>
          </a:solidFill>
          <a:ln w="10160">
            <a:solidFill>
              <a:srgbClr val="2E865F"/>
            </a:solidFill>
            <a:prstDash val="solid"/>
          </a:ln>
        </p:spPr>
        <p:txBody>
          <a:bodyPr anchor="ctr"/>
          <a:p>
            <a:pPr algn="ctr">
              <a:defRPr/>
            </a:pPr>
            <a:endParaRPr strike="noStrike">
              <a:latin typeface="Asana"/>
              <a:cs typeface="Asana"/>
            </a:endParaRPr>
          </a:p>
        </p:txBody>
      </p:sp>
      <p:sp>
        <p:nvSpPr>
          <p:cNvPr id="1941973862" name="Shape 36"/>
          <p:cNvSpPr/>
          <p:nvPr/>
        </p:nvSpPr>
        <p:spPr bwMode="auto">
          <a:xfrm>
            <a:off x="8412480" y="2496312"/>
            <a:ext cx="438912" cy="0"/>
          </a:xfrm>
          <a:prstGeom prst="line">
            <a:avLst/>
          </a:prstGeom>
          <a:noFill/>
          <a:ln w="19050">
            <a:solidFill>
              <a:srgbClr val="2E865F"/>
            </a:solidFill>
            <a:prstDash val="solid"/>
          </a:ln>
        </p:spPr>
      </p:sp>
      <p:sp>
        <p:nvSpPr>
          <p:cNvPr id="541962427" name="Text 37"/>
          <p:cNvSpPr/>
          <p:nvPr/>
        </p:nvSpPr>
        <p:spPr bwMode="auto">
          <a:xfrm>
            <a:off x="8412480" y="2633472"/>
            <a:ext cx="2560320" cy="164592"/>
          </a:xfrm>
          <a:prstGeom prst="rect">
            <a:avLst/>
          </a:prstGeom>
          <a:noFill/>
          <a:ln/>
        </p:spPr>
        <p:txBody>
          <a:bodyPr wrap="square" lIns="0" tIns="0" rIns="0" bIns="0" rtlCol="0" anchor="ctr"/>
          <a:lstStyle/>
          <a:p>
            <a:pPr marL="0" indent="0">
              <a:buNone/>
              <a:defRPr/>
            </a:pPr>
            <a:r>
              <a:rPr lang="en-US" sz="1350" b="1" strike="noStrike">
                <a:solidFill>
                  <a:srgbClr val="0D1B21"/>
                </a:solidFill>
                <a:latin typeface="Asana"/>
                <a:ea typeface="Asana"/>
                <a:cs typeface="Asana"/>
              </a:rPr>
              <a:t>Engineering benefit</a:t>
            </a:r>
            <a:endParaRPr sz="1350" strike="noStrike">
              <a:latin typeface="Asana"/>
              <a:cs typeface="Asana"/>
            </a:endParaRPr>
          </a:p>
        </p:txBody>
      </p:sp>
      <p:sp>
        <p:nvSpPr>
          <p:cNvPr id="423237727" name="Shape 38"/>
          <p:cNvSpPr/>
          <p:nvPr/>
        </p:nvSpPr>
        <p:spPr bwMode="auto">
          <a:xfrm>
            <a:off x="8412480" y="2962656"/>
            <a:ext cx="118872" cy="0"/>
          </a:xfrm>
          <a:prstGeom prst="line">
            <a:avLst/>
          </a:prstGeom>
          <a:noFill/>
          <a:ln w="13970">
            <a:solidFill>
              <a:srgbClr val="2E865F"/>
            </a:solidFill>
            <a:prstDash val="solid"/>
          </a:ln>
        </p:spPr>
      </p:sp>
      <p:sp>
        <p:nvSpPr>
          <p:cNvPr id="1546252280" name="Text 39"/>
          <p:cNvSpPr/>
          <p:nvPr/>
        </p:nvSpPr>
        <p:spPr bwMode="auto">
          <a:xfrm>
            <a:off x="8613648" y="2880360"/>
            <a:ext cx="2313432" cy="301752"/>
          </a:xfrm>
          <a:prstGeom prst="rect">
            <a:avLst/>
          </a:prstGeom>
          <a:noFill/>
          <a:ln/>
        </p:spPr>
        <p:txBody>
          <a:bodyPr wrap="square" lIns="0" tIns="0" rIns="0" bIns="0" rtlCol="0" anchor="ctr">
            <a:normAutofit/>
          </a:bodyPr>
          <a:lstStyle/>
          <a:p>
            <a:pPr marL="0" indent="0">
              <a:buNone/>
              <a:defRPr/>
            </a:pPr>
            <a:r>
              <a:rPr lang="en-US" sz="900" strike="noStrike">
                <a:solidFill>
                  <a:srgbClr val="0D1B21"/>
                </a:solidFill>
                <a:latin typeface="Asana"/>
                <a:ea typeface="Asana"/>
                <a:cs typeface="Asana"/>
              </a:rPr>
              <a:t>Smaller context means fewer irrelevant tokens.</a:t>
            </a:r>
            <a:endParaRPr sz="900" strike="noStrike">
              <a:latin typeface="Asana"/>
              <a:cs typeface="Asana"/>
            </a:endParaRPr>
          </a:p>
        </p:txBody>
      </p:sp>
      <p:sp>
        <p:nvSpPr>
          <p:cNvPr id="1700245725" name="Shape 40"/>
          <p:cNvSpPr/>
          <p:nvPr/>
        </p:nvSpPr>
        <p:spPr bwMode="auto">
          <a:xfrm>
            <a:off x="8412480" y="3374136"/>
            <a:ext cx="118872" cy="0"/>
          </a:xfrm>
          <a:prstGeom prst="line">
            <a:avLst/>
          </a:prstGeom>
          <a:noFill/>
          <a:ln w="13970">
            <a:solidFill>
              <a:srgbClr val="2E865F"/>
            </a:solidFill>
            <a:prstDash val="solid"/>
          </a:ln>
        </p:spPr>
      </p:sp>
      <p:sp>
        <p:nvSpPr>
          <p:cNvPr id="577905588" name="Text 41"/>
          <p:cNvSpPr/>
          <p:nvPr/>
        </p:nvSpPr>
        <p:spPr bwMode="auto">
          <a:xfrm>
            <a:off x="8613648" y="3291840"/>
            <a:ext cx="2313432" cy="301752"/>
          </a:xfrm>
          <a:prstGeom prst="rect">
            <a:avLst/>
          </a:prstGeom>
          <a:noFill/>
          <a:ln/>
        </p:spPr>
        <p:txBody>
          <a:bodyPr wrap="square" lIns="0" tIns="0" rIns="0" bIns="0" rtlCol="0" anchor="ctr">
            <a:normAutofit/>
          </a:bodyPr>
          <a:lstStyle/>
          <a:p>
            <a:pPr marL="0" indent="0">
              <a:buNone/>
              <a:defRPr/>
            </a:pPr>
            <a:r>
              <a:rPr lang="en-US" sz="900" strike="noStrike">
                <a:solidFill>
                  <a:srgbClr val="0D1B21"/>
                </a:solidFill>
                <a:latin typeface="Asana"/>
                <a:ea typeface="Asana"/>
                <a:cs typeface="Asana"/>
              </a:rPr>
              <a:t>Branch-level reasoning is easier to debug and validate.</a:t>
            </a:r>
            <a:endParaRPr sz="900" strike="noStrike">
              <a:latin typeface="Asana"/>
              <a:cs typeface="Asana"/>
            </a:endParaRPr>
          </a:p>
        </p:txBody>
      </p:sp>
      <p:sp>
        <p:nvSpPr>
          <p:cNvPr id="1635234128" name="Shape 42"/>
          <p:cNvSpPr/>
          <p:nvPr/>
        </p:nvSpPr>
        <p:spPr bwMode="auto">
          <a:xfrm>
            <a:off x="8412480" y="3785616"/>
            <a:ext cx="118872" cy="0"/>
          </a:xfrm>
          <a:prstGeom prst="line">
            <a:avLst/>
          </a:prstGeom>
          <a:noFill/>
          <a:ln w="13970">
            <a:solidFill>
              <a:srgbClr val="2E865F"/>
            </a:solidFill>
            <a:prstDash val="solid"/>
          </a:ln>
        </p:spPr>
      </p:sp>
      <p:sp>
        <p:nvSpPr>
          <p:cNvPr id="572625924" name="Text 43"/>
          <p:cNvSpPr/>
          <p:nvPr/>
        </p:nvSpPr>
        <p:spPr bwMode="auto">
          <a:xfrm>
            <a:off x="8613648" y="3703320"/>
            <a:ext cx="2313432" cy="301752"/>
          </a:xfrm>
          <a:prstGeom prst="rect">
            <a:avLst/>
          </a:prstGeom>
          <a:noFill/>
          <a:ln/>
        </p:spPr>
        <p:txBody>
          <a:bodyPr wrap="square" lIns="0" tIns="0" rIns="0" bIns="0" rtlCol="0" anchor="ctr">
            <a:normAutofit/>
          </a:bodyPr>
          <a:lstStyle/>
          <a:p>
            <a:pPr marL="0" indent="0">
              <a:buNone/>
              <a:defRPr/>
            </a:pPr>
            <a:r>
              <a:rPr lang="en-US" sz="900" strike="noStrike">
                <a:solidFill>
                  <a:srgbClr val="0D1B21"/>
                </a:solidFill>
                <a:latin typeface="Asana"/>
                <a:ea typeface="Asana"/>
                <a:cs typeface="Asana"/>
              </a:rPr>
              <a:t>Strict JSON keeps frontend parsing stable.</a:t>
            </a:r>
            <a:endParaRPr sz="900" strike="noStrike">
              <a:latin typeface="Asana"/>
              <a:cs typeface="Asana"/>
            </a:endParaRPr>
          </a:p>
        </p:txBody>
      </p:sp>
      <p:sp>
        <p:nvSpPr>
          <p:cNvPr id="1375188045" name="Shape 44"/>
          <p:cNvSpPr/>
          <p:nvPr/>
        </p:nvSpPr>
        <p:spPr bwMode="auto">
          <a:xfrm>
            <a:off x="749808" y="5358384"/>
            <a:ext cx="1298448" cy="0"/>
          </a:xfrm>
          <a:prstGeom prst="line">
            <a:avLst/>
          </a:prstGeom>
          <a:noFill/>
          <a:ln w="25400">
            <a:solidFill>
              <a:srgbClr val="108A98"/>
            </a:solidFill>
            <a:prstDash val="solid"/>
          </a:ln>
        </p:spPr>
      </p:sp>
      <p:sp>
        <p:nvSpPr>
          <p:cNvPr id="1434300644" name="Text 45"/>
          <p:cNvSpPr/>
          <p:nvPr/>
        </p:nvSpPr>
        <p:spPr bwMode="auto">
          <a:xfrm>
            <a:off x="749808" y="4956048"/>
            <a:ext cx="201168" cy="128016"/>
          </a:xfrm>
          <a:prstGeom prst="rect">
            <a:avLst/>
          </a:prstGeom>
          <a:noFill/>
          <a:ln/>
        </p:spPr>
        <p:txBody>
          <a:bodyPr wrap="square" lIns="0" tIns="0" rIns="0" bIns="0" rtlCol="0" anchor="ctr"/>
          <a:lstStyle/>
          <a:p>
            <a:pPr marL="0" indent="0">
              <a:buNone/>
              <a:defRPr/>
            </a:pPr>
            <a:r>
              <a:rPr lang="en-US" sz="600" strike="noStrike">
                <a:solidFill>
                  <a:srgbClr val="108A98"/>
                </a:solidFill>
                <a:latin typeface="Asana"/>
                <a:ea typeface="Asana"/>
                <a:cs typeface="Asana"/>
              </a:rPr>
              <a:t>01</a:t>
            </a:r>
            <a:endParaRPr sz="600" strike="noStrike">
              <a:latin typeface="Asana"/>
              <a:cs typeface="Asana"/>
            </a:endParaRPr>
          </a:p>
        </p:txBody>
      </p:sp>
      <p:sp>
        <p:nvSpPr>
          <p:cNvPr id="193390375" name="Text 46"/>
          <p:cNvSpPr/>
          <p:nvPr/>
        </p:nvSpPr>
        <p:spPr bwMode="auto">
          <a:xfrm>
            <a:off x="1024128" y="4937760"/>
            <a:ext cx="1143000" cy="128016"/>
          </a:xfrm>
          <a:prstGeom prst="rect">
            <a:avLst/>
          </a:prstGeom>
          <a:noFill/>
          <a:ln/>
        </p:spPr>
        <p:txBody>
          <a:bodyPr wrap="square" lIns="0" tIns="0" rIns="0" bIns="0" rtlCol="0" anchor="ctr">
            <a:normAutofit/>
          </a:bodyPr>
          <a:lstStyle/>
          <a:p>
            <a:pPr marL="0" indent="0">
              <a:buNone/>
              <a:defRPr/>
            </a:pPr>
            <a:r>
              <a:rPr lang="en-US" sz="550" b="0" strike="noStrike">
                <a:solidFill>
                  <a:srgbClr val="0D1B21"/>
                </a:solidFill>
                <a:latin typeface="Asana"/>
                <a:ea typeface="Asana"/>
                <a:cs typeface="Asana"/>
              </a:rPr>
              <a:t>ZERO-</a:t>
            </a:r>
            <a:r>
              <a:rPr lang="en-US" sz="600" b="0" strike="noStrike">
                <a:solidFill>
                  <a:srgbClr val="0D1B21"/>
                </a:solidFill>
                <a:latin typeface="Asana"/>
                <a:ea typeface="Asana"/>
                <a:cs typeface="Asana"/>
              </a:rPr>
              <a:t>TOKEN </a:t>
            </a:r>
            <a:r>
              <a:rPr lang="en-US" sz="550" b="0" strike="noStrike">
                <a:solidFill>
                  <a:srgbClr val="0D1B21"/>
                </a:solidFill>
                <a:latin typeface="Asana"/>
                <a:ea typeface="Asana"/>
                <a:cs typeface="Asana"/>
              </a:rPr>
              <a:t>ROUTING</a:t>
            </a:r>
            <a:endParaRPr sz="550" b="0" strike="noStrike">
              <a:latin typeface="Asana"/>
              <a:cs typeface="Asana"/>
            </a:endParaRPr>
          </a:p>
        </p:txBody>
      </p:sp>
      <p:sp>
        <p:nvSpPr>
          <p:cNvPr id="942382930" name="Shape 47"/>
          <p:cNvSpPr/>
          <p:nvPr/>
        </p:nvSpPr>
        <p:spPr bwMode="auto">
          <a:xfrm>
            <a:off x="2624328" y="5358384"/>
            <a:ext cx="1298448" cy="0"/>
          </a:xfrm>
          <a:prstGeom prst="line">
            <a:avLst/>
          </a:prstGeom>
          <a:noFill/>
          <a:ln w="25400">
            <a:solidFill>
              <a:srgbClr val="C28722"/>
            </a:solidFill>
            <a:prstDash val="solid"/>
          </a:ln>
        </p:spPr>
      </p:sp>
      <p:sp>
        <p:nvSpPr>
          <p:cNvPr id="33986624" name="Text 48"/>
          <p:cNvSpPr/>
          <p:nvPr/>
        </p:nvSpPr>
        <p:spPr bwMode="auto">
          <a:xfrm>
            <a:off x="2624328" y="4956048"/>
            <a:ext cx="201168" cy="128016"/>
          </a:xfrm>
          <a:prstGeom prst="rect">
            <a:avLst/>
          </a:prstGeom>
          <a:noFill/>
          <a:ln/>
        </p:spPr>
        <p:txBody>
          <a:bodyPr wrap="square" lIns="0" tIns="0" rIns="0" bIns="0" rtlCol="0" anchor="ctr"/>
          <a:lstStyle/>
          <a:p>
            <a:pPr marL="0" indent="0">
              <a:buNone/>
              <a:defRPr/>
            </a:pPr>
            <a:r>
              <a:rPr lang="en-US" sz="600" strike="noStrike">
                <a:solidFill>
                  <a:srgbClr val="C28722"/>
                </a:solidFill>
                <a:latin typeface="Asana"/>
                <a:ea typeface="Asana"/>
                <a:cs typeface="Asana"/>
              </a:rPr>
              <a:t>02</a:t>
            </a:r>
            <a:endParaRPr sz="600" strike="noStrike">
              <a:latin typeface="Asana"/>
              <a:cs typeface="Asana"/>
            </a:endParaRPr>
          </a:p>
        </p:txBody>
      </p:sp>
      <p:sp>
        <p:nvSpPr>
          <p:cNvPr id="1746353012" name="Text 49"/>
          <p:cNvSpPr/>
          <p:nvPr/>
        </p:nvSpPr>
        <p:spPr bwMode="auto">
          <a:xfrm>
            <a:off x="2898648" y="4937760"/>
            <a:ext cx="1143000" cy="128016"/>
          </a:xfrm>
          <a:prstGeom prst="rect">
            <a:avLst/>
          </a:prstGeom>
          <a:noFill/>
          <a:ln/>
        </p:spPr>
        <p:txBody>
          <a:bodyPr wrap="square" lIns="0" tIns="0" rIns="0" bIns="0" rtlCol="0" anchor="ctr">
            <a:normAutofit/>
          </a:bodyPr>
          <a:lstStyle/>
          <a:p>
            <a:pPr marL="0" indent="0">
              <a:buNone/>
              <a:defRPr/>
            </a:pPr>
            <a:r>
              <a:rPr lang="en-US" sz="600" strike="noStrike">
                <a:solidFill>
                  <a:srgbClr val="0D1B21"/>
                </a:solidFill>
                <a:latin typeface="Asana"/>
                <a:ea typeface="Asana"/>
                <a:cs typeface="Asana"/>
              </a:rPr>
              <a:t>COMPACT STATE</a:t>
            </a:r>
            <a:endParaRPr sz="600" strike="noStrike">
              <a:latin typeface="Asana"/>
              <a:cs typeface="Asana"/>
            </a:endParaRPr>
          </a:p>
        </p:txBody>
      </p:sp>
      <p:sp>
        <p:nvSpPr>
          <p:cNvPr id="2097412129" name="Shape 50"/>
          <p:cNvSpPr/>
          <p:nvPr/>
        </p:nvSpPr>
        <p:spPr bwMode="auto">
          <a:xfrm>
            <a:off x="4498848" y="5358384"/>
            <a:ext cx="1298448" cy="0"/>
          </a:xfrm>
          <a:prstGeom prst="line">
            <a:avLst/>
          </a:prstGeom>
          <a:noFill/>
          <a:ln w="25400">
            <a:solidFill>
              <a:srgbClr val="2E865F"/>
            </a:solidFill>
            <a:prstDash val="solid"/>
          </a:ln>
        </p:spPr>
      </p:sp>
      <p:sp>
        <p:nvSpPr>
          <p:cNvPr id="1987622092" name="Text 51"/>
          <p:cNvSpPr/>
          <p:nvPr/>
        </p:nvSpPr>
        <p:spPr bwMode="auto">
          <a:xfrm>
            <a:off x="4498848" y="4956048"/>
            <a:ext cx="201168" cy="128016"/>
          </a:xfrm>
          <a:prstGeom prst="rect">
            <a:avLst/>
          </a:prstGeom>
          <a:noFill/>
          <a:ln/>
        </p:spPr>
        <p:txBody>
          <a:bodyPr wrap="square" lIns="0" tIns="0" rIns="0" bIns="0" rtlCol="0" anchor="ctr"/>
          <a:lstStyle/>
          <a:p>
            <a:pPr marL="0" indent="0">
              <a:buNone/>
              <a:defRPr/>
            </a:pPr>
            <a:r>
              <a:rPr lang="en-US" sz="600" strike="noStrike">
                <a:solidFill>
                  <a:srgbClr val="2E865F"/>
                </a:solidFill>
                <a:latin typeface="Asana"/>
                <a:ea typeface="Asana"/>
                <a:cs typeface="Asana"/>
              </a:rPr>
              <a:t>03</a:t>
            </a:r>
            <a:endParaRPr sz="600" strike="noStrike">
              <a:latin typeface="Asana"/>
              <a:cs typeface="Asana"/>
            </a:endParaRPr>
          </a:p>
        </p:txBody>
      </p:sp>
      <p:sp>
        <p:nvSpPr>
          <p:cNvPr id="1347696680" name="Text 52"/>
          <p:cNvSpPr/>
          <p:nvPr/>
        </p:nvSpPr>
        <p:spPr bwMode="auto">
          <a:xfrm>
            <a:off x="4773168" y="4937760"/>
            <a:ext cx="1143000" cy="128016"/>
          </a:xfrm>
          <a:prstGeom prst="rect">
            <a:avLst/>
          </a:prstGeom>
          <a:noFill/>
          <a:ln/>
        </p:spPr>
        <p:txBody>
          <a:bodyPr wrap="square" lIns="0" tIns="0" rIns="0" bIns="0" rtlCol="0" anchor="ctr">
            <a:normAutofit/>
          </a:bodyPr>
          <a:lstStyle/>
          <a:p>
            <a:pPr marL="0" indent="0">
              <a:buNone/>
              <a:defRPr/>
            </a:pPr>
            <a:r>
              <a:rPr lang="en-US" sz="600" strike="noStrike">
                <a:solidFill>
                  <a:srgbClr val="0D1B21"/>
                </a:solidFill>
                <a:latin typeface="Asana"/>
                <a:ea typeface="Asana"/>
                <a:cs typeface="Asana"/>
              </a:rPr>
              <a:t>SPECIALIST BRANCH</a:t>
            </a:r>
            <a:endParaRPr sz="600" strike="noStrike">
              <a:latin typeface="Asana"/>
              <a:cs typeface="Asana"/>
            </a:endParaRPr>
          </a:p>
        </p:txBody>
      </p:sp>
      <p:sp>
        <p:nvSpPr>
          <p:cNvPr id="2068500506" name="Shape 53"/>
          <p:cNvSpPr/>
          <p:nvPr/>
        </p:nvSpPr>
        <p:spPr bwMode="auto">
          <a:xfrm>
            <a:off x="6373368" y="5358384"/>
            <a:ext cx="1298448" cy="0"/>
          </a:xfrm>
          <a:prstGeom prst="line">
            <a:avLst/>
          </a:prstGeom>
          <a:noFill/>
          <a:ln w="25400">
            <a:solidFill>
              <a:srgbClr val="B4533B"/>
            </a:solidFill>
            <a:prstDash val="solid"/>
          </a:ln>
        </p:spPr>
      </p:sp>
      <p:sp>
        <p:nvSpPr>
          <p:cNvPr id="977328854" name="Text 54"/>
          <p:cNvSpPr/>
          <p:nvPr/>
        </p:nvSpPr>
        <p:spPr bwMode="auto">
          <a:xfrm>
            <a:off x="6373368" y="4956048"/>
            <a:ext cx="201168" cy="128016"/>
          </a:xfrm>
          <a:prstGeom prst="rect">
            <a:avLst/>
          </a:prstGeom>
          <a:noFill/>
          <a:ln/>
        </p:spPr>
        <p:txBody>
          <a:bodyPr wrap="square" lIns="0" tIns="0" rIns="0" bIns="0" rtlCol="0" anchor="ctr"/>
          <a:lstStyle/>
          <a:p>
            <a:pPr marL="0" indent="0">
              <a:buNone/>
              <a:defRPr/>
            </a:pPr>
            <a:r>
              <a:rPr lang="en-US" sz="600" strike="noStrike">
                <a:solidFill>
                  <a:srgbClr val="B4533B"/>
                </a:solidFill>
                <a:latin typeface="Asana"/>
                <a:ea typeface="Asana"/>
                <a:cs typeface="Asana"/>
              </a:rPr>
              <a:t>04</a:t>
            </a:r>
            <a:endParaRPr sz="600" strike="noStrike">
              <a:latin typeface="Asana"/>
              <a:cs typeface="Asana"/>
            </a:endParaRPr>
          </a:p>
        </p:txBody>
      </p:sp>
      <p:sp>
        <p:nvSpPr>
          <p:cNvPr id="649853212" name="Text 55"/>
          <p:cNvSpPr/>
          <p:nvPr/>
        </p:nvSpPr>
        <p:spPr bwMode="auto">
          <a:xfrm>
            <a:off x="6647687" y="4937760"/>
            <a:ext cx="1143000" cy="128016"/>
          </a:xfrm>
          <a:prstGeom prst="rect">
            <a:avLst/>
          </a:prstGeom>
          <a:noFill/>
          <a:ln/>
        </p:spPr>
        <p:txBody>
          <a:bodyPr wrap="square" lIns="0" tIns="0" rIns="0" bIns="0" rtlCol="0" anchor="ctr">
            <a:normAutofit/>
          </a:bodyPr>
          <a:lstStyle/>
          <a:p>
            <a:pPr marL="0" indent="0">
              <a:buNone/>
              <a:defRPr/>
            </a:pPr>
            <a:r>
              <a:rPr lang="en-US" sz="600" strike="noStrike">
                <a:solidFill>
                  <a:srgbClr val="0D1B21"/>
                </a:solidFill>
                <a:latin typeface="Asana"/>
                <a:ea typeface="Asana"/>
                <a:cs typeface="Asana"/>
              </a:rPr>
              <a:t>CACHED FOLLOW-UP</a:t>
            </a:r>
            <a:endParaRPr sz="600" strike="noStrike">
              <a:latin typeface="Asana"/>
              <a:cs typeface="Asana"/>
            </a:endParaRPr>
          </a:p>
        </p:txBody>
      </p:sp>
      <p:sp>
        <p:nvSpPr>
          <p:cNvPr id="293451483" name="Shape 56"/>
          <p:cNvSpPr/>
          <p:nvPr/>
        </p:nvSpPr>
        <p:spPr bwMode="auto">
          <a:xfrm>
            <a:off x="8247888" y="5358384"/>
            <a:ext cx="1298448" cy="0"/>
          </a:xfrm>
          <a:prstGeom prst="line">
            <a:avLst/>
          </a:prstGeom>
          <a:noFill/>
          <a:ln w="25400">
            <a:solidFill>
              <a:srgbClr val="2C7F9E"/>
            </a:solidFill>
            <a:prstDash val="solid"/>
          </a:ln>
        </p:spPr>
      </p:sp>
      <p:sp>
        <p:nvSpPr>
          <p:cNvPr id="466695868" name="Text 57"/>
          <p:cNvSpPr/>
          <p:nvPr/>
        </p:nvSpPr>
        <p:spPr bwMode="auto">
          <a:xfrm>
            <a:off x="8247888" y="4956048"/>
            <a:ext cx="201168" cy="128016"/>
          </a:xfrm>
          <a:prstGeom prst="rect">
            <a:avLst/>
          </a:prstGeom>
          <a:noFill/>
          <a:ln/>
        </p:spPr>
        <p:txBody>
          <a:bodyPr wrap="square" lIns="0" tIns="0" rIns="0" bIns="0" rtlCol="0" anchor="ctr"/>
          <a:lstStyle/>
          <a:p>
            <a:pPr marL="0" indent="0">
              <a:buNone/>
              <a:defRPr/>
            </a:pPr>
            <a:r>
              <a:rPr lang="en-US" sz="600" strike="noStrike">
                <a:solidFill>
                  <a:srgbClr val="2C7F9E"/>
                </a:solidFill>
                <a:latin typeface="Asana"/>
                <a:ea typeface="Asana"/>
                <a:cs typeface="Asana"/>
              </a:rPr>
              <a:t>05</a:t>
            </a:r>
            <a:endParaRPr sz="600" strike="noStrike">
              <a:latin typeface="Asana"/>
              <a:cs typeface="Asana"/>
            </a:endParaRPr>
          </a:p>
        </p:txBody>
      </p:sp>
      <p:sp>
        <p:nvSpPr>
          <p:cNvPr id="1699992927" name="Text 58"/>
          <p:cNvSpPr/>
          <p:nvPr/>
        </p:nvSpPr>
        <p:spPr bwMode="auto">
          <a:xfrm>
            <a:off x="8522208" y="4937760"/>
            <a:ext cx="1143000" cy="128016"/>
          </a:xfrm>
          <a:prstGeom prst="rect">
            <a:avLst/>
          </a:prstGeom>
          <a:noFill/>
          <a:ln/>
        </p:spPr>
        <p:txBody>
          <a:bodyPr wrap="square" lIns="0" tIns="0" rIns="0" bIns="0" rtlCol="0" anchor="ctr">
            <a:normAutofit/>
          </a:bodyPr>
          <a:lstStyle/>
          <a:p>
            <a:pPr marL="0" indent="0">
              <a:buNone/>
              <a:defRPr/>
            </a:pPr>
            <a:r>
              <a:rPr lang="en-US" sz="550" strike="noStrike">
                <a:solidFill>
                  <a:srgbClr val="0D1B21"/>
                </a:solidFill>
                <a:latin typeface="Asana"/>
                <a:ea typeface="Asana"/>
                <a:cs typeface="Asana"/>
              </a:rPr>
              <a:t>STRICT JSON</a:t>
            </a:r>
            <a:endParaRPr sz="550" strike="noStrike">
              <a:latin typeface="Asana"/>
              <a:cs typeface="Asana"/>
            </a:endParaRPr>
          </a:p>
        </p:txBody>
      </p:sp>
      <p:sp>
        <p:nvSpPr>
          <p:cNvPr id="2028081790" name="Shape 59"/>
          <p:cNvSpPr/>
          <p:nvPr/>
        </p:nvSpPr>
        <p:spPr bwMode="auto">
          <a:xfrm>
            <a:off x="10122408" y="5358384"/>
            <a:ext cx="1298448" cy="0"/>
          </a:xfrm>
          <a:prstGeom prst="line">
            <a:avLst/>
          </a:prstGeom>
          <a:noFill/>
          <a:ln w="25400">
            <a:solidFill>
              <a:srgbClr val="6C6B65"/>
            </a:solidFill>
            <a:prstDash val="solid"/>
          </a:ln>
        </p:spPr>
      </p:sp>
      <p:sp>
        <p:nvSpPr>
          <p:cNvPr id="575487508" name="Text 60"/>
          <p:cNvSpPr/>
          <p:nvPr/>
        </p:nvSpPr>
        <p:spPr bwMode="auto">
          <a:xfrm>
            <a:off x="10122408" y="4956048"/>
            <a:ext cx="201168" cy="128016"/>
          </a:xfrm>
          <a:prstGeom prst="rect">
            <a:avLst/>
          </a:prstGeom>
          <a:noFill/>
          <a:ln/>
        </p:spPr>
        <p:txBody>
          <a:bodyPr wrap="square" lIns="0" tIns="0" rIns="0" bIns="0" rtlCol="0" anchor="ctr"/>
          <a:lstStyle/>
          <a:p>
            <a:pPr marL="0" indent="0">
              <a:buNone/>
              <a:defRPr/>
            </a:pPr>
            <a:r>
              <a:rPr lang="en-US" sz="600" strike="noStrike">
                <a:solidFill>
                  <a:srgbClr val="6C6B65"/>
                </a:solidFill>
                <a:latin typeface="Asana"/>
                <a:ea typeface="Asana"/>
                <a:cs typeface="Asana"/>
              </a:rPr>
              <a:t>06</a:t>
            </a:r>
            <a:endParaRPr sz="600" strike="noStrike">
              <a:latin typeface="Asana"/>
              <a:cs typeface="Asana"/>
            </a:endParaRPr>
          </a:p>
        </p:txBody>
      </p:sp>
      <p:sp>
        <p:nvSpPr>
          <p:cNvPr id="208265203" name="Text 61"/>
          <p:cNvSpPr/>
          <p:nvPr/>
        </p:nvSpPr>
        <p:spPr bwMode="auto">
          <a:xfrm>
            <a:off x="10396728" y="4937760"/>
            <a:ext cx="1143000" cy="128016"/>
          </a:xfrm>
          <a:prstGeom prst="rect">
            <a:avLst/>
          </a:prstGeom>
          <a:noFill/>
          <a:ln/>
        </p:spPr>
        <p:txBody>
          <a:bodyPr wrap="square" lIns="0" tIns="0" rIns="0" bIns="0" rtlCol="0" anchor="ctr">
            <a:normAutofit/>
          </a:bodyPr>
          <a:lstStyle/>
          <a:p>
            <a:pPr marL="0" indent="0">
              <a:buNone/>
              <a:defRPr/>
            </a:pPr>
            <a:r>
              <a:rPr lang="en-US" sz="550" strike="noStrike">
                <a:solidFill>
                  <a:srgbClr val="0D1B21"/>
                </a:solidFill>
                <a:latin typeface="Asana"/>
                <a:ea typeface="Asana"/>
                <a:cs typeface="Asana"/>
              </a:rPr>
              <a:t>NO-INVENTION FALLBACK</a:t>
            </a:r>
            <a:endParaRPr sz="550" strike="noStrike">
              <a:latin typeface="Asana"/>
              <a:cs typeface="Asana"/>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500" advClick="1">
        <p:fade thruBlk="0"/>
      </p:transition>
    </mc:Choice>
    <mc:Fallback>
      <p:transition spd="fast" advClick="1">
        <p:fade thruBlk="0"/>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0">
    <p:bg>
      <p:bgPr shadeToTitle="0">
        <a:solidFill>
          <a:srgbClr val="F4EFEA"/>
        </a:solidFill>
      </p:bgPr>
    </p:bg>
    <p:spTree>
      <p:nvGrpSpPr>
        <p:cNvPr id="1" name=""/>
        <p:cNvGrpSpPr/>
        <p:nvPr/>
      </p:nvGrpSpPr>
      <p:grpSpPr bwMode="auto">
        <a:xfrm>
          <a:off x="0" y="0"/>
          <a:ext cx="0" cy="0"/>
          <a:chOff x="0" y="0"/>
          <a:chExt cx="0" cy="0"/>
        </a:xfrm>
      </p:grpSpPr>
      <p:sp>
        <p:nvSpPr>
          <p:cNvPr id="223759582" name="Shape 0"/>
          <p:cNvSpPr/>
          <p:nvPr/>
        </p:nvSpPr>
        <p:spPr bwMode="auto">
          <a:xfrm flipH="0" flipV="0">
            <a:off x="130695" y="164592"/>
            <a:ext cx="12250320" cy="6528816"/>
          </a:xfrm>
          <a:prstGeom prst="rect">
            <a:avLst/>
          </a:prstGeom>
          <a:solidFill>
            <a:srgbClr val="F4EFEA">
              <a:alpha val="0"/>
            </a:srgbClr>
          </a:solidFill>
          <a:ln w="10160">
            <a:solidFill>
              <a:srgbClr val="27343A"/>
            </a:solidFill>
            <a:prstDash val="solid"/>
          </a:ln>
        </p:spPr>
        <p:txBody>
          <a:bodyPr anchor="ctr"/>
          <a:p>
            <a:pPr algn="ctr">
              <a:defRPr/>
            </a:pPr>
            <a:endParaRPr>
              <a:latin typeface="Asana"/>
              <a:cs typeface="Asana"/>
            </a:endParaRPr>
          </a:p>
        </p:txBody>
      </p:sp>
      <p:sp>
        <p:nvSpPr>
          <p:cNvPr id="1385182632" name="Shape 1"/>
          <p:cNvSpPr/>
          <p:nvPr/>
        </p:nvSpPr>
        <p:spPr bwMode="auto">
          <a:xfrm flipH="0" flipV="0">
            <a:off x="2679" y="164591"/>
            <a:ext cx="264463" cy="0"/>
          </a:xfrm>
          <a:prstGeom prst="line">
            <a:avLst/>
          </a:prstGeom>
          <a:noFill/>
          <a:ln w="9525">
            <a:solidFill>
              <a:srgbClr val="27343A"/>
            </a:solidFill>
            <a:prstDash val="solid"/>
          </a:ln>
        </p:spPr>
      </p:sp>
      <p:sp>
        <p:nvSpPr>
          <p:cNvPr id="741909420" name="Shape 2"/>
          <p:cNvSpPr/>
          <p:nvPr/>
        </p:nvSpPr>
        <p:spPr bwMode="auto">
          <a:xfrm flipH="0" flipV="0">
            <a:off x="130695" y="36575"/>
            <a:ext cx="0" cy="256032"/>
          </a:xfrm>
          <a:prstGeom prst="line">
            <a:avLst/>
          </a:prstGeom>
          <a:noFill/>
          <a:ln w="9525">
            <a:solidFill>
              <a:srgbClr val="27343A"/>
            </a:solidFill>
            <a:prstDash val="solid"/>
          </a:ln>
        </p:spPr>
      </p:sp>
      <p:sp>
        <p:nvSpPr>
          <p:cNvPr id="2065587478" name="Shape 3"/>
          <p:cNvSpPr/>
          <p:nvPr/>
        </p:nvSpPr>
        <p:spPr bwMode="auto">
          <a:xfrm flipH="0" flipV="0">
            <a:off x="11862447" y="164591"/>
            <a:ext cx="264463" cy="0"/>
          </a:xfrm>
          <a:prstGeom prst="line">
            <a:avLst/>
          </a:prstGeom>
          <a:noFill/>
          <a:ln w="9525">
            <a:solidFill>
              <a:srgbClr val="27343A"/>
            </a:solidFill>
            <a:prstDash val="solid"/>
          </a:ln>
        </p:spPr>
      </p:sp>
      <p:sp>
        <p:nvSpPr>
          <p:cNvPr id="1786892499" name="Shape 4"/>
          <p:cNvSpPr/>
          <p:nvPr/>
        </p:nvSpPr>
        <p:spPr bwMode="auto">
          <a:xfrm flipH="0" flipV="0">
            <a:off x="11990463" y="36575"/>
            <a:ext cx="0" cy="256032"/>
          </a:xfrm>
          <a:prstGeom prst="line">
            <a:avLst/>
          </a:prstGeom>
          <a:noFill/>
          <a:ln w="9525">
            <a:solidFill>
              <a:srgbClr val="27343A"/>
            </a:solidFill>
            <a:prstDash val="solid"/>
          </a:ln>
        </p:spPr>
      </p:sp>
      <p:sp>
        <p:nvSpPr>
          <p:cNvPr id="1650930786" name="Shape 5"/>
          <p:cNvSpPr/>
          <p:nvPr/>
        </p:nvSpPr>
        <p:spPr bwMode="auto">
          <a:xfrm flipH="0" flipV="0">
            <a:off x="2679" y="6693408"/>
            <a:ext cx="264463" cy="0"/>
          </a:xfrm>
          <a:prstGeom prst="line">
            <a:avLst/>
          </a:prstGeom>
          <a:noFill/>
          <a:ln w="9525">
            <a:solidFill>
              <a:srgbClr val="27343A"/>
            </a:solidFill>
            <a:prstDash val="solid"/>
          </a:ln>
        </p:spPr>
      </p:sp>
      <p:sp>
        <p:nvSpPr>
          <p:cNvPr id="709053311" name="Shape 6"/>
          <p:cNvSpPr/>
          <p:nvPr/>
        </p:nvSpPr>
        <p:spPr bwMode="auto">
          <a:xfrm flipH="0" flipV="0">
            <a:off x="130695" y="6565392"/>
            <a:ext cx="0" cy="256032"/>
          </a:xfrm>
          <a:prstGeom prst="line">
            <a:avLst/>
          </a:prstGeom>
          <a:noFill/>
          <a:ln w="9525">
            <a:solidFill>
              <a:srgbClr val="27343A"/>
            </a:solidFill>
            <a:prstDash val="solid"/>
          </a:ln>
        </p:spPr>
      </p:sp>
      <p:sp>
        <p:nvSpPr>
          <p:cNvPr id="1964036853" name="Shape 7"/>
          <p:cNvSpPr/>
          <p:nvPr/>
        </p:nvSpPr>
        <p:spPr bwMode="auto">
          <a:xfrm flipH="0" flipV="0">
            <a:off x="11862447" y="6693408"/>
            <a:ext cx="264463" cy="0"/>
          </a:xfrm>
          <a:prstGeom prst="line">
            <a:avLst/>
          </a:prstGeom>
          <a:noFill/>
          <a:ln w="9525">
            <a:solidFill>
              <a:srgbClr val="27343A"/>
            </a:solidFill>
            <a:prstDash val="solid"/>
          </a:ln>
        </p:spPr>
      </p:sp>
      <p:sp>
        <p:nvSpPr>
          <p:cNvPr id="1466128912" name="Shape 8"/>
          <p:cNvSpPr/>
          <p:nvPr/>
        </p:nvSpPr>
        <p:spPr bwMode="auto">
          <a:xfrm flipH="0" flipV="0">
            <a:off x="11990463" y="6565392"/>
            <a:ext cx="0" cy="256032"/>
          </a:xfrm>
          <a:prstGeom prst="line">
            <a:avLst/>
          </a:prstGeom>
          <a:noFill/>
          <a:ln w="9525">
            <a:solidFill>
              <a:srgbClr val="27343A"/>
            </a:solidFill>
            <a:prstDash val="solid"/>
          </a:ln>
        </p:spPr>
      </p:sp>
      <p:sp>
        <p:nvSpPr>
          <p:cNvPr id="1042828112" name="Text 9"/>
          <p:cNvSpPr/>
          <p:nvPr/>
        </p:nvSpPr>
        <p:spPr bwMode="auto">
          <a:xfrm flipH="0" flipV="0">
            <a:off x="359295" y="393191"/>
            <a:ext cx="2927986" cy="109728"/>
          </a:xfrm>
          <a:prstGeom prst="rect">
            <a:avLst/>
          </a:prstGeom>
          <a:noFill/>
          <a:ln/>
        </p:spPr>
        <p:txBody>
          <a:bodyPr wrap="square" lIns="0" tIns="0" rIns="0" bIns="0" rtlCol="0" anchor="ctr"/>
          <a:lstStyle/>
          <a:p>
            <a:pPr marL="0" indent="0">
              <a:buNone/>
              <a:defRPr/>
            </a:pPr>
            <a:r>
              <a:rPr lang="en-US" sz="500">
                <a:solidFill>
                  <a:srgbClr val="6C6B65"/>
                </a:solidFill>
                <a:latin typeface="Asana"/>
                <a:ea typeface="Asana"/>
                <a:cs typeface="Asana"/>
              </a:rPr>
              <a:t>WIAAS ASIA FIELD ATLAS</a:t>
            </a:r>
            <a:endParaRPr sz="500">
              <a:latin typeface="Asana"/>
              <a:cs typeface="Asana"/>
            </a:endParaRPr>
          </a:p>
        </p:txBody>
      </p:sp>
      <p:sp>
        <p:nvSpPr>
          <p:cNvPr id="975233107" name="Text 10"/>
          <p:cNvSpPr/>
          <p:nvPr/>
        </p:nvSpPr>
        <p:spPr bwMode="auto">
          <a:xfrm flipH="0" flipV="0">
            <a:off x="9384423" y="393191"/>
            <a:ext cx="2408505" cy="109728"/>
          </a:xfrm>
          <a:prstGeom prst="rect">
            <a:avLst/>
          </a:prstGeom>
          <a:noFill/>
          <a:ln/>
        </p:spPr>
        <p:txBody>
          <a:bodyPr wrap="square" lIns="0" tIns="0" rIns="0" bIns="0" rtlCol="0" anchor="ctr"/>
          <a:lstStyle/>
          <a:p>
            <a:pPr marL="0" indent="0" algn="r">
              <a:buNone/>
              <a:defRPr/>
            </a:pPr>
            <a:r>
              <a:rPr lang="en-US" sz="700" b="1">
                <a:solidFill>
                  <a:srgbClr val="6C6B65"/>
                </a:solidFill>
                <a:latin typeface="Asana"/>
                <a:ea typeface="Asana"/>
                <a:cs typeface="Asana"/>
              </a:rPr>
              <a:t>PLATE 10 - </a:t>
            </a:r>
            <a:r>
              <a:rPr lang="en-US" sz="700" b="1">
                <a:solidFill>
                  <a:srgbClr val="6C6B65"/>
                </a:solidFill>
                <a:latin typeface="Asana"/>
                <a:ea typeface="Asana"/>
                <a:cs typeface="Asana"/>
              </a:rPr>
              <a:t>BACKEND INFRASTRUCTURE</a:t>
            </a:r>
            <a:endParaRPr sz="700" b="1">
              <a:latin typeface="Asana"/>
              <a:cs typeface="Asana"/>
            </a:endParaRPr>
          </a:p>
        </p:txBody>
      </p:sp>
      <p:sp>
        <p:nvSpPr>
          <p:cNvPr id="66845881" name="Text 11"/>
          <p:cNvSpPr/>
          <p:nvPr/>
        </p:nvSpPr>
        <p:spPr bwMode="auto">
          <a:xfrm flipH="0" flipV="0">
            <a:off x="359295" y="6492240"/>
            <a:ext cx="3116889" cy="109728"/>
          </a:xfrm>
          <a:prstGeom prst="rect">
            <a:avLst/>
          </a:prstGeom>
          <a:noFill/>
          <a:ln/>
        </p:spPr>
        <p:txBody>
          <a:bodyPr wrap="square" lIns="0" tIns="0" rIns="0" bIns="0" rtlCol="0" anchor="ctr"/>
          <a:lstStyle/>
          <a:p>
            <a:pPr marL="0" indent="0">
              <a:buNone/>
              <a:defRPr/>
            </a:pPr>
            <a:r>
              <a:rPr lang="en-US" sz="450">
                <a:solidFill>
                  <a:srgbClr val="6C6B65"/>
                </a:solidFill>
                <a:latin typeface="Asana"/>
                <a:ea typeface="Asana"/>
                <a:cs typeface="Asana"/>
              </a:rPr>
              <a:t>DEVELOPED WITH QODER + N8N ORCHESTRATION</a:t>
            </a:r>
            <a:endParaRPr sz="450">
              <a:latin typeface="Asana"/>
              <a:cs typeface="Asana"/>
            </a:endParaRPr>
          </a:p>
        </p:txBody>
      </p:sp>
      <p:sp>
        <p:nvSpPr>
          <p:cNvPr id="210577635" name="Text 12"/>
          <p:cNvSpPr/>
          <p:nvPr/>
        </p:nvSpPr>
        <p:spPr bwMode="auto">
          <a:xfrm flipH="0" flipV="0">
            <a:off x="11377815" y="6492240"/>
            <a:ext cx="340023" cy="109728"/>
          </a:xfrm>
          <a:prstGeom prst="rect">
            <a:avLst/>
          </a:prstGeom>
          <a:noFill/>
          <a:ln/>
        </p:spPr>
        <p:txBody>
          <a:bodyPr wrap="square" lIns="0" tIns="0" rIns="0" bIns="0" rtlCol="0" anchor="ctr"/>
          <a:lstStyle/>
          <a:p>
            <a:pPr marL="0" indent="0" algn="r">
              <a:buNone/>
              <a:defRPr/>
            </a:pPr>
            <a:r>
              <a:rPr lang="en-US" sz="450">
                <a:solidFill>
                  <a:srgbClr val="6C6B65"/>
                </a:solidFill>
                <a:latin typeface="Asana"/>
                <a:ea typeface="Asana"/>
                <a:cs typeface="Asana"/>
              </a:rPr>
              <a:t>10 / 12</a:t>
            </a:r>
            <a:endParaRPr sz="450">
              <a:latin typeface="Asana"/>
              <a:cs typeface="Asana"/>
            </a:endParaRPr>
          </a:p>
        </p:txBody>
      </p:sp>
      <p:sp>
        <p:nvSpPr>
          <p:cNvPr id="1875684928" name="Shape 13"/>
          <p:cNvSpPr/>
          <p:nvPr/>
        </p:nvSpPr>
        <p:spPr bwMode="auto">
          <a:xfrm flipH="0" flipV="0">
            <a:off x="496455" y="914399"/>
            <a:ext cx="377804" cy="0"/>
          </a:xfrm>
          <a:prstGeom prst="line">
            <a:avLst/>
          </a:prstGeom>
          <a:noFill/>
          <a:ln w="16510">
            <a:solidFill>
              <a:srgbClr val="B4533B"/>
            </a:solidFill>
            <a:prstDash val="solid"/>
          </a:ln>
        </p:spPr>
      </p:sp>
      <p:sp>
        <p:nvSpPr>
          <p:cNvPr id="1900941714" name="Text 14"/>
          <p:cNvSpPr/>
          <p:nvPr/>
        </p:nvSpPr>
        <p:spPr bwMode="auto">
          <a:xfrm flipH="0" flipV="0">
            <a:off x="1026807" y="850391"/>
            <a:ext cx="1889023" cy="146304"/>
          </a:xfrm>
          <a:prstGeom prst="rect">
            <a:avLst/>
          </a:prstGeom>
          <a:noFill/>
          <a:ln/>
        </p:spPr>
        <p:txBody>
          <a:bodyPr wrap="square" lIns="0" tIns="0" rIns="0" bIns="0" rtlCol="0" anchor="ctr"/>
          <a:lstStyle/>
          <a:p>
            <a:pPr marL="0" indent="0">
              <a:buNone/>
              <a:defRPr/>
            </a:pPr>
            <a:r>
              <a:rPr lang="en-US" sz="550">
                <a:solidFill>
                  <a:srgbClr val="B4533B"/>
                </a:solidFill>
                <a:latin typeface="Asana"/>
                <a:ea typeface="Asana"/>
                <a:cs typeface="Asana"/>
              </a:rPr>
              <a:t>FASTAPI CORE</a:t>
            </a:r>
            <a:endParaRPr sz="550">
              <a:latin typeface="Asana"/>
              <a:cs typeface="Asana"/>
            </a:endParaRPr>
          </a:p>
        </p:txBody>
      </p:sp>
      <p:sp>
        <p:nvSpPr>
          <p:cNvPr id="32465335" name="Text 15"/>
          <p:cNvSpPr/>
          <p:nvPr/>
        </p:nvSpPr>
        <p:spPr bwMode="auto">
          <a:xfrm flipH="0" flipV="0">
            <a:off x="496455" y="1115567"/>
            <a:ext cx="10200728" cy="384048"/>
          </a:xfrm>
          <a:prstGeom prst="rect">
            <a:avLst/>
          </a:prstGeom>
          <a:noFill/>
          <a:ln/>
        </p:spPr>
        <p:txBody>
          <a:bodyPr wrap="square" lIns="0" tIns="0" rIns="0" bIns="0" rtlCol="0" anchor="ctr"/>
          <a:lstStyle/>
          <a:p>
            <a:pPr marL="0" indent="0">
              <a:buNone/>
              <a:defRPr/>
            </a:pPr>
            <a:r>
              <a:rPr lang="en-US" sz="2800" b="1">
                <a:solidFill>
                  <a:srgbClr val="0D1B21"/>
                </a:solidFill>
                <a:latin typeface="Asana"/>
                <a:ea typeface="Asana"/>
                <a:cs typeface="Asana"/>
              </a:rPr>
              <a:t>FastAPI owns the measurable state</a:t>
            </a:r>
            <a:endParaRPr sz="2800">
              <a:latin typeface="Asana"/>
              <a:cs typeface="Asana"/>
            </a:endParaRPr>
          </a:p>
        </p:txBody>
      </p:sp>
      <p:sp>
        <p:nvSpPr>
          <p:cNvPr id="1052534945" name="Text 16"/>
          <p:cNvSpPr/>
          <p:nvPr/>
        </p:nvSpPr>
        <p:spPr bwMode="auto">
          <a:xfrm flipH="0" flipV="0">
            <a:off x="496455" y="1645919"/>
            <a:ext cx="9917375" cy="256032"/>
          </a:xfrm>
          <a:prstGeom prst="rect">
            <a:avLst/>
          </a:prstGeom>
          <a:noFill/>
          <a:ln/>
        </p:spPr>
        <p:txBody>
          <a:bodyPr wrap="square" lIns="0" tIns="0" rIns="0" bIns="0" rtlCol="0" anchor="ctr"/>
          <a:lstStyle/>
          <a:p>
            <a:pPr marL="0" indent="0">
              <a:buNone/>
              <a:defRPr/>
            </a:pPr>
            <a:r>
              <a:rPr lang="en-US" sz="1100">
                <a:solidFill>
                  <a:srgbClr val="0D1B21"/>
                </a:solidFill>
                <a:latin typeface="Asana"/>
                <a:ea typeface="Asana"/>
                <a:cs typeface="Asana"/>
              </a:rPr>
              <a:t>The backend resolves locations, normalizes weather, calculates physics, and builds the values used by both agents.</a:t>
            </a:r>
            <a:endParaRPr sz="1100">
              <a:latin typeface="Asana"/>
              <a:cs typeface="Asana"/>
            </a:endParaRPr>
          </a:p>
        </p:txBody>
      </p:sp>
      <p:sp>
        <p:nvSpPr>
          <p:cNvPr id="229252068" name="Shape 17"/>
          <p:cNvSpPr/>
          <p:nvPr/>
        </p:nvSpPr>
        <p:spPr bwMode="auto">
          <a:xfrm flipH="0" flipV="0">
            <a:off x="651903" y="2057399"/>
            <a:ext cx="5053138" cy="658368"/>
          </a:xfrm>
          <a:prstGeom prst="rect">
            <a:avLst/>
          </a:prstGeom>
          <a:solidFill>
            <a:srgbClr val="EFE7D5"/>
          </a:solidFill>
          <a:ln w="10160">
            <a:solidFill>
              <a:srgbClr val="108A98"/>
            </a:solidFill>
            <a:prstDash val="solid"/>
          </a:ln>
        </p:spPr>
        <p:txBody>
          <a:bodyPr anchor="ctr"/>
          <a:p>
            <a:pPr algn="ctr">
              <a:defRPr/>
            </a:pPr>
            <a:endParaRPr>
              <a:latin typeface="Asana"/>
              <a:cs typeface="Asana"/>
            </a:endParaRPr>
          </a:p>
        </p:txBody>
      </p:sp>
      <p:sp>
        <p:nvSpPr>
          <p:cNvPr id="1851660169" name="Text 18"/>
          <p:cNvSpPr/>
          <p:nvPr/>
        </p:nvSpPr>
        <p:spPr bwMode="auto">
          <a:xfrm flipH="0" flipV="0">
            <a:off x="816495" y="2167127"/>
            <a:ext cx="1133414" cy="118872"/>
          </a:xfrm>
          <a:prstGeom prst="rect">
            <a:avLst/>
          </a:prstGeom>
          <a:noFill/>
          <a:ln/>
        </p:spPr>
        <p:txBody>
          <a:bodyPr wrap="square" lIns="0" tIns="0" rIns="0" bIns="0" rtlCol="0" anchor="ctr"/>
          <a:lstStyle/>
          <a:p>
            <a:pPr marL="0" indent="0">
              <a:buNone/>
              <a:defRPr/>
            </a:pPr>
            <a:r>
              <a:rPr lang="en-US" sz="1050" b="1">
                <a:solidFill>
                  <a:srgbClr val="0D1B21"/>
                </a:solidFill>
                <a:latin typeface="Asana"/>
                <a:ea typeface="Asana"/>
                <a:cs typeface="Asana"/>
              </a:rPr>
              <a:t>Routes</a:t>
            </a:r>
            <a:endParaRPr sz="1050">
              <a:latin typeface="Asana"/>
              <a:cs typeface="Asana"/>
            </a:endParaRPr>
          </a:p>
        </p:txBody>
      </p:sp>
      <p:sp>
        <p:nvSpPr>
          <p:cNvPr id="1749271866" name="Text 19"/>
          <p:cNvSpPr/>
          <p:nvPr/>
        </p:nvSpPr>
        <p:spPr bwMode="auto">
          <a:xfrm flipH="0" flipV="0">
            <a:off x="2005215" y="2194559"/>
            <a:ext cx="3400242" cy="128016"/>
          </a:xfrm>
          <a:prstGeom prst="rect">
            <a:avLst/>
          </a:prstGeom>
          <a:noFill/>
          <a:ln/>
        </p:spPr>
        <p:txBody>
          <a:bodyPr wrap="square" lIns="0" tIns="0" rIns="0" bIns="0" rtlCol="0" anchor="ctr">
            <a:normAutofit/>
          </a:bodyPr>
          <a:lstStyle/>
          <a:p>
            <a:pPr marL="0" indent="0">
              <a:buNone/>
              <a:defRPr/>
            </a:pPr>
            <a:r>
              <a:rPr lang="en-US" sz="850">
                <a:solidFill>
                  <a:srgbClr val="0D1B21"/>
                </a:solidFill>
                <a:latin typeface="Asana"/>
                <a:ea typeface="Asana"/>
                <a:cs typeface="Asana"/>
              </a:rPr>
              <a:t>analytics, grid outlooks, client location, static frontend, TTS</a:t>
            </a:r>
            <a:endParaRPr sz="850">
              <a:latin typeface="Asana"/>
              <a:cs typeface="Asana"/>
            </a:endParaRPr>
          </a:p>
        </p:txBody>
      </p:sp>
      <p:sp>
        <p:nvSpPr>
          <p:cNvPr id="1956285946" name="Shape 20"/>
          <p:cNvSpPr/>
          <p:nvPr/>
        </p:nvSpPr>
        <p:spPr bwMode="auto">
          <a:xfrm flipH="0" flipV="0">
            <a:off x="6321183" y="2057399"/>
            <a:ext cx="5053138" cy="658368"/>
          </a:xfrm>
          <a:prstGeom prst="rect">
            <a:avLst/>
          </a:prstGeom>
          <a:solidFill>
            <a:srgbClr val="EFE7D5"/>
          </a:solidFill>
          <a:ln w="10160">
            <a:solidFill>
              <a:srgbClr val="2C7F9E"/>
            </a:solidFill>
            <a:prstDash val="solid"/>
          </a:ln>
        </p:spPr>
        <p:txBody>
          <a:bodyPr anchor="ctr"/>
          <a:p>
            <a:pPr algn="ctr">
              <a:defRPr/>
            </a:pPr>
            <a:endParaRPr>
              <a:latin typeface="Asana"/>
              <a:cs typeface="Asana"/>
            </a:endParaRPr>
          </a:p>
        </p:txBody>
      </p:sp>
      <p:sp>
        <p:nvSpPr>
          <p:cNvPr id="1346598421" name="Text 21"/>
          <p:cNvSpPr/>
          <p:nvPr/>
        </p:nvSpPr>
        <p:spPr bwMode="auto">
          <a:xfrm flipH="0" flipV="0">
            <a:off x="6485775" y="2167127"/>
            <a:ext cx="1133414" cy="118872"/>
          </a:xfrm>
          <a:prstGeom prst="rect">
            <a:avLst/>
          </a:prstGeom>
          <a:noFill/>
          <a:ln/>
        </p:spPr>
        <p:txBody>
          <a:bodyPr wrap="square" lIns="0" tIns="0" rIns="0" bIns="0" rtlCol="0" anchor="ctr"/>
          <a:lstStyle/>
          <a:p>
            <a:pPr marL="0" indent="0">
              <a:buNone/>
              <a:defRPr/>
            </a:pPr>
            <a:r>
              <a:rPr lang="en-US" sz="1050" b="1">
                <a:solidFill>
                  <a:srgbClr val="0D1B21"/>
                </a:solidFill>
                <a:latin typeface="Asana"/>
                <a:ea typeface="Asana"/>
                <a:cs typeface="Asana"/>
              </a:rPr>
              <a:t>Weather pipeline</a:t>
            </a:r>
            <a:endParaRPr sz="1050">
              <a:latin typeface="Asana"/>
              <a:cs typeface="Asana"/>
            </a:endParaRPr>
          </a:p>
        </p:txBody>
      </p:sp>
      <p:sp>
        <p:nvSpPr>
          <p:cNvPr id="280087535" name="Text 22"/>
          <p:cNvSpPr/>
          <p:nvPr/>
        </p:nvSpPr>
        <p:spPr bwMode="auto">
          <a:xfrm flipH="0" flipV="0">
            <a:off x="7674495" y="2194559"/>
            <a:ext cx="3400242" cy="128016"/>
          </a:xfrm>
          <a:prstGeom prst="rect">
            <a:avLst/>
          </a:prstGeom>
          <a:noFill/>
          <a:ln/>
        </p:spPr>
        <p:txBody>
          <a:bodyPr wrap="square" lIns="0" tIns="0" rIns="0" bIns="0" rtlCol="0" anchor="ctr">
            <a:normAutofit/>
          </a:bodyPr>
          <a:lstStyle/>
          <a:p>
            <a:pPr marL="0" indent="0">
              <a:buNone/>
              <a:defRPr/>
            </a:pPr>
            <a:r>
              <a:rPr lang="en-US" sz="850">
                <a:solidFill>
                  <a:srgbClr val="0D1B21"/>
                </a:solidFill>
                <a:latin typeface="Asana"/>
                <a:ea typeface="Asana"/>
                <a:cs typeface="Asana"/>
              </a:rPr>
              <a:t>Open-Meteo signals cached and normalized into one schema</a:t>
            </a:r>
            <a:endParaRPr sz="850">
              <a:latin typeface="Asana"/>
              <a:cs typeface="Asana"/>
            </a:endParaRPr>
          </a:p>
        </p:txBody>
      </p:sp>
      <p:sp>
        <p:nvSpPr>
          <p:cNvPr id="161802423" name="Shape 23"/>
          <p:cNvSpPr/>
          <p:nvPr/>
        </p:nvSpPr>
        <p:spPr bwMode="auto">
          <a:xfrm flipH="0" flipV="0">
            <a:off x="651903" y="2953511"/>
            <a:ext cx="5053138" cy="658368"/>
          </a:xfrm>
          <a:prstGeom prst="rect">
            <a:avLst/>
          </a:prstGeom>
          <a:solidFill>
            <a:srgbClr val="EFE7D5"/>
          </a:solidFill>
          <a:ln w="10160">
            <a:solidFill>
              <a:srgbClr val="B4533B"/>
            </a:solidFill>
            <a:prstDash val="solid"/>
          </a:ln>
        </p:spPr>
        <p:txBody>
          <a:bodyPr anchor="ctr"/>
          <a:p>
            <a:pPr algn="ctr">
              <a:defRPr/>
            </a:pPr>
            <a:endParaRPr>
              <a:latin typeface="Asana"/>
              <a:cs typeface="Asana"/>
            </a:endParaRPr>
          </a:p>
        </p:txBody>
      </p:sp>
      <p:sp>
        <p:nvSpPr>
          <p:cNvPr id="1894212964" name="Text 24"/>
          <p:cNvSpPr/>
          <p:nvPr/>
        </p:nvSpPr>
        <p:spPr bwMode="auto">
          <a:xfrm flipH="0" flipV="0">
            <a:off x="816495" y="3063240"/>
            <a:ext cx="1133414" cy="118872"/>
          </a:xfrm>
          <a:prstGeom prst="rect">
            <a:avLst/>
          </a:prstGeom>
          <a:noFill/>
          <a:ln/>
        </p:spPr>
        <p:txBody>
          <a:bodyPr wrap="square" lIns="0" tIns="0" rIns="0" bIns="0" rtlCol="0" anchor="ctr"/>
          <a:lstStyle/>
          <a:p>
            <a:pPr marL="0" indent="0">
              <a:buNone/>
              <a:defRPr/>
            </a:pPr>
            <a:r>
              <a:rPr lang="en-US" sz="1050" b="1">
                <a:solidFill>
                  <a:srgbClr val="0D1B21"/>
                </a:solidFill>
                <a:latin typeface="Asana"/>
                <a:ea typeface="Asana"/>
                <a:cs typeface="Asana"/>
              </a:rPr>
              <a:t>Physics engine</a:t>
            </a:r>
            <a:endParaRPr sz="1050">
              <a:latin typeface="Asana"/>
              <a:cs typeface="Asana"/>
            </a:endParaRPr>
          </a:p>
        </p:txBody>
      </p:sp>
      <p:sp>
        <p:nvSpPr>
          <p:cNvPr id="1147945574" name="Text 25"/>
          <p:cNvSpPr/>
          <p:nvPr/>
        </p:nvSpPr>
        <p:spPr bwMode="auto">
          <a:xfrm flipH="0" flipV="0">
            <a:off x="2005215" y="3090671"/>
            <a:ext cx="3400242" cy="128016"/>
          </a:xfrm>
          <a:prstGeom prst="rect">
            <a:avLst/>
          </a:prstGeom>
          <a:noFill/>
          <a:ln/>
        </p:spPr>
        <p:txBody>
          <a:bodyPr vertOverflow="overflow" horzOverflow="overflow" vert="horz" wrap="square" lIns="0" tIns="0" rIns="0" bIns="0" numCol="1" spcCol="0" rtlCol="0" fromWordArt="0" anchor="ctr" anchorCtr="0" forceAA="0" upright="0" compatLnSpc="0">
            <a:normAutofit fontScale="95000" lnSpcReduction="1000"/>
          </a:bodyPr>
          <a:lstStyle/>
          <a:p>
            <a:pPr marL="0" indent="0">
              <a:buNone/>
              <a:defRPr/>
            </a:pPr>
            <a:r>
              <a:rPr lang="en-US" sz="850">
                <a:solidFill>
                  <a:srgbClr val="0D1B21"/>
                </a:solidFill>
                <a:latin typeface="Asana"/>
                <a:ea typeface="Asana"/>
                <a:cs typeface="Asana"/>
              </a:rPr>
              <a:t>VPD, heat index, wet bulb and stress indicators before model reasoning</a:t>
            </a:r>
            <a:endParaRPr sz="850">
              <a:latin typeface="Asana"/>
              <a:cs typeface="Asana"/>
            </a:endParaRPr>
          </a:p>
        </p:txBody>
      </p:sp>
      <p:sp>
        <p:nvSpPr>
          <p:cNvPr id="405949039" name="Shape 26"/>
          <p:cNvSpPr/>
          <p:nvPr/>
        </p:nvSpPr>
        <p:spPr bwMode="auto">
          <a:xfrm flipH="0" flipV="0">
            <a:off x="6321183" y="2953511"/>
            <a:ext cx="5053138" cy="658368"/>
          </a:xfrm>
          <a:prstGeom prst="rect">
            <a:avLst/>
          </a:prstGeom>
          <a:solidFill>
            <a:srgbClr val="EFE7D5"/>
          </a:solidFill>
          <a:ln w="10160">
            <a:solidFill>
              <a:srgbClr val="C28722"/>
            </a:solidFill>
            <a:prstDash val="solid"/>
          </a:ln>
        </p:spPr>
        <p:txBody>
          <a:bodyPr anchor="ctr"/>
          <a:p>
            <a:pPr algn="ctr">
              <a:defRPr/>
            </a:pPr>
            <a:endParaRPr>
              <a:latin typeface="Asana"/>
              <a:cs typeface="Asana"/>
            </a:endParaRPr>
          </a:p>
        </p:txBody>
      </p:sp>
      <p:sp>
        <p:nvSpPr>
          <p:cNvPr id="476522077" name="Text 27"/>
          <p:cNvSpPr/>
          <p:nvPr/>
        </p:nvSpPr>
        <p:spPr bwMode="auto">
          <a:xfrm flipH="0" flipV="0">
            <a:off x="6485775" y="3063240"/>
            <a:ext cx="1133414" cy="118872"/>
          </a:xfrm>
          <a:prstGeom prst="rect">
            <a:avLst/>
          </a:prstGeom>
          <a:noFill/>
          <a:ln/>
        </p:spPr>
        <p:txBody>
          <a:bodyPr wrap="square" lIns="0" tIns="0" rIns="0" bIns="0" rtlCol="0" anchor="ctr"/>
          <a:lstStyle/>
          <a:p>
            <a:pPr marL="0" indent="0">
              <a:buNone/>
              <a:defRPr/>
            </a:pPr>
            <a:r>
              <a:rPr lang="en-US" sz="1050" b="1">
                <a:solidFill>
                  <a:srgbClr val="0D1B21"/>
                </a:solidFill>
                <a:latin typeface="Asana"/>
                <a:ea typeface="Asana"/>
                <a:cs typeface="Asana"/>
              </a:rPr>
              <a:t>Resource ledger</a:t>
            </a:r>
            <a:endParaRPr sz="1050">
              <a:latin typeface="Asana"/>
              <a:cs typeface="Asana"/>
            </a:endParaRPr>
          </a:p>
        </p:txBody>
      </p:sp>
      <p:sp>
        <p:nvSpPr>
          <p:cNvPr id="1265886578" name="Text 28"/>
          <p:cNvSpPr/>
          <p:nvPr/>
        </p:nvSpPr>
        <p:spPr bwMode="auto">
          <a:xfrm flipH="0" flipV="0">
            <a:off x="7674495" y="3090671"/>
            <a:ext cx="3400242" cy="128016"/>
          </a:xfrm>
          <a:prstGeom prst="rect">
            <a:avLst/>
          </a:prstGeom>
          <a:noFill/>
          <a:ln/>
        </p:spPr>
        <p:txBody>
          <a:bodyPr vertOverflow="overflow" horzOverflow="overflow" vert="horz" wrap="square" lIns="0" tIns="0" rIns="0" bIns="0" numCol="1" spcCol="0" rtlCol="0" fromWordArt="0" anchor="ctr" anchorCtr="0" forceAA="0" upright="0" compatLnSpc="0">
            <a:normAutofit fontScale="95000" lnSpcReduction="1000"/>
          </a:bodyPr>
          <a:lstStyle/>
          <a:p>
            <a:pPr marL="0" indent="0">
              <a:buNone/>
              <a:defRPr/>
            </a:pPr>
            <a:r>
              <a:rPr lang="en-US" sz="850">
                <a:solidFill>
                  <a:srgbClr val="0D1B21"/>
                </a:solidFill>
                <a:latin typeface="Asana"/>
                <a:ea typeface="Asana"/>
                <a:cs typeface="Asana"/>
              </a:rPr>
              <a:t>water loss, irrigation efficiency, grid demand, fuel overhead and capacity</a:t>
            </a:r>
            <a:endParaRPr sz="850">
              <a:latin typeface="Asana"/>
              <a:cs typeface="Asana"/>
            </a:endParaRPr>
          </a:p>
        </p:txBody>
      </p:sp>
      <p:sp>
        <p:nvSpPr>
          <p:cNvPr id="467843498" name="Shape 29"/>
          <p:cNvSpPr/>
          <p:nvPr/>
        </p:nvSpPr>
        <p:spPr bwMode="auto">
          <a:xfrm flipH="0" flipV="0">
            <a:off x="651903" y="3849623"/>
            <a:ext cx="5053138" cy="658368"/>
          </a:xfrm>
          <a:prstGeom prst="rect">
            <a:avLst/>
          </a:prstGeom>
          <a:solidFill>
            <a:srgbClr val="EFE7D5"/>
          </a:solidFill>
          <a:ln w="10160">
            <a:solidFill>
              <a:srgbClr val="2E865F"/>
            </a:solidFill>
            <a:prstDash val="solid"/>
          </a:ln>
        </p:spPr>
        <p:txBody>
          <a:bodyPr anchor="ctr"/>
          <a:p>
            <a:pPr algn="ctr">
              <a:defRPr/>
            </a:pPr>
            <a:endParaRPr>
              <a:latin typeface="Asana"/>
              <a:cs typeface="Asana"/>
            </a:endParaRPr>
          </a:p>
        </p:txBody>
      </p:sp>
      <p:sp>
        <p:nvSpPr>
          <p:cNvPr id="2056040652" name="Text 30"/>
          <p:cNvSpPr/>
          <p:nvPr/>
        </p:nvSpPr>
        <p:spPr bwMode="auto">
          <a:xfrm flipH="0" flipV="0">
            <a:off x="816495" y="3959352"/>
            <a:ext cx="1133414" cy="118872"/>
          </a:xfrm>
          <a:prstGeom prst="rect">
            <a:avLst/>
          </a:prstGeom>
          <a:noFill/>
          <a:ln/>
        </p:spPr>
        <p:txBody>
          <a:bodyPr wrap="square" lIns="0" tIns="0" rIns="0" bIns="0" rtlCol="0" anchor="ctr"/>
          <a:lstStyle/>
          <a:p>
            <a:pPr marL="0" indent="0">
              <a:buNone/>
              <a:defRPr/>
            </a:pPr>
            <a:r>
              <a:rPr lang="en-US" sz="1050" b="1">
                <a:solidFill>
                  <a:srgbClr val="0D1B21"/>
                </a:solidFill>
                <a:latin typeface="Asana"/>
                <a:ea typeface="Asana"/>
                <a:cs typeface="Asana"/>
              </a:rPr>
              <a:t>Agent bridge</a:t>
            </a:r>
            <a:endParaRPr sz="1050">
              <a:latin typeface="Asana"/>
              <a:cs typeface="Asana"/>
            </a:endParaRPr>
          </a:p>
        </p:txBody>
      </p:sp>
      <p:sp>
        <p:nvSpPr>
          <p:cNvPr id="2082838215" name="Text 31"/>
          <p:cNvSpPr/>
          <p:nvPr/>
        </p:nvSpPr>
        <p:spPr bwMode="auto">
          <a:xfrm flipH="0" flipV="0">
            <a:off x="2005215" y="3986783"/>
            <a:ext cx="3400242" cy="128016"/>
          </a:xfrm>
          <a:prstGeom prst="rect">
            <a:avLst/>
          </a:prstGeom>
          <a:noFill/>
          <a:ln/>
        </p:spPr>
        <p:txBody>
          <a:bodyPr wrap="square" lIns="0" tIns="0" rIns="0" bIns="0" rtlCol="0" anchor="ctr">
            <a:normAutofit/>
          </a:bodyPr>
          <a:lstStyle/>
          <a:p>
            <a:pPr marL="0" indent="0">
              <a:buNone/>
              <a:defRPr/>
            </a:pPr>
            <a:r>
              <a:rPr lang="en-US" sz="850">
                <a:solidFill>
                  <a:srgbClr val="0D1B21"/>
                </a:solidFill>
                <a:latin typeface="Asana"/>
                <a:ea typeface="Asana"/>
                <a:cs typeface="Asana"/>
              </a:rPr>
              <a:t>structured payloads to WIaaS and CrisisLens workflows</a:t>
            </a:r>
            <a:endParaRPr sz="850">
              <a:latin typeface="Asana"/>
              <a:cs typeface="Asana"/>
            </a:endParaRPr>
          </a:p>
        </p:txBody>
      </p:sp>
      <p:sp>
        <p:nvSpPr>
          <p:cNvPr id="1035098863" name="Shape 32"/>
          <p:cNvSpPr/>
          <p:nvPr/>
        </p:nvSpPr>
        <p:spPr bwMode="auto">
          <a:xfrm flipH="0" flipV="0">
            <a:off x="6321183" y="3849623"/>
            <a:ext cx="5053138" cy="658368"/>
          </a:xfrm>
          <a:prstGeom prst="rect">
            <a:avLst/>
          </a:prstGeom>
          <a:solidFill>
            <a:srgbClr val="EFE7D5"/>
          </a:solidFill>
          <a:ln w="10160">
            <a:solidFill>
              <a:srgbClr val="6C6B65"/>
            </a:solidFill>
            <a:prstDash val="solid"/>
          </a:ln>
        </p:spPr>
        <p:txBody>
          <a:bodyPr anchor="ctr"/>
          <a:p>
            <a:pPr algn="ctr">
              <a:defRPr/>
            </a:pPr>
            <a:endParaRPr>
              <a:latin typeface="Asana"/>
              <a:cs typeface="Asana"/>
            </a:endParaRPr>
          </a:p>
        </p:txBody>
      </p:sp>
      <p:sp>
        <p:nvSpPr>
          <p:cNvPr id="493482396" name="Text 33"/>
          <p:cNvSpPr/>
          <p:nvPr/>
        </p:nvSpPr>
        <p:spPr bwMode="auto">
          <a:xfrm flipH="0" flipV="0">
            <a:off x="6485775" y="3959352"/>
            <a:ext cx="1133414" cy="118872"/>
          </a:xfrm>
          <a:prstGeom prst="rect">
            <a:avLst/>
          </a:prstGeom>
          <a:noFill/>
          <a:ln/>
        </p:spPr>
        <p:txBody>
          <a:bodyPr wrap="square" lIns="0" tIns="0" rIns="0" bIns="0" rtlCol="0" anchor="ctr"/>
          <a:lstStyle/>
          <a:p>
            <a:pPr marL="0" indent="0">
              <a:buNone/>
              <a:defRPr/>
            </a:pPr>
            <a:r>
              <a:rPr lang="en-US" sz="1050" b="1">
                <a:solidFill>
                  <a:srgbClr val="0D1B21"/>
                </a:solidFill>
                <a:latin typeface="Asana"/>
                <a:ea typeface="Asana"/>
                <a:cs typeface="Asana"/>
              </a:rPr>
              <a:t>Bilingual speech</a:t>
            </a:r>
            <a:endParaRPr sz="1050">
              <a:latin typeface="Asana"/>
              <a:cs typeface="Asana"/>
            </a:endParaRPr>
          </a:p>
        </p:txBody>
      </p:sp>
      <p:sp>
        <p:nvSpPr>
          <p:cNvPr id="1908587162" name="Text 34"/>
          <p:cNvSpPr/>
          <p:nvPr/>
        </p:nvSpPr>
        <p:spPr bwMode="auto">
          <a:xfrm flipH="0" flipV="0">
            <a:off x="7674495" y="3986783"/>
            <a:ext cx="3400242" cy="128016"/>
          </a:xfrm>
          <a:prstGeom prst="rect">
            <a:avLst/>
          </a:prstGeom>
          <a:noFill/>
          <a:ln/>
        </p:spPr>
        <p:txBody>
          <a:bodyPr wrap="square" lIns="0" tIns="0" rIns="0" bIns="0" rtlCol="0" anchor="ctr">
            <a:normAutofit/>
          </a:bodyPr>
          <a:lstStyle/>
          <a:p>
            <a:pPr marL="0" indent="0">
              <a:buNone/>
              <a:defRPr/>
            </a:pPr>
            <a:r>
              <a:rPr lang="en-US" sz="850">
                <a:solidFill>
                  <a:srgbClr val="0D1B21"/>
                </a:solidFill>
                <a:latin typeface="Asana"/>
                <a:ea typeface="Asana"/>
                <a:cs typeface="Asana"/>
              </a:rPr>
              <a:t>English and Urdu input/playback for field operators</a:t>
            </a:r>
            <a:endParaRPr sz="850">
              <a:latin typeface="Asana"/>
              <a:cs typeface="Asana"/>
            </a:endParaRPr>
          </a:p>
        </p:txBody>
      </p:sp>
      <p:sp>
        <p:nvSpPr>
          <p:cNvPr id="375069509" name="Shape 35"/>
          <p:cNvSpPr/>
          <p:nvPr/>
        </p:nvSpPr>
        <p:spPr bwMode="auto">
          <a:xfrm flipH="0" flipV="0">
            <a:off x="971943" y="5074920"/>
            <a:ext cx="4722559" cy="777240"/>
          </a:xfrm>
          <a:prstGeom prst="rect">
            <a:avLst/>
          </a:prstGeom>
          <a:solidFill>
            <a:srgbClr val="E8DFC9"/>
          </a:solidFill>
          <a:ln w="10160">
            <a:solidFill>
              <a:srgbClr val="A9A193"/>
            </a:solidFill>
            <a:prstDash val="solid"/>
          </a:ln>
        </p:spPr>
        <p:txBody>
          <a:bodyPr anchor="ctr"/>
          <a:p>
            <a:pPr algn="ctr">
              <a:defRPr/>
            </a:pPr>
            <a:endParaRPr>
              <a:latin typeface="Asana"/>
              <a:cs typeface="Asana"/>
            </a:endParaRPr>
          </a:p>
        </p:txBody>
      </p:sp>
      <p:sp>
        <p:nvSpPr>
          <p:cNvPr id="1002118813" name="Text 36"/>
          <p:cNvSpPr/>
          <p:nvPr/>
        </p:nvSpPr>
        <p:spPr bwMode="auto">
          <a:xfrm flipH="0" flipV="0">
            <a:off x="1013091" y="5129784"/>
            <a:ext cx="4306974" cy="109728"/>
          </a:xfrm>
          <a:prstGeom prst="rect">
            <a:avLst/>
          </a:prstGeom>
          <a:noFill/>
          <a:ln/>
        </p:spPr>
        <p:txBody>
          <a:bodyPr wrap="square" lIns="0" tIns="0" rIns="0" bIns="0" rtlCol="0" anchor="ctr"/>
          <a:lstStyle/>
          <a:p>
            <a:pPr marL="0" indent="0">
              <a:buNone/>
              <a:defRPr/>
            </a:pPr>
            <a:r>
              <a:rPr lang="en-US" sz="600" b="1">
                <a:solidFill>
                  <a:srgbClr val="108A98"/>
                </a:solidFill>
                <a:latin typeface="Asana"/>
                <a:ea typeface="Asana"/>
                <a:cs typeface="Asana"/>
              </a:rPr>
              <a:t>TETENS SATURATION PRESSURE</a:t>
            </a:r>
            <a:endParaRPr sz="600" b="1">
              <a:latin typeface="Asana"/>
              <a:cs typeface="Asana"/>
            </a:endParaRPr>
          </a:p>
        </p:txBody>
      </p:sp>
      <p:sp>
        <p:nvSpPr>
          <p:cNvPr id="573758428" name="Text 37"/>
          <p:cNvSpPr/>
          <p:nvPr/>
        </p:nvSpPr>
        <p:spPr bwMode="auto">
          <a:xfrm flipH="0" flipV="0">
            <a:off x="1152891" y="5294376"/>
            <a:ext cx="4302252" cy="438912"/>
          </a:xfrm>
          <a:prstGeom prst="rect">
            <a:avLst/>
          </a:prstGeom>
          <a:noFill/>
          <a:ln/>
        </p:spPr>
        <p:txBody>
          <a:bodyPr wrap="square" lIns="0" tIns="0" rIns="0" bIns="0" rtlCol="0" anchor="ctr"/>
          <a:lstStyle/>
          <a:p>
            <a:pPr marL="0" indent="0" algn="ctr">
              <a:buNone/>
              <a:defRPr/>
            </a:pPr>
            <a:r>
              <a:rPr lang="en-US" sz="1800" b="1">
                <a:solidFill>
                  <a:srgbClr val="0D1B21"/>
                </a:solidFill>
                <a:latin typeface="Asana"/>
                <a:ea typeface="Asana"/>
                <a:cs typeface="Asana"/>
              </a:rPr>
              <a:t>e_s(T) = 0.61078 x exp(17.27T / (T + 237.3))</a:t>
            </a:r>
            <a:endParaRPr sz="1800">
              <a:latin typeface="Asana"/>
              <a:cs typeface="Asana"/>
            </a:endParaRPr>
          </a:p>
        </p:txBody>
      </p:sp>
      <p:sp>
        <p:nvSpPr>
          <p:cNvPr id="2133854467" name="Shape 38"/>
          <p:cNvSpPr/>
          <p:nvPr/>
        </p:nvSpPr>
        <p:spPr bwMode="auto">
          <a:xfrm flipH="0" flipV="0">
            <a:off x="6275463" y="5074920"/>
            <a:ext cx="4628108" cy="777240"/>
          </a:xfrm>
          <a:prstGeom prst="rect">
            <a:avLst/>
          </a:prstGeom>
          <a:solidFill>
            <a:srgbClr val="E8DFC9"/>
          </a:solidFill>
          <a:ln w="10160">
            <a:solidFill>
              <a:srgbClr val="A9A193"/>
            </a:solidFill>
            <a:prstDash val="solid"/>
          </a:ln>
        </p:spPr>
        <p:txBody>
          <a:bodyPr anchor="ctr"/>
          <a:p>
            <a:pPr algn="ctr">
              <a:defRPr/>
            </a:pPr>
            <a:endParaRPr>
              <a:latin typeface="Asana"/>
              <a:cs typeface="Asana"/>
            </a:endParaRPr>
          </a:p>
        </p:txBody>
      </p:sp>
      <p:sp>
        <p:nvSpPr>
          <p:cNvPr id="987702393" name="Text 39"/>
          <p:cNvSpPr/>
          <p:nvPr/>
        </p:nvSpPr>
        <p:spPr bwMode="auto">
          <a:xfrm flipH="0" flipV="0">
            <a:off x="6321183" y="5129784"/>
            <a:ext cx="4212523" cy="109728"/>
          </a:xfrm>
          <a:prstGeom prst="rect">
            <a:avLst/>
          </a:prstGeom>
          <a:noFill/>
          <a:ln/>
        </p:spPr>
        <p:txBody>
          <a:bodyPr wrap="square" lIns="0" tIns="0" rIns="0" bIns="0" rtlCol="0" anchor="ctr"/>
          <a:lstStyle/>
          <a:p>
            <a:pPr marL="0" indent="0">
              <a:buNone/>
              <a:defRPr/>
            </a:pPr>
            <a:r>
              <a:rPr lang="en-US" sz="600" b="1">
                <a:solidFill>
                  <a:srgbClr val="B4533B"/>
                </a:solidFill>
                <a:latin typeface="Asana"/>
                <a:ea typeface="Asana"/>
                <a:cs typeface="Asana"/>
              </a:rPr>
              <a:t>AGRICULTURE AND HEAT STRESS SIGNAL</a:t>
            </a:r>
            <a:endParaRPr sz="600" b="1">
              <a:latin typeface="Asana"/>
              <a:cs typeface="Asana"/>
            </a:endParaRPr>
          </a:p>
        </p:txBody>
      </p:sp>
      <p:sp>
        <p:nvSpPr>
          <p:cNvPr id="661681313" name="Text 40"/>
          <p:cNvSpPr/>
          <p:nvPr/>
        </p:nvSpPr>
        <p:spPr bwMode="auto">
          <a:xfrm flipH="0" flipV="0">
            <a:off x="6595503" y="5294376"/>
            <a:ext cx="3966950" cy="438912"/>
          </a:xfrm>
          <a:prstGeom prst="rect">
            <a:avLst/>
          </a:prstGeom>
          <a:noFill/>
          <a:ln/>
        </p:spPr>
        <p:txBody>
          <a:bodyPr wrap="square" lIns="0" tIns="0" rIns="0" bIns="0" rtlCol="0" anchor="ctr"/>
          <a:lstStyle/>
          <a:p>
            <a:pPr marL="0" indent="0" algn="ctr">
              <a:buNone/>
              <a:defRPr/>
            </a:pPr>
            <a:r>
              <a:rPr lang="en-US" sz="2000" b="1">
                <a:solidFill>
                  <a:srgbClr val="0D1B21"/>
                </a:solidFill>
                <a:latin typeface="Asana"/>
                <a:ea typeface="Asana"/>
                <a:cs typeface="Asana"/>
              </a:rPr>
              <a:t>VPD = e_s(T) x (1 - RH / 100)</a:t>
            </a:r>
            <a:endParaRPr sz="2000">
              <a:latin typeface="Asana"/>
              <a:cs typeface="Asana"/>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500" advClick="1">
        <p:fade thruBlk="0"/>
      </p:transition>
    </mc:Choice>
    <mc:Fallback>
      <p:transition spd="fast" advClick="1">
        <p:fade thruBlk="0"/>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1">
    <p:bg>
      <p:bgPr shadeToTitle="0">
        <a:solidFill>
          <a:srgbClr val="F4EFEA"/>
        </a:solidFill>
      </p:bgPr>
    </p:bg>
    <p:spTree>
      <p:nvGrpSpPr>
        <p:cNvPr id="1" name=""/>
        <p:cNvGrpSpPr/>
        <p:nvPr/>
      </p:nvGrpSpPr>
      <p:grpSpPr bwMode="auto">
        <a:xfrm>
          <a:off x="0" y="0"/>
          <a:ext cx="0" cy="0"/>
          <a:chOff x="0" y="0"/>
          <a:chExt cx="0" cy="0"/>
        </a:xfrm>
      </p:grpSpPr>
      <p:sp>
        <p:nvSpPr>
          <p:cNvPr id="364902019" name="Shape 0"/>
          <p:cNvSpPr/>
          <p:nvPr/>
        </p:nvSpPr>
        <p:spPr bwMode="auto">
          <a:xfrm>
            <a:off x="164592" y="164592"/>
            <a:ext cx="11859768" cy="6528816"/>
          </a:xfrm>
          <a:prstGeom prst="rect">
            <a:avLst/>
          </a:prstGeom>
          <a:solidFill>
            <a:srgbClr val="F4EFEA">
              <a:alpha val="0"/>
            </a:srgbClr>
          </a:solidFill>
          <a:ln w="10160">
            <a:solidFill>
              <a:srgbClr val="27343A"/>
            </a:solidFill>
            <a:prstDash val="solid"/>
          </a:ln>
        </p:spPr>
        <p:txBody>
          <a:bodyPr anchor="ctr"/>
          <a:p>
            <a:pPr algn="ctr">
              <a:defRPr/>
            </a:pPr>
            <a:endParaRPr>
              <a:latin typeface="Asana"/>
              <a:cs typeface="Asana"/>
            </a:endParaRPr>
          </a:p>
        </p:txBody>
      </p:sp>
      <p:sp>
        <p:nvSpPr>
          <p:cNvPr id="1570583995" name="Shape 1"/>
          <p:cNvSpPr/>
          <p:nvPr/>
        </p:nvSpPr>
        <p:spPr bwMode="auto">
          <a:xfrm>
            <a:off x="36576" y="164592"/>
            <a:ext cx="256032" cy="0"/>
          </a:xfrm>
          <a:prstGeom prst="line">
            <a:avLst/>
          </a:prstGeom>
          <a:noFill/>
          <a:ln w="9525">
            <a:solidFill>
              <a:srgbClr val="27343A"/>
            </a:solidFill>
            <a:prstDash val="solid"/>
          </a:ln>
        </p:spPr>
      </p:sp>
      <p:sp>
        <p:nvSpPr>
          <p:cNvPr id="2102646028" name="Shape 2"/>
          <p:cNvSpPr/>
          <p:nvPr/>
        </p:nvSpPr>
        <p:spPr bwMode="auto">
          <a:xfrm>
            <a:off x="164592" y="36576"/>
            <a:ext cx="0" cy="256032"/>
          </a:xfrm>
          <a:prstGeom prst="line">
            <a:avLst/>
          </a:prstGeom>
          <a:noFill/>
          <a:ln w="9525">
            <a:solidFill>
              <a:srgbClr val="27343A"/>
            </a:solidFill>
            <a:prstDash val="solid"/>
          </a:ln>
        </p:spPr>
      </p:sp>
      <p:sp>
        <p:nvSpPr>
          <p:cNvPr id="1839745843" name="Shape 3"/>
          <p:cNvSpPr/>
          <p:nvPr/>
        </p:nvSpPr>
        <p:spPr bwMode="auto">
          <a:xfrm>
            <a:off x="11896344" y="164592"/>
            <a:ext cx="256032" cy="0"/>
          </a:xfrm>
          <a:prstGeom prst="line">
            <a:avLst/>
          </a:prstGeom>
          <a:noFill/>
          <a:ln w="9525">
            <a:solidFill>
              <a:srgbClr val="27343A"/>
            </a:solidFill>
            <a:prstDash val="solid"/>
          </a:ln>
        </p:spPr>
      </p:sp>
      <p:sp>
        <p:nvSpPr>
          <p:cNvPr id="48773020" name="Shape 4"/>
          <p:cNvSpPr/>
          <p:nvPr/>
        </p:nvSpPr>
        <p:spPr bwMode="auto">
          <a:xfrm>
            <a:off x="12024360" y="36576"/>
            <a:ext cx="0" cy="256032"/>
          </a:xfrm>
          <a:prstGeom prst="line">
            <a:avLst/>
          </a:prstGeom>
          <a:noFill/>
          <a:ln w="9525">
            <a:solidFill>
              <a:srgbClr val="27343A"/>
            </a:solidFill>
            <a:prstDash val="solid"/>
          </a:ln>
        </p:spPr>
      </p:sp>
      <p:sp>
        <p:nvSpPr>
          <p:cNvPr id="579077818" name="Shape 5"/>
          <p:cNvSpPr/>
          <p:nvPr/>
        </p:nvSpPr>
        <p:spPr bwMode="auto">
          <a:xfrm>
            <a:off x="36576" y="6693408"/>
            <a:ext cx="256032" cy="0"/>
          </a:xfrm>
          <a:prstGeom prst="line">
            <a:avLst/>
          </a:prstGeom>
          <a:noFill/>
          <a:ln w="9525">
            <a:solidFill>
              <a:srgbClr val="27343A"/>
            </a:solidFill>
            <a:prstDash val="solid"/>
          </a:ln>
        </p:spPr>
      </p:sp>
      <p:sp>
        <p:nvSpPr>
          <p:cNvPr id="829254211" name="Shape 6"/>
          <p:cNvSpPr/>
          <p:nvPr/>
        </p:nvSpPr>
        <p:spPr bwMode="auto">
          <a:xfrm>
            <a:off x="164592" y="6565392"/>
            <a:ext cx="0" cy="256032"/>
          </a:xfrm>
          <a:prstGeom prst="line">
            <a:avLst/>
          </a:prstGeom>
          <a:noFill/>
          <a:ln w="9525">
            <a:solidFill>
              <a:srgbClr val="27343A"/>
            </a:solidFill>
            <a:prstDash val="solid"/>
          </a:ln>
        </p:spPr>
      </p:sp>
      <p:sp>
        <p:nvSpPr>
          <p:cNvPr id="599607473" name="Shape 7"/>
          <p:cNvSpPr/>
          <p:nvPr/>
        </p:nvSpPr>
        <p:spPr bwMode="auto">
          <a:xfrm>
            <a:off x="11896344" y="6693408"/>
            <a:ext cx="256032" cy="0"/>
          </a:xfrm>
          <a:prstGeom prst="line">
            <a:avLst/>
          </a:prstGeom>
          <a:noFill/>
          <a:ln w="9525">
            <a:solidFill>
              <a:srgbClr val="27343A"/>
            </a:solidFill>
            <a:prstDash val="solid"/>
          </a:ln>
        </p:spPr>
      </p:sp>
      <p:sp>
        <p:nvSpPr>
          <p:cNvPr id="580557635" name="Shape 8"/>
          <p:cNvSpPr/>
          <p:nvPr/>
        </p:nvSpPr>
        <p:spPr bwMode="auto">
          <a:xfrm>
            <a:off x="12024360" y="6565392"/>
            <a:ext cx="0" cy="256032"/>
          </a:xfrm>
          <a:prstGeom prst="line">
            <a:avLst/>
          </a:prstGeom>
          <a:noFill/>
          <a:ln w="9525">
            <a:solidFill>
              <a:srgbClr val="27343A"/>
            </a:solidFill>
            <a:prstDash val="solid"/>
          </a:ln>
        </p:spPr>
      </p:sp>
      <p:sp>
        <p:nvSpPr>
          <p:cNvPr id="505939548" name="Text 9"/>
          <p:cNvSpPr/>
          <p:nvPr/>
        </p:nvSpPr>
        <p:spPr bwMode="auto">
          <a:xfrm>
            <a:off x="393192" y="393192"/>
            <a:ext cx="2834640" cy="109728"/>
          </a:xfrm>
          <a:prstGeom prst="rect">
            <a:avLst/>
          </a:prstGeom>
          <a:noFill/>
          <a:ln/>
        </p:spPr>
        <p:txBody>
          <a:bodyPr wrap="square" lIns="0" tIns="0" rIns="0" bIns="0" rtlCol="0" anchor="ctr"/>
          <a:lstStyle/>
          <a:p>
            <a:pPr marL="0" indent="0">
              <a:buNone/>
              <a:defRPr/>
            </a:pPr>
            <a:r>
              <a:rPr lang="en-US" sz="500">
                <a:solidFill>
                  <a:srgbClr val="6C6B65"/>
                </a:solidFill>
                <a:latin typeface="Asana"/>
                <a:ea typeface="Asana"/>
                <a:cs typeface="Asana"/>
              </a:rPr>
              <a:t>WIAAS ASIA FIELD ATLAS</a:t>
            </a:r>
            <a:endParaRPr sz="500">
              <a:latin typeface="Asana"/>
              <a:cs typeface="Asana"/>
            </a:endParaRPr>
          </a:p>
        </p:txBody>
      </p:sp>
      <p:sp>
        <p:nvSpPr>
          <p:cNvPr id="1820008754" name="Text 10"/>
          <p:cNvSpPr/>
          <p:nvPr/>
        </p:nvSpPr>
        <p:spPr bwMode="auto">
          <a:xfrm>
            <a:off x="9418320" y="393192"/>
            <a:ext cx="2331720" cy="109728"/>
          </a:xfrm>
          <a:prstGeom prst="rect">
            <a:avLst/>
          </a:prstGeom>
          <a:noFill/>
          <a:ln/>
        </p:spPr>
        <p:txBody>
          <a:bodyPr wrap="square" lIns="0" tIns="0" rIns="0" bIns="0" rtlCol="0" anchor="ctr"/>
          <a:lstStyle/>
          <a:p>
            <a:pPr marL="0" indent="0" algn="r">
              <a:buNone/>
              <a:defRPr/>
            </a:pPr>
            <a:r>
              <a:rPr lang="en-US" sz="700" b="1">
                <a:solidFill>
                  <a:srgbClr val="6C6B65"/>
                </a:solidFill>
                <a:latin typeface="Asana"/>
                <a:ea typeface="Asana"/>
                <a:cs typeface="Asana"/>
              </a:rPr>
              <a:t>PLATE 11 - WIAAS ADVANTAGE</a:t>
            </a:r>
            <a:endParaRPr sz="700" b="1">
              <a:latin typeface="Asana"/>
              <a:cs typeface="Asana"/>
            </a:endParaRPr>
          </a:p>
        </p:txBody>
      </p:sp>
      <p:sp>
        <p:nvSpPr>
          <p:cNvPr id="662937410" name="Text 11"/>
          <p:cNvSpPr/>
          <p:nvPr/>
        </p:nvSpPr>
        <p:spPr bwMode="auto">
          <a:xfrm>
            <a:off x="393192" y="6492240"/>
            <a:ext cx="3017519" cy="109728"/>
          </a:xfrm>
          <a:prstGeom prst="rect">
            <a:avLst/>
          </a:prstGeom>
          <a:noFill/>
          <a:ln/>
        </p:spPr>
        <p:txBody>
          <a:bodyPr wrap="square" lIns="0" tIns="0" rIns="0" bIns="0" rtlCol="0" anchor="ctr"/>
          <a:lstStyle/>
          <a:p>
            <a:pPr marL="0" indent="0">
              <a:buNone/>
              <a:defRPr/>
            </a:pPr>
            <a:r>
              <a:rPr lang="en-US" sz="450">
                <a:solidFill>
                  <a:srgbClr val="6C6B65"/>
                </a:solidFill>
                <a:latin typeface="Asana"/>
                <a:ea typeface="Asana"/>
                <a:cs typeface="Asana"/>
              </a:rPr>
              <a:t>DEVELOPED WITH QODER + N8N ORCHESTRATION</a:t>
            </a:r>
            <a:endParaRPr sz="450">
              <a:latin typeface="Asana"/>
              <a:cs typeface="Asana"/>
            </a:endParaRPr>
          </a:p>
        </p:txBody>
      </p:sp>
      <p:sp>
        <p:nvSpPr>
          <p:cNvPr id="295048397" name="Text 12"/>
          <p:cNvSpPr/>
          <p:nvPr/>
        </p:nvSpPr>
        <p:spPr bwMode="auto">
          <a:xfrm>
            <a:off x="11411712" y="6492240"/>
            <a:ext cx="329184" cy="109728"/>
          </a:xfrm>
          <a:prstGeom prst="rect">
            <a:avLst/>
          </a:prstGeom>
          <a:noFill/>
          <a:ln/>
        </p:spPr>
        <p:txBody>
          <a:bodyPr wrap="square" lIns="0" tIns="0" rIns="0" bIns="0" rtlCol="0" anchor="ctr"/>
          <a:lstStyle/>
          <a:p>
            <a:pPr marL="0" indent="0" algn="r">
              <a:buNone/>
              <a:defRPr/>
            </a:pPr>
            <a:r>
              <a:rPr lang="en-US" sz="450">
                <a:solidFill>
                  <a:srgbClr val="6C6B65"/>
                </a:solidFill>
                <a:latin typeface="Asana"/>
                <a:ea typeface="Asana"/>
                <a:cs typeface="Asana"/>
              </a:rPr>
              <a:t>11 / 12</a:t>
            </a:r>
            <a:endParaRPr sz="450">
              <a:latin typeface="Asana"/>
              <a:cs typeface="Asana"/>
            </a:endParaRPr>
          </a:p>
        </p:txBody>
      </p:sp>
      <p:sp>
        <p:nvSpPr>
          <p:cNvPr id="1981027894" name="Shape 13"/>
          <p:cNvSpPr/>
          <p:nvPr/>
        </p:nvSpPr>
        <p:spPr bwMode="auto">
          <a:xfrm>
            <a:off x="530352" y="914400"/>
            <a:ext cx="365760" cy="0"/>
          </a:xfrm>
          <a:prstGeom prst="line">
            <a:avLst/>
          </a:prstGeom>
          <a:noFill/>
          <a:ln w="16510">
            <a:solidFill>
              <a:srgbClr val="B4533B"/>
            </a:solidFill>
            <a:prstDash val="solid"/>
          </a:ln>
        </p:spPr>
      </p:sp>
      <p:sp>
        <p:nvSpPr>
          <p:cNvPr id="441052511" name="Text 14"/>
          <p:cNvSpPr/>
          <p:nvPr/>
        </p:nvSpPr>
        <p:spPr bwMode="auto">
          <a:xfrm>
            <a:off x="1060704" y="850392"/>
            <a:ext cx="1828800" cy="146304"/>
          </a:xfrm>
          <a:prstGeom prst="rect">
            <a:avLst/>
          </a:prstGeom>
          <a:noFill/>
          <a:ln/>
        </p:spPr>
        <p:txBody>
          <a:bodyPr wrap="square" lIns="0" tIns="0" rIns="0" bIns="0" rtlCol="0" anchor="ctr"/>
          <a:lstStyle/>
          <a:p>
            <a:pPr marL="0" indent="0">
              <a:buNone/>
              <a:defRPr/>
            </a:pPr>
            <a:r>
              <a:rPr lang="en-US" sz="550">
                <a:solidFill>
                  <a:srgbClr val="B4533B"/>
                </a:solidFill>
                <a:latin typeface="Asana"/>
                <a:ea typeface="Asana"/>
                <a:cs typeface="Asana"/>
              </a:rPr>
              <a:t>DIFFERENTIATION</a:t>
            </a:r>
            <a:endParaRPr sz="550">
              <a:latin typeface="Asana"/>
              <a:cs typeface="Asana"/>
            </a:endParaRPr>
          </a:p>
        </p:txBody>
      </p:sp>
      <p:sp>
        <p:nvSpPr>
          <p:cNvPr id="1347300172" name="Text 15"/>
          <p:cNvSpPr/>
          <p:nvPr/>
        </p:nvSpPr>
        <p:spPr bwMode="auto">
          <a:xfrm>
            <a:off x="530352" y="1115568"/>
            <a:ext cx="9875520" cy="384048"/>
          </a:xfrm>
          <a:prstGeom prst="rect">
            <a:avLst/>
          </a:prstGeom>
          <a:noFill/>
          <a:ln/>
        </p:spPr>
        <p:txBody>
          <a:bodyPr wrap="square" lIns="0" tIns="0" rIns="0" bIns="0" rtlCol="0" anchor="ctr"/>
          <a:lstStyle/>
          <a:p>
            <a:pPr marL="0" indent="0">
              <a:buNone/>
              <a:defRPr/>
            </a:pPr>
            <a:r>
              <a:rPr lang="en-US" sz="2800" b="1">
                <a:solidFill>
                  <a:srgbClr val="0D1B21"/>
                </a:solidFill>
                <a:latin typeface="Asana"/>
                <a:ea typeface="Asana"/>
                <a:cs typeface="Asana"/>
              </a:rPr>
              <a:t>Why this is stronger than another weather dashboard</a:t>
            </a:r>
            <a:endParaRPr sz="2800">
              <a:latin typeface="Asana"/>
              <a:cs typeface="Asana"/>
            </a:endParaRPr>
          </a:p>
        </p:txBody>
      </p:sp>
      <p:sp>
        <p:nvSpPr>
          <p:cNvPr id="1538765635" name="Text 16"/>
          <p:cNvSpPr/>
          <p:nvPr/>
        </p:nvSpPr>
        <p:spPr bwMode="auto">
          <a:xfrm>
            <a:off x="530352" y="1645920"/>
            <a:ext cx="9601200" cy="256032"/>
          </a:xfrm>
          <a:prstGeom prst="rect">
            <a:avLst/>
          </a:prstGeom>
          <a:noFill/>
          <a:ln/>
        </p:spPr>
        <p:txBody>
          <a:bodyPr wrap="square" lIns="0" tIns="0" rIns="0" bIns="0" rtlCol="0" anchor="ctr"/>
          <a:lstStyle/>
          <a:p>
            <a:pPr marL="0" indent="0">
              <a:buNone/>
              <a:defRPr/>
            </a:pPr>
            <a:r>
              <a:rPr lang="en-US" sz="1100">
                <a:solidFill>
                  <a:srgbClr val="0D1B21"/>
                </a:solidFill>
                <a:latin typeface="Asana"/>
                <a:ea typeface="Asana"/>
                <a:cs typeface="Asana"/>
              </a:rPr>
              <a:t>WIaaS Asia turns observation into bounded decisions, with the backend and workflows sharing responsibility.</a:t>
            </a:r>
            <a:endParaRPr sz="1100">
              <a:latin typeface="Asana"/>
              <a:cs typeface="Asana"/>
            </a:endParaRPr>
          </a:p>
        </p:txBody>
      </p:sp>
      <p:sp>
        <p:nvSpPr>
          <p:cNvPr id="462605847" name="Shape 17"/>
          <p:cNvSpPr/>
          <p:nvPr/>
        </p:nvSpPr>
        <p:spPr bwMode="auto">
          <a:xfrm>
            <a:off x="713232" y="2103120"/>
            <a:ext cx="5138928" cy="3063240"/>
          </a:xfrm>
          <a:prstGeom prst="rect">
            <a:avLst/>
          </a:prstGeom>
          <a:solidFill>
            <a:srgbClr val="EFE7D5"/>
          </a:solidFill>
          <a:ln w="10160">
            <a:solidFill>
              <a:srgbClr val="A9A193"/>
            </a:solidFill>
            <a:prstDash val="solid"/>
          </a:ln>
        </p:spPr>
        <p:txBody>
          <a:bodyPr anchor="ctr"/>
          <a:p>
            <a:pPr algn="ctr">
              <a:defRPr/>
            </a:pPr>
            <a:endParaRPr>
              <a:latin typeface="Asana"/>
              <a:cs typeface="Asana"/>
            </a:endParaRPr>
          </a:p>
        </p:txBody>
      </p:sp>
      <p:sp>
        <p:nvSpPr>
          <p:cNvPr id="1291192293" name="Shape 18"/>
          <p:cNvSpPr/>
          <p:nvPr/>
        </p:nvSpPr>
        <p:spPr bwMode="auto">
          <a:xfrm>
            <a:off x="960120" y="2560320"/>
            <a:ext cx="438912" cy="0"/>
          </a:xfrm>
          <a:prstGeom prst="line">
            <a:avLst/>
          </a:prstGeom>
          <a:noFill/>
          <a:ln w="19050">
            <a:solidFill>
              <a:srgbClr val="108A98"/>
            </a:solidFill>
            <a:prstDash val="solid"/>
          </a:ln>
        </p:spPr>
      </p:sp>
      <p:sp>
        <p:nvSpPr>
          <p:cNvPr id="1327749111" name="Text 19"/>
          <p:cNvSpPr/>
          <p:nvPr/>
        </p:nvSpPr>
        <p:spPr bwMode="auto">
          <a:xfrm>
            <a:off x="960120" y="2697480"/>
            <a:ext cx="2468880" cy="164592"/>
          </a:xfrm>
          <a:prstGeom prst="rect">
            <a:avLst/>
          </a:prstGeom>
          <a:noFill/>
          <a:ln/>
        </p:spPr>
        <p:txBody>
          <a:bodyPr wrap="square" lIns="0" tIns="0" rIns="0" bIns="0" rtlCol="0" anchor="ctr"/>
          <a:lstStyle/>
          <a:p>
            <a:pPr marL="0" indent="0">
              <a:buNone/>
              <a:defRPr/>
            </a:pPr>
            <a:r>
              <a:rPr lang="en-US" sz="1350" b="1">
                <a:solidFill>
                  <a:srgbClr val="0D1B21"/>
                </a:solidFill>
                <a:latin typeface="Asana"/>
                <a:ea typeface="Asana"/>
                <a:cs typeface="Asana"/>
              </a:rPr>
              <a:t>Platform advantage</a:t>
            </a:r>
            <a:endParaRPr sz="1350">
              <a:latin typeface="Asana"/>
              <a:cs typeface="Asana"/>
            </a:endParaRPr>
          </a:p>
        </p:txBody>
      </p:sp>
      <p:sp>
        <p:nvSpPr>
          <p:cNvPr id="717653225" name="Shape 20"/>
          <p:cNvSpPr/>
          <p:nvPr/>
        </p:nvSpPr>
        <p:spPr bwMode="auto">
          <a:xfrm>
            <a:off x="960120" y="2990088"/>
            <a:ext cx="118872" cy="0"/>
          </a:xfrm>
          <a:prstGeom prst="line">
            <a:avLst/>
          </a:prstGeom>
          <a:noFill/>
          <a:ln w="13970">
            <a:solidFill>
              <a:srgbClr val="108A98"/>
            </a:solidFill>
            <a:prstDash val="solid"/>
          </a:ln>
        </p:spPr>
      </p:sp>
      <p:sp>
        <p:nvSpPr>
          <p:cNvPr id="971719504" name="Text 21"/>
          <p:cNvSpPr/>
          <p:nvPr/>
        </p:nvSpPr>
        <p:spPr bwMode="auto">
          <a:xfrm>
            <a:off x="1161288" y="2907792"/>
            <a:ext cx="4096512" cy="283464"/>
          </a:xfrm>
          <a:prstGeom prst="rect">
            <a:avLst/>
          </a:prstGeom>
          <a:noFill/>
          <a:ln/>
        </p:spPr>
        <p:txBody>
          <a:bodyPr wrap="square" lIns="0" tIns="0" rIns="0" bIns="0" rtlCol="0" anchor="ctr">
            <a:normAutofit/>
          </a:bodyPr>
          <a:lstStyle/>
          <a:p>
            <a:pPr marL="0" indent="0">
              <a:buNone/>
              <a:defRPr/>
            </a:pPr>
            <a:r>
              <a:rPr lang="en-US" sz="900">
                <a:solidFill>
                  <a:srgbClr val="0D1B21"/>
                </a:solidFill>
                <a:latin typeface="Asana"/>
                <a:ea typeface="Asana"/>
                <a:cs typeface="Asana"/>
              </a:rPr>
              <a:t>Not only forecast viewing: it produces role-specific action for real work.</a:t>
            </a:r>
            <a:endParaRPr sz="900">
              <a:latin typeface="Asana"/>
              <a:cs typeface="Asana"/>
            </a:endParaRPr>
          </a:p>
        </p:txBody>
      </p:sp>
      <p:sp>
        <p:nvSpPr>
          <p:cNvPr id="75282278" name="Shape 22"/>
          <p:cNvSpPr/>
          <p:nvPr/>
        </p:nvSpPr>
        <p:spPr bwMode="auto">
          <a:xfrm>
            <a:off x="960120" y="3383280"/>
            <a:ext cx="118872" cy="0"/>
          </a:xfrm>
          <a:prstGeom prst="line">
            <a:avLst/>
          </a:prstGeom>
          <a:noFill/>
          <a:ln w="13970">
            <a:solidFill>
              <a:srgbClr val="108A98"/>
            </a:solidFill>
            <a:prstDash val="solid"/>
          </a:ln>
        </p:spPr>
      </p:sp>
      <p:sp>
        <p:nvSpPr>
          <p:cNvPr id="722753" name="Text 23"/>
          <p:cNvSpPr/>
          <p:nvPr/>
        </p:nvSpPr>
        <p:spPr bwMode="auto">
          <a:xfrm>
            <a:off x="1161288" y="3300984"/>
            <a:ext cx="4096512" cy="283464"/>
          </a:xfrm>
          <a:prstGeom prst="rect">
            <a:avLst/>
          </a:prstGeom>
          <a:noFill/>
          <a:ln/>
        </p:spPr>
        <p:txBody>
          <a:bodyPr wrap="square" lIns="0" tIns="0" rIns="0" bIns="0" rtlCol="0" anchor="ctr">
            <a:normAutofit/>
          </a:bodyPr>
          <a:lstStyle/>
          <a:p>
            <a:pPr marL="0" indent="0">
              <a:buNone/>
              <a:defRPr/>
            </a:pPr>
            <a:r>
              <a:rPr lang="en-US" sz="900">
                <a:solidFill>
                  <a:srgbClr val="0D1B21"/>
                </a:solidFill>
                <a:latin typeface="Asana"/>
                <a:ea typeface="Asana"/>
                <a:cs typeface="Asana"/>
              </a:rPr>
              <a:t>Asia-specific context travels with the region: country, city, timezone and coordinates.</a:t>
            </a:r>
            <a:endParaRPr sz="900">
              <a:latin typeface="Asana"/>
              <a:cs typeface="Asana"/>
            </a:endParaRPr>
          </a:p>
        </p:txBody>
      </p:sp>
      <p:sp>
        <p:nvSpPr>
          <p:cNvPr id="264185815" name="Shape 24"/>
          <p:cNvSpPr/>
          <p:nvPr/>
        </p:nvSpPr>
        <p:spPr bwMode="auto">
          <a:xfrm>
            <a:off x="960120" y="3776472"/>
            <a:ext cx="118872" cy="0"/>
          </a:xfrm>
          <a:prstGeom prst="line">
            <a:avLst/>
          </a:prstGeom>
          <a:noFill/>
          <a:ln w="13970">
            <a:solidFill>
              <a:srgbClr val="108A98"/>
            </a:solidFill>
            <a:prstDash val="solid"/>
          </a:ln>
        </p:spPr>
      </p:sp>
      <p:sp>
        <p:nvSpPr>
          <p:cNvPr id="1366744954" name="Text 25"/>
          <p:cNvSpPr/>
          <p:nvPr/>
        </p:nvSpPr>
        <p:spPr bwMode="auto">
          <a:xfrm>
            <a:off x="1161288" y="3694176"/>
            <a:ext cx="4096512" cy="283464"/>
          </a:xfrm>
          <a:prstGeom prst="rect">
            <a:avLst/>
          </a:prstGeom>
          <a:noFill/>
          <a:ln/>
        </p:spPr>
        <p:txBody>
          <a:bodyPr wrap="square" lIns="0" tIns="0" rIns="0" bIns="0" rtlCol="0" anchor="ctr">
            <a:normAutofit/>
          </a:bodyPr>
          <a:lstStyle/>
          <a:p>
            <a:pPr marL="0" indent="0">
              <a:buNone/>
              <a:defRPr/>
            </a:pPr>
            <a:r>
              <a:rPr lang="en-US" sz="900">
                <a:solidFill>
                  <a:srgbClr val="0D1B21"/>
                </a:solidFill>
                <a:latin typeface="Asana"/>
                <a:ea typeface="Asana"/>
                <a:cs typeface="Asana"/>
              </a:rPr>
              <a:t>Physics values are calculated before prose, so answers can be traced back to metrics.</a:t>
            </a:r>
            <a:endParaRPr sz="900">
              <a:latin typeface="Asana"/>
              <a:cs typeface="Asana"/>
            </a:endParaRPr>
          </a:p>
        </p:txBody>
      </p:sp>
      <p:sp>
        <p:nvSpPr>
          <p:cNvPr id="179465397" name="Shape 26"/>
          <p:cNvSpPr/>
          <p:nvPr/>
        </p:nvSpPr>
        <p:spPr bwMode="auto">
          <a:xfrm>
            <a:off x="960120" y="4169664"/>
            <a:ext cx="118872" cy="0"/>
          </a:xfrm>
          <a:prstGeom prst="line">
            <a:avLst/>
          </a:prstGeom>
          <a:noFill/>
          <a:ln w="13970">
            <a:solidFill>
              <a:srgbClr val="108A98"/>
            </a:solidFill>
            <a:prstDash val="solid"/>
          </a:ln>
        </p:spPr>
      </p:sp>
      <p:sp>
        <p:nvSpPr>
          <p:cNvPr id="1201840862" name="Text 27"/>
          <p:cNvSpPr/>
          <p:nvPr/>
        </p:nvSpPr>
        <p:spPr bwMode="auto">
          <a:xfrm>
            <a:off x="1161288" y="4087368"/>
            <a:ext cx="4096512" cy="283464"/>
          </a:xfrm>
          <a:prstGeom prst="rect">
            <a:avLst/>
          </a:prstGeom>
          <a:noFill/>
          <a:ln/>
        </p:spPr>
        <p:txBody>
          <a:bodyPr wrap="square" lIns="0" tIns="0" rIns="0" bIns="0" rtlCol="0" anchor="ctr">
            <a:normAutofit/>
          </a:bodyPr>
          <a:lstStyle/>
          <a:p>
            <a:pPr marL="0" indent="0">
              <a:buNone/>
              <a:defRPr/>
            </a:pPr>
            <a:r>
              <a:rPr lang="en-US" sz="900">
                <a:solidFill>
                  <a:srgbClr val="0D1B21"/>
                </a:solidFill>
                <a:latin typeface="Asana"/>
                <a:ea typeface="Asana"/>
                <a:cs typeface="Asana"/>
              </a:rPr>
              <a:t>Same state feeds both routine operations and emergency intelligence.</a:t>
            </a:r>
            <a:endParaRPr sz="900">
              <a:latin typeface="Asana"/>
              <a:cs typeface="Asana"/>
            </a:endParaRPr>
          </a:p>
        </p:txBody>
      </p:sp>
      <p:sp>
        <p:nvSpPr>
          <p:cNvPr id="648197203" name="Shape 28"/>
          <p:cNvSpPr/>
          <p:nvPr/>
        </p:nvSpPr>
        <p:spPr bwMode="auto">
          <a:xfrm>
            <a:off x="6327648" y="2103120"/>
            <a:ext cx="5138928" cy="3063240"/>
          </a:xfrm>
          <a:prstGeom prst="rect">
            <a:avLst/>
          </a:prstGeom>
          <a:solidFill>
            <a:srgbClr val="EFE7D5"/>
          </a:solidFill>
          <a:ln w="10160">
            <a:solidFill>
              <a:srgbClr val="A9A193"/>
            </a:solidFill>
            <a:prstDash val="solid"/>
          </a:ln>
        </p:spPr>
        <p:txBody>
          <a:bodyPr anchor="ctr"/>
          <a:p>
            <a:pPr algn="ctr">
              <a:defRPr/>
            </a:pPr>
            <a:endParaRPr>
              <a:latin typeface="Asana"/>
              <a:cs typeface="Asana"/>
            </a:endParaRPr>
          </a:p>
        </p:txBody>
      </p:sp>
      <p:sp>
        <p:nvSpPr>
          <p:cNvPr id="2108782463" name="Shape 29"/>
          <p:cNvSpPr/>
          <p:nvPr/>
        </p:nvSpPr>
        <p:spPr bwMode="auto">
          <a:xfrm>
            <a:off x="6565392" y="2560320"/>
            <a:ext cx="438912" cy="0"/>
          </a:xfrm>
          <a:prstGeom prst="line">
            <a:avLst/>
          </a:prstGeom>
          <a:noFill/>
          <a:ln w="19050">
            <a:solidFill>
              <a:srgbClr val="B4533B"/>
            </a:solidFill>
            <a:prstDash val="solid"/>
          </a:ln>
        </p:spPr>
      </p:sp>
      <p:sp>
        <p:nvSpPr>
          <p:cNvPr id="1941510080" name="Text 30"/>
          <p:cNvSpPr/>
          <p:nvPr/>
        </p:nvSpPr>
        <p:spPr bwMode="auto">
          <a:xfrm>
            <a:off x="6565392" y="2697480"/>
            <a:ext cx="2468880" cy="164592"/>
          </a:xfrm>
          <a:prstGeom prst="rect">
            <a:avLst/>
          </a:prstGeom>
          <a:noFill/>
          <a:ln/>
        </p:spPr>
        <p:txBody>
          <a:bodyPr wrap="square" lIns="0" tIns="0" rIns="0" bIns="0" rtlCol="0" anchor="ctr"/>
          <a:lstStyle/>
          <a:p>
            <a:pPr marL="0" indent="0">
              <a:buNone/>
              <a:defRPr/>
            </a:pPr>
            <a:r>
              <a:rPr lang="en-US" sz="1350" b="1">
                <a:solidFill>
                  <a:srgbClr val="0D1B21"/>
                </a:solidFill>
                <a:latin typeface="Asana"/>
                <a:ea typeface="Asana"/>
                <a:cs typeface="Asana"/>
              </a:rPr>
              <a:t>Workflow advantage</a:t>
            </a:r>
            <a:endParaRPr sz="1350">
              <a:latin typeface="Asana"/>
              <a:cs typeface="Asana"/>
            </a:endParaRPr>
          </a:p>
        </p:txBody>
      </p:sp>
      <p:sp>
        <p:nvSpPr>
          <p:cNvPr id="2064628463" name="Shape 31"/>
          <p:cNvSpPr/>
          <p:nvPr/>
        </p:nvSpPr>
        <p:spPr bwMode="auto">
          <a:xfrm>
            <a:off x="6565392" y="2990088"/>
            <a:ext cx="118872" cy="0"/>
          </a:xfrm>
          <a:prstGeom prst="line">
            <a:avLst/>
          </a:prstGeom>
          <a:noFill/>
          <a:ln w="13970">
            <a:solidFill>
              <a:srgbClr val="B4533B"/>
            </a:solidFill>
            <a:prstDash val="solid"/>
          </a:ln>
        </p:spPr>
      </p:sp>
      <p:sp>
        <p:nvSpPr>
          <p:cNvPr id="887600249" name="Text 32"/>
          <p:cNvSpPr/>
          <p:nvPr/>
        </p:nvSpPr>
        <p:spPr bwMode="auto">
          <a:xfrm>
            <a:off x="6766560" y="2907792"/>
            <a:ext cx="4096512" cy="283464"/>
          </a:xfrm>
          <a:prstGeom prst="rect">
            <a:avLst/>
          </a:prstGeom>
          <a:noFill/>
          <a:ln/>
        </p:spPr>
        <p:txBody>
          <a:bodyPr wrap="square" lIns="0" tIns="0" rIns="0" bIns="0" rtlCol="0" anchor="ctr">
            <a:normAutofit/>
          </a:bodyPr>
          <a:lstStyle/>
          <a:p>
            <a:pPr marL="0" indent="0">
              <a:buNone/>
              <a:defRPr/>
            </a:pPr>
            <a:r>
              <a:rPr lang="en-US" sz="900">
                <a:solidFill>
                  <a:srgbClr val="0D1B21"/>
                </a:solidFill>
                <a:latin typeface="Asana"/>
                <a:ea typeface="Asana"/>
                <a:cs typeface="Asana"/>
              </a:rPr>
              <a:t>A direct metric can stay on the fast path instead of calling every specialist.</a:t>
            </a:r>
            <a:endParaRPr sz="900">
              <a:latin typeface="Asana"/>
              <a:cs typeface="Asana"/>
            </a:endParaRPr>
          </a:p>
        </p:txBody>
      </p:sp>
      <p:sp>
        <p:nvSpPr>
          <p:cNvPr id="575600550" name="Shape 33"/>
          <p:cNvSpPr/>
          <p:nvPr/>
        </p:nvSpPr>
        <p:spPr bwMode="auto">
          <a:xfrm>
            <a:off x="6565392" y="3383280"/>
            <a:ext cx="118872" cy="0"/>
          </a:xfrm>
          <a:prstGeom prst="line">
            <a:avLst/>
          </a:prstGeom>
          <a:noFill/>
          <a:ln w="13970">
            <a:solidFill>
              <a:srgbClr val="B4533B"/>
            </a:solidFill>
            <a:prstDash val="solid"/>
          </a:ln>
        </p:spPr>
      </p:sp>
      <p:sp>
        <p:nvSpPr>
          <p:cNvPr id="917351657" name="Text 34"/>
          <p:cNvSpPr/>
          <p:nvPr/>
        </p:nvSpPr>
        <p:spPr bwMode="auto">
          <a:xfrm>
            <a:off x="6766560" y="3300984"/>
            <a:ext cx="4096512" cy="283464"/>
          </a:xfrm>
          <a:prstGeom prst="rect">
            <a:avLst/>
          </a:prstGeom>
          <a:noFill/>
          <a:ln/>
        </p:spPr>
        <p:txBody>
          <a:bodyPr wrap="square" lIns="0" tIns="0" rIns="0" bIns="0" rtlCol="0" anchor="ctr">
            <a:normAutofit/>
          </a:bodyPr>
          <a:lstStyle/>
          <a:p>
            <a:pPr marL="0" indent="0">
              <a:buNone/>
              <a:defRPr/>
            </a:pPr>
            <a:r>
              <a:rPr lang="en-US" sz="900">
                <a:solidFill>
                  <a:srgbClr val="0D1B21"/>
                </a:solidFill>
                <a:latin typeface="Asana"/>
                <a:ea typeface="Asana"/>
                <a:cs typeface="Asana"/>
              </a:rPr>
              <a:t>Specialist branches receive only the fields needed for their job.</a:t>
            </a:r>
            <a:endParaRPr sz="900">
              <a:latin typeface="Asana"/>
              <a:cs typeface="Asana"/>
            </a:endParaRPr>
          </a:p>
        </p:txBody>
      </p:sp>
      <p:sp>
        <p:nvSpPr>
          <p:cNvPr id="1467106960" name="Shape 35"/>
          <p:cNvSpPr/>
          <p:nvPr/>
        </p:nvSpPr>
        <p:spPr bwMode="auto">
          <a:xfrm>
            <a:off x="6565392" y="3776472"/>
            <a:ext cx="118872" cy="0"/>
          </a:xfrm>
          <a:prstGeom prst="line">
            <a:avLst/>
          </a:prstGeom>
          <a:noFill/>
          <a:ln w="13970">
            <a:solidFill>
              <a:srgbClr val="B4533B"/>
            </a:solidFill>
            <a:prstDash val="solid"/>
          </a:ln>
        </p:spPr>
      </p:sp>
      <p:sp>
        <p:nvSpPr>
          <p:cNvPr id="1440448394" name="Text 36"/>
          <p:cNvSpPr/>
          <p:nvPr/>
        </p:nvSpPr>
        <p:spPr bwMode="auto">
          <a:xfrm>
            <a:off x="6766560" y="3694176"/>
            <a:ext cx="4096512" cy="283464"/>
          </a:xfrm>
          <a:prstGeom prst="rect">
            <a:avLst/>
          </a:prstGeom>
          <a:noFill/>
          <a:ln/>
        </p:spPr>
        <p:txBody>
          <a:bodyPr wrap="square" lIns="0" tIns="0" rIns="0" bIns="0" rtlCol="0" anchor="ctr">
            <a:normAutofit/>
          </a:bodyPr>
          <a:lstStyle/>
          <a:p>
            <a:pPr marL="0" indent="0">
              <a:buNone/>
              <a:defRPr/>
            </a:pPr>
            <a:r>
              <a:rPr lang="en-US" sz="900">
                <a:solidFill>
                  <a:srgbClr val="0D1B21"/>
                </a:solidFill>
                <a:latin typeface="Asana"/>
                <a:ea typeface="Asana"/>
                <a:cs typeface="Asana"/>
              </a:rPr>
              <a:t>Memory and cached follow-ups reduce repeated API/model work in the same session.</a:t>
            </a:r>
            <a:endParaRPr sz="900">
              <a:latin typeface="Asana"/>
              <a:cs typeface="Asana"/>
            </a:endParaRPr>
          </a:p>
        </p:txBody>
      </p:sp>
      <p:sp>
        <p:nvSpPr>
          <p:cNvPr id="1912082773" name="Shape 37"/>
          <p:cNvSpPr/>
          <p:nvPr/>
        </p:nvSpPr>
        <p:spPr bwMode="auto">
          <a:xfrm>
            <a:off x="6565392" y="4169664"/>
            <a:ext cx="118872" cy="0"/>
          </a:xfrm>
          <a:prstGeom prst="line">
            <a:avLst/>
          </a:prstGeom>
          <a:noFill/>
          <a:ln w="13970">
            <a:solidFill>
              <a:srgbClr val="B4533B"/>
            </a:solidFill>
            <a:prstDash val="solid"/>
          </a:ln>
        </p:spPr>
      </p:sp>
      <p:sp>
        <p:nvSpPr>
          <p:cNvPr id="1216732437" name="Text 38"/>
          <p:cNvSpPr/>
          <p:nvPr/>
        </p:nvSpPr>
        <p:spPr bwMode="auto">
          <a:xfrm>
            <a:off x="6766560" y="4087368"/>
            <a:ext cx="4096512" cy="283464"/>
          </a:xfrm>
          <a:prstGeom prst="rect">
            <a:avLst/>
          </a:prstGeom>
          <a:noFill/>
          <a:ln/>
        </p:spPr>
        <p:txBody>
          <a:bodyPr wrap="square" lIns="0" tIns="0" rIns="0" bIns="0" rtlCol="0" anchor="ctr">
            <a:normAutofit/>
          </a:bodyPr>
          <a:lstStyle/>
          <a:p>
            <a:pPr marL="0" indent="0">
              <a:buNone/>
              <a:defRPr/>
            </a:pPr>
            <a:r>
              <a:rPr lang="en-US" sz="900">
                <a:solidFill>
                  <a:srgbClr val="0D1B21"/>
                </a:solidFill>
                <a:latin typeface="Asana"/>
                <a:ea typeface="Asana"/>
                <a:cs typeface="Asana"/>
              </a:rPr>
              <a:t>No-invention fallback keeps missing evidence visible instead of hiding it.</a:t>
            </a:r>
            <a:endParaRPr sz="900">
              <a:latin typeface="Asana"/>
              <a:cs typeface="Asana"/>
            </a:endParaRPr>
          </a:p>
        </p:txBody>
      </p:sp>
      <p:sp>
        <p:nvSpPr>
          <p:cNvPr id="631072834" name="Shape 39"/>
          <p:cNvSpPr/>
          <p:nvPr/>
        </p:nvSpPr>
        <p:spPr bwMode="auto">
          <a:xfrm>
            <a:off x="1920240" y="5532120"/>
            <a:ext cx="8275320" cy="420624"/>
          </a:xfrm>
          <a:prstGeom prst="rect">
            <a:avLst/>
          </a:prstGeom>
          <a:solidFill>
            <a:srgbClr val="E8DFC9"/>
          </a:solidFill>
          <a:ln w="10160">
            <a:solidFill>
              <a:srgbClr val="A9A193"/>
            </a:solidFill>
            <a:prstDash val="solid"/>
          </a:ln>
        </p:spPr>
        <p:txBody>
          <a:bodyPr anchor="ctr"/>
          <a:p>
            <a:pPr algn="ctr">
              <a:defRPr/>
            </a:pPr>
            <a:endParaRPr>
              <a:latin typeface="Asana"/>
              <a:cs typeface="Asana"/>
            </a:endParaRPr>
          </a:p>
        </p:txBody>
      </p:sp>
      <p:sp>
        <p:nvSpPr>
          <p:cNvPr id="1890988741" name="Text 40"/>
          <p:cNvSpPr/>
          <p:nvPr/>
        </p:nvSpPr>
        <p:spPr bwMode="auto">
          <a:xfrm>
            <a:off x="2148840" y="5660136"/>
            <a:ext cx="1234440" cy="91440"/>
          </a:xfrm>
          <a:prstGeom prst="rect">
            <a:avLst/>
          </a:prstGeom>
          <a:noFill/>
          <a:ln/>
        </p:spPr>
        <p:txBody>
          <a:bodyPr wrap="square" lIns="0" tIns="0" rIns="0" bIns="0" rtlCol="0" anchor="ctr"/>
          <a:lstStyle/>
          <a:p>
            <a:pPr marL="0" indent="0">
              <a:buNone/>
              <a:defRPr/>
            </a:pPr>
            <a:r>
              <a:rPr lang="en-US" sz="600" b="1">
                <a:solidFill>
                  <a:srgbClr val="C28722"/>
                </a:solidFill>
                <a:latin typeface="Asana"/>
                <a:ea typeface="Asana"/>
                <a:cs typeface="Asana"/>
              </a:rPr>
              <a:t>DECISION PRINCIPLE</a:t>
            </a:r>
            <a:endParaRPr sz="600" b="1">
              <a:latin typeface="Asana"/>
              <a:cs typeface="Asana"/>
            </a:endParaRPr>
          </a:p>
        </p:txBody>
      </p:sp>
      <p:sp>
        <p:nvSpPr>
          <p:cNvPr id="177373856" name="Text 41"/>
          <p:cNvSpPr/>
          <p:nvPr/>
        </p:nvSpPr>
        <p:spPr bwMode="auto">
          <a:xfrm>
            <a:off x="3520440" y="5596128"/>
            <a:ext cx="5394960" cy="137160"/>
          </a:xfrm>
          <a:prstGeom prst="rect">
            <a:avLst/>
          </a:prstGeom>
          <a:noFill/>
          <a:ln/>
        </p:spPr>
        <p:txBody>
          <a:bodyPr wrap="square" lIns="0" tIns="0" rIns="0" bIns="0" rtlCol="0" anchor="ctr"/>
          <a:lstStyle/>
          <a:p>
            <a:pPr marL="0" indent="0">
              <a:buNone/>
              <a:defRPr/>
            </a:pPr>
            <a:r>
              <a:rPr lang="en-US" sz="950" b="1">
                <a:solidFill>
                  <a:srgbClr val="0D1B21"/>
                </a:solidFill>
                <a:latin typeface="Asana"/>
                <a:ea typeface="Asana"/>
                <a:cs typeface="Asana"/>
              </a:rPr>
              <a:t>Weather signal -&gt; deterministic state -&gt; routed workflow -&gt; practical next step.</a:t>
            </a:r>
            <a:endParaRPr sz="950">
              <a:latin typeface="Asana"/>
              <a:cs typeface="Asana"/>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500" advClick="1">
        <p:fade thruBlk="0"/>
      </p:transition>
    </mc:Choice>
    <mc:Fallback>
      <p:transition spd="fast" advClick="1">
        <p:fade thruBlk="0"/>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Slide 12">
    <p:bg>
      <p:bgPr shadeToTitle="0">
        <a:solidFill>
          <a:srgbClr val="F4EFEA"/>
        </a:solidFill>
      </p:bgPr>
    </p:bg>
    <p:spTree>
      <p:nvGrpSpPr>
        <p:cNvPr id="1" name=""/>
        <p:cNvGrpSpPr/>
        <p:nvPr/>
      </p:nvGrpSpPr>
      <p:grpSpPr bwMode="auto">
        <a:xfrm>
          <a:off x="0" y="0"/>
          <a:ext cx="0" cy="0"/>
          <a:chOff x="0" y="0"/>
          <a:chExt cx="0" cy="0"/>
        </a:xfrm>
      </p:grpSpPr>
      <p:sp>
        <p:nvSpPr>
          <p:cNvPr id="220137687" name="Shape 0"/>
          <p:cNvSpPr/>
          <p:nvPr/>
        </p:nvSpPr>
        <p:spPr bwMode="auto">
          <a:xfrm>
            <a:off x="166115" y="146304"/>
            <a:ext cx="11859768" cy="6528816"/>
          </a:xfrm>
          <a:prstGeom prst="rect">
            <a:avLst/>
          </a:prstGeom>
          <a:solidFill>
            <a:srgbClr val="F4EFEA">
              <a:alpha val="0"/>
            </a:srgbClr>
          </a:solidFill>
          <a:ln w="10160">
            <a:solidFill>
              <a:srgbClr val="27343A"/>
            </a:solidFill>
            <a:prstDash val="solid"/>
          </a:ln>
        </p:spPr>
        <p:txBody>
          <a:bodyPr anchor="ctr"/>
          <a:p>
            <a:pPr algn="ctr">
              <a:defRPr/>
            </a:pPr>
            <a:endParaRPr>
              <a:latin typeface="Asana"/>
              <a:cs typeface="Asana"/>
            </a:endParaRPr>
          </a:p>
        </p:txBody>
      </p:sp>
      <p:sp>
        <p:nvSpPr>
          <p:cNvPr id="950005104" name="Shape 1"/>
          <p:cNvSpPr/>
          <p:nvPr/>
        </p:nvSpPr>
        <p:spPr bwMode="auto">
          <a:xfrm>
            <a:off x="36576" y="146303"/>
            <a:ext cx="256032" cy="0"/>
          </a:xfrm>
          <a:prstGeom prst="line">
            <a:avLst/>
          </a:prstGeom>
          <a:noFill/>
          <a:ln w="9525">
            <a:solidFill>
              <a:srgbClr val="27343A"/>
            </a:solidFill>
            <a:prstDash val="solid"/>
          </a:ln>
        </p:spPr>
      </p:sp>
      <p:sp>
        <p:nvSpPr>
          <p:cNvPr id="912025392" name="Shape 2"/>
          <p:cNvSpPr/>
          <p:nvPr/>
        </p:nvSpPr>
        <p:spPr bwMode="auto">
          <a:xfrm>
            <a:off x="164592" y="18287"/>
            <a:ext cx="0" cy="256032"/>
          </a:xfrm>
          <a:prstGeom prst="line">
            <a:avLst/>
          </a:prstGeom>
          <a:noFill/>
          <a:ln w="9525">
            <a:solidFill>
              <a:srgbClr val="27343A"/>
            </a:solidFill>
            <a:prstDash val="solid"/>
          </a:ln>
        </p:spPr>
      </p:sp>
      <p:sp>
        <p:nvSpPr>
          <p:cNvPr id="1130429529" name="Shape 3"/>
          <p:cNvSpPr/>
          <p:nvPr/>
        </p:nvSpPr>
        <p:spPr bwMode="auto">
          <a:xfrm>
            <a:off x="11896344" y="146303"/>
            <a:ext cx="256032" cy="0"/>
          </a:xfrm>
          <a:prstGeom prst="line">
            <a:avLst/>
          </a:prstGeom>
          <a:noFill/>
          <a:ln w="9525">
            <a:solidFill>
              <a:srgbClr val="27343A"/>
            </a:solidFill>
            <a:prstDash val="solid"/>
          </a:ln>
        </p:spPr>
      </p:sp>
      <p:sp>
        <p:nvSpPr>
          <p:cNvPr id="594269989" name="Shape 4"/>
          <p:cNvSpPr/>
          <p:nvPr/>
        </p:nvSpPr>
        <p:spPr bwMode="auto">
          <a:xfrm>
            <a:off x="12024360" y="18287"/>
            <a:ext cx="0" cy="256032"/>
          </a:xfrm>
          <a:prstGeom prst="line">
            <a:avLst/>
          </a:prstGeom>
          <a:noFill/>
          <a:ln w="9525">
            <a:solidFill>
              <a:srgbClr val="27343A"/>
            </a:solidFill>
            <a:prstDash val="solid"/>
          </a:ln>
        </p:spPr>
      </p:sp>
      <p:sp>
        <p:nvSpPr>
          <p:cNvPr id="312156369" name="Shape 5"/>
          <p:cNvSpPr/>
          <p:nvPr/>
        </p:nvSpPr>
        <p:spPr bwMode="auto">
          <a:xfrm>
            <a:off x="36576" y="6675120"/>
            <a:ext cx="256032" cy="0"/>
          </a:xfrm>
          <a:prstGeom prst="line">
            <a:avLst/>
          </a:prstGeom>
          <a:noFill/>
          <a:ln w="9525">
            <a:solidFill>
              <a:srgbClr val="27343A"/>
            </a:solidFill>
            <a:prstDash val="solid"/>
          </a:ln>
        </p:spPr>
      </p:sp>
      <p:sp>
        <p:nvSpPr>
          <p:cNvPr id="796937507" name="Shape 6"/>
          <p:cNvSpPr/>
          <p:nvPr/>
        </p:nvSpPr>
        <p:spPr bwMode="auto">
          <a:xfrm>
            <a:off x="164592" y="6547104"/>
            <a:ext cx="0" cy="256032"/>
          </a:xfrm>
          <a:prstGeom prst="line">
            <a:avLst/>
          </a:prstGeom>
          <a:noFill/>
          <a:ln w="9525">
            <a:solidFill>
              <a:srgbClr val="27343A"/>
            </a:solidFill>
            <a:prstDash val="solid"/>
          </a:ln>
        </p:spPr>
      </p:sp>
      <p:sp>
        <p:nvSpPr>
          <p:cNvPr id="17185283" name="Shape 7"/>
          <p:cNvSpPr/>
          <p:nvPr/>
        </p:nvSpPr>
        <p:spPr bwMode="auto">
          <a:xfrm>
            <a:off x="11896344" y="6675120"/>
            <a:ext cx="256032" cy="0"/>
          </a:xfrm>
          <a:prstGeom prst="line">
            <a:avLst/>
          </a:prstGeom>
          <a:noFill/>
          <a:ln w="9525">
            <a:solidFill>
              <a:srgbClr val="27343A"/>
            </a:solidFill>
            <a:prstDash val="solid"/>
          </a:ln>
        </p:spPr>
      </p:sp>
      <p:sp>
        <p:nvSpPr>
          <p:cNvPr id="2138845671" name="Shape 8"/>
          <p:cNvSpPr/>
          <p:nvPr/>
        </p:nvSpPr>
        <p:spPr bwMode="auto">
          <a:xfrm>
            <a:off x="12024360" y="6547104"/>
            <a:ext cx="0" cy="256032"/>
          </a:xfrm>
          <a:prstGeom prst="line">
            <a:avLst/>
          </a:prstGeom>
          <a:noFill/>
          <a:ln w="9525">
            <a:solidFill>
              <a:srgbClr val="27343A"/>
            </a:solidFill>
            <a:prstDash val="solid"/>
          </a:ln>
        </p:spPr>
      </p:sp>
      <p:sp>
        <p:nvSpPr>
          <p:cNvPr id="1858069885" name="Text 9"/>
          <p:cNvSpPr/>
          <p:nvPr/>
        </p:nvSpPr>
        <p:spPr bwMode="auto">
          <a:xfrm>
            <a:off x="393192" y="374903"/>
            <a:ext cx="2834640" cy="109728"/>
          </a:xfrm>
          <a:prstGeom prst="rect">
            <a:avLst/>
          </a:prstGeom>
          <a:noFill/>
          <a:ln/>
        </p:spPr>
        <p:txBody>
          <a:bodyPr wrap="square" lIns="0" tIns="0" rIns="0" bIns="0" rtlCol="0" anchor="ctr"/>
          <a:lstStyle/>
          <a:p>
            <a:pPr marL="0" indent="0">
              <a:buNone/>
              <a:defRPr/>
            </a:pPr>
            <a:r>
              <a:rPr lang="en-US" sz="500">
                <a:solidFill>
                  <a:srgbClr val="6C6B65"/>
                </a:solidFill>
                <a:latin typeface="Asana"/>
                <a:ea typeface="Asana"/>
                <a:cs typeface="Asana"/>
              </a:rPr>
              <a:t>WIAAS ASIA FIELD ATLAS</a:t>
            </a:r>
            <a:endParaRPr sz="500">
              <a:latin typeface="Asana"/>
              <a:cs typeface="Asana"/>
            </a:endParaRPr>
          </a:p>
        </p:txBody>
      </p:sp>
      <p:sp>
        <p:nvSpPr>
          <p:cNvPr id="1286977861" name="Text 10"/>
          <p:cNvSpPr/>
          <p:nvPr/>
        </p:nvSpPr>
        <p:spPr bwMode="auto">
          <a:xfrm>
            <a:off x="9418320" y="374903"/>
            <a:ext cx="2331720" cy="109728"/>
          </a:xfrm>
          <a:prstGeom prst="rect">
            <a:avLst/>
          </a:prstGeom>
          <a:noFill/>
          <a:ln/>
        </p:spPr>
        <p:txBody>
          <a:bodyPr wrap="square" lIns="0" tIns="0" rIns="0" bIns="0" rtlCol="0" anchor="ctr"/>
          <a:lstStyle/>
          <a:p>
            <a:pPr marL="0" indent="0" algn="r">
              <a:buNone/>
              <a:defRPr/>
            </a:pPr>
            <a:r>
              <a:rPr lang="en-US" sz="500">
                <a:solidFill>
                  <a:srgbClr val="6C6B65"/>
                </a:solidFill>
                <a:latin typeface="Asana"/>
                <a:ea typeface="Asana"/>
                <a:cs typeface="Asana"/>
              </a:rPr>
              <a:t>PLATE 12 - IMPACT AND </a:t>
            </a:r>
            <a:r>
              <a:rPr lang="en-US" sz="700" b="1">
                <a:solidFill>
                  <a:srgbClr val="6C6B65"/>
                </a:solidFill>
                <a:latin typeface="Asana"/>
                <a:ea typeface="Asana"/>
                <a:cs typeface="Asana"/>
              </a:rPr>
              <a:t>PRODUCTION </a:t>
            </a:r>
            <a:r>
              <a:rPr lang="en-US" sz="500">
                <a:solidFill>
                  <a:srgbClr val="6C6B65"/>
                </a:solidFill>
                <a:latin typeface="Asana"/>
                <a:ea typeface="Asana"/>
                <a:cs typeface="Asana"/>
              </a:rPr>
              <a:t>PATH</a:t>
            </a:r>
            <a:endParaRPr sz="500">
              <a:latin typeface="Asana"/>
              <a:cs typeface="Asana"/>
            </a:endParaRPr>
          </a:p>
        </p:txBody>
      </p:sp>
      <p:sp>
        <p:nvSpPr>
          <p:cNvPr id="994659417" name="Text 11"/>
          <p:cNvSpPr/>
          <p:nvPr/>
        </p:nvSpPr>
        <p:spPr bwMode="auto">
          <a:xfrm>
            <a:off x="393192" y="6473952"/>
            <a:ext cx="3017519" cy="109728"/>
          </a:xfrm>
          <a:prstGeom prst="rect">
            <a:avLst/>
          </a:prstGeom>
          <a:noFill/>
          <a:ln/>
        </p:spPr>
        <p:txBody>
          <a:bodyPr wrap="square" lIns="0" tIns="0" rIns="0" bIns="0" rtlCol="0" anchor="ctr"/>
          <a:lstStyle/>
          <a:p>
            <a:pPr marL="0" indent="0">
              <a:buNone/>
              <a:defRPr/>
            </a:pPr>
            <a:r>
              <a:rPr lang="en-US" sz="450">
                <a:solidFill>
                  <a:srgbClr val="6C6B65"/>
                </a:solidFill>
                <a:latin typeface="Asana"/>
                <a:ea typeface="Asana"/>
                <a:cs typeface="Asana"/>
              </a:rPr>
              <a:t>DEVELOPED WITH QODER + N8N ORCHESTRATION</a:t>
            </a:r>
            <a:endParaRPr sz="450">
              <a:latin typeface="Asana"/>
              <a:cs typeface="Asana"/>
            </a:endParaRPr>
          </a:p>
        </p:txBody>
      </p:sp>
      <p:sp>
        <p:nvSpPr>
          <p:cNvPr id="1728211435" name="Text 12"/>
          <p:cNvSpPr/>
          <p:nvPr/>
        </p:nvSpPr>
        <p:spPr bwMode="auto">
          <a:xfrm>
            <a:off x="11411712" y="6473952"/>
            <a:ext cx="329184" cy="109728"/>
          </a:xfrm>
          <a:prstGeom prst="rect">
            <a:avLst/>
          </a:prstGeom>
          <a:noFill/>
          <a:ln/>
        </p:spPr>
        <p:txBody>
          <a:bodyPr wrap="square" lIns="0" tIns="0" rIns="0" bIns="0" rtlCol="0" anchor="ctr"/>
          <a:lstStyle/>
          <a:p>
            <a:pPr marL="0" indent="0" algn="r">
              <a:buNone/>
              <a:defRPr/>
            </a:pPr>
            <a:r>
              <a:rPr lang="en-US" sz="450">
                <a:solidFill>
                  <a:srgbClr val="6C6B65"/>
                </a:solidFill>
                <a:latin typeface="Asana"/>
                <a:ea typeface="Asana"/>
                <a:cs typeface="Asana"/>
              </a:rPr>
              <a:t>12 / 12</a:t>
            </a:r>
            <a:endParaRPr sz="450">
              <a:latin typeface="Asana"/>
              <a:cs typeface="Asana"/>
            </a:endParaRPr>
          </a:p>
        </p:txBody>
      </p:sp>
      <p:sp>
        <p:nvSpPr>
          <p:cNvPr id="478596649" name="Shape 13"/>
          <p:cNvSpPr/>
          <p:nvPr/>
        </p:nvSpPr>
        <p:spPr bwMode="auto">
          <a:xfrm>
            <a:off x="530352" y="896111"/>
            <a:ext cx="365760" cy="0"/>
          </a:xfrm>
          <a:prstGeom prst="line">
            <a:avLst/>
          </a:prstGeom>
          <a:noFill/>
          <a:ln w="16510">
            <a:solidFill>
              <a:srgbClr val="B4533B"/>
            </a:solidFill>
            <a:prstDash val="solid"/>
          </a:ln>
        </p:spPr>
      </p:sp>
      <p:sp>
        <p:nvSpPr>
          <p:cNvPr id="580977213" name="Text 14"/>
          <p:cNvSpPr/>
          <p:nvPr/>
        </p:nvSpPr>
        <p:spPr bwMode="auto">
          <a:xfrm>
            <a:off x="1060704" y="832103"/>
            <a:ext cx="1828800" cy="146304"/>
          </a:xfrm>
          <a:prstGeom prst="rect">
            <a:avLst/>
          </a:prstGeom>
          <a:noFill/>
          <a:ln/>
        </p:spPr>
        <p:txBody>
          <a:bodyPr wrap="square" lIns="0" tIns="0" rIns="0" bIns="0" rtlCol="0" anchor="ctr"/>
          <a:lstStyle/>
          <a:p>
            <a:pPr marL="0" indent="0">
              <a:buNone/>
              <a:defRPr/>
            </a:pPr>
            <a:r>
              <a:rPr lang="en-US" sz="550">
                <a:solidFill>
                  <a:srgbClr val="B4533B"/>
                </a:solidFill>
                <a:latin typeface="Asana"/>
                <a:ea typeface="Asana"/>
                <a:cs typeface="Asana"/>
              </a:rPr>
              <a:t>FINAL FIELD NOTE</a:t>
            </a:r>
            <a:endParaRPr sz="550">
              <a:latin typeface="Asana"/>
              <a:cs typeface="Asana"/>
            </a:endParaRPr>
          </a:p>
        </p:txBody>
      </p:sp>
      <p:sp>
        <p:nvSpPr>
          <p:cNvPr id="343904101" name="Text 15"/>
          <p:cNvSpPr/>
          <p:nvPr/>
        </p:nvSpPr>
        <p:spPr bwMode="auto">
          <a:xfrm>
            <a:off x="530352" y="1097279"/>
            <a:ext cx="9875520" cy="384048"/>
          </a:xfrm>
          <a:prstGeom prst="rect">
            <a:avLst/>
          </a:prstGeom>
          <a:noFill/>
          <a:ln/>
        </p:spPr>
        <p:txBody>
          <a:bodyPr wrap="square" lIns="0" tIns="0" rIns="0" bIns="0" rtlCol="0" anchor="ctr"/>
          <a:lstStyle/>
          <a:p>
            <a:pPr marL="0" indent="0">
              <a:buNone/>
              <a:defRPr/>
            </a:pPr>
            <a:r>
              <a:rPr lang="en-US" sz="2800" b="1">
                <a:solidFill>
                  <a:srgbClr val="0D1B21"/>
                </a:solidFill>
                <a:latin typeface="Asana"/>
                <a:ea typeface="Asana"/>
                <a:cs typeface="Asana"/>
              </a:rPr>
              <a:t>Weather evidence connected to a defensible next step</a:t>
            </a:r>
            <a:endParaRPr sz="2800">
              <a:latin typeface="Asana"/>
              <a:cs typeface="Asana"/>
            </a:endParaRPr>
          </a:p>
        </p:txBody>
      </p:sp>
      <p:sp>
        <p:nvSpPr>
          <p:cNvPr id="1510024766" name="Text 16"/>
          <p:cNvSpPr/>
          <p:nvPr/>
        </p:nvSpPr>
        <p:spPr bwMode="auto">
          <a:xfrm>
            <a:off x="530352" y="1627631"/>
            <a:ext cx="9601200" cy="256032"/>
          </a:xfrm>
          <a:prstGeom prst="rect">
            <a:avLst/>
          </a:prstGeom>
          <a:noFill/>
          <a:ln/>
        </p:spPr>
        <p:txBody>
          <a:bodyPr wrap="square" lIns="0" tIns="0" rIns="0" bIns="0" rtlCol="0" anchor="ctr"/>
          <a:lstStyle/>
          <a:p>
            <a:pPr marL="0" indent="0">
              <a:buNone/>
              <a:defRPr/>
            </a:pPr>
            <a:r>
              <a:rPr lang="en-US" sz="1100">
                <a:solidFill>
                  <a:srgbClr val="0D1B21"/>
                </a:solidFill>
                <a:latin typeface="Asana"/>
                <a:ea typeface="Asana"/>
                <a:cs typeface="Asana"/>
              </a:rPr>
              <a:t>The platform helps people who need to act before weather turns into operational loss.</a:t>
            </a:r>
            <a:endParaRPr sz="1100">
              <a:latin typeface="Asana"/>
              <a:cs typeface="Asana"/>
            </a:endParaRPr>
          </a:p>
        </p:txBody>
      </p:sp>
      <p:sp>
        <p:nvSpPr>
          <p:cNvPr id="1209458370" name="Shape 17"/>
          <p:cNvSpPr/>
          <p:nvPr/>
        </p:nvSpPr>
        <p:spPr bwMode="auto">
          <a:xfrm>
            <a:off x="239691" y="2331720"/>
            <a:ext cx="2121408" cy="2194560"/>
          </a:xfrm>
          <a:prstGeom prst="rect">
            <a:avLst/>
          </a:prstGeom>
          <a:solidFill>
            <a:srgbClr val="EFE7D5"/>
          </a:solidFill>
          <a:ln w="10160">
            <a:solidFill>
              <a:srgbClr val="2E865F"/>
            </a:solidFill>
            <a:prstDash val="solid"/>
          </a:ln>
        </p:spPr>
        <p:txBody>
          <a:bodyPr anchor="ctr"/>
          <a:p>
            <a:pPr algn="ctr">
              <a:defRPr/>
            </a:pPr>
            <a:endParaRPr>
              <a:latin typeface="Asana"/>
              <a:cs typeface="Asana"/>
            </a:endParaRPr>
          </a:p>
        </p:txBody>
      </p:sp>
      <p:sp>
        <p:nvSpPr>
          <p:cNvPr id="1015557369" name="Shape 18"/>
          <p:cNvSpPr/>
          <p:nvPr/>
        </p:nvSpPr>
        <p:spPr bwMode="auto">
          <a:xfrm flipH="0" flipV="0">
            <a:off x="239691" y="2313431"/>
            <a:ext cx="2121408" cy="109728"/>
          </a:xfrm>
          <a:prstGeom prst="rect">
            <a:avLst/>
          </a:prstGeom>
          <a:solidFill>
            <a:srgbClr val="2E865F"/>
          </a:solidFill>
          <a:ln w="12700">
            <a:solidFill>
              <a:srgbClr val="2E865F"/>
            </a:solidFill>
            <a:prstDash val="solid"/>
          </a:ln>
        </p:spPr>
        <p:txBody>
          <a:bodyPr anchor="ctr"/>
          <a:p>
            <a:pPr algn="ctr">
              <a:defRPr/>
            </a:pPr>
            <a:endParaRPr>
              <a:latin typeface="Asana"/>
              <a:cs typeface="Asana"/>
            </a:endParaRPr>
          </a:p>
        </p:txBody>
      </p:sp>
      <p:sp>
        <p:nvSpPr>
          <p:cNvPr id="2049926870" name="Text 19"/>
          <p:cNvSpPr/>
          <p:nvPr/>
        </p:nvSpPr>
        <p:spPr bwMode="auto">
          <a:xfrm>
            <a:off x="393192" y="2569463"/>
            <a:ext cx="1792224" cy="146304"/>
          </a:xfrm>
          <a:prstGeom prst="rect">
            <a:avLst/>
          </a:prstGeom>
          <a:noFill/>
          <a:ln/>
        </p:spPr>
        <p:txBody>
          <a:bodyPr wrap="square" lIns="0" tIns="0" rIns="0" bIns="0" rtlCol="0" anchor="ctr"/>
          <a:lstStyle/>
          <a:p>
            <a:pPr marL="0" indent="0" algn="ctr">
              <a:buNone/>
              <a:defRPr/>
            </a:pPr>
            <a:r>
              <a:rPr lang="en-US" sz="700" b="1">
                <a:solidFill>
                  <a:srgbClr val="2E865F"/>
                </a:solidFill>
                <a:latin typeface="Asana"/>
                <a:ea typeface="Asana"/>
                <a:cs typeface="Asana"/>
              </a:rPr>
              <a:t>FARMERS</a:t>
            </a:r>
            <a:endParaRPr sz="700">
              <a:latin typeface="Asana"/>
              <a:cs typeface="Asana"/>
            </a:endParaRPr>
          </a:p>
        </p:txBody>
      </p:sp>
      <p:sp>
        <p:nvSpPr>
          <p:cNvPr id="334110970" name="Shape 20"/>
          <p:cNvSpPr/>
          <p:nvPr/>
        </p:nvSpPr>
        <p:spPr bwMode="auto">
          <a:xfrm>
            <a:off x="565039" y="3026663"/>
            <a:ext cx="1389888" cy="0"/>
          </a:xfrm>
          <a:prstGeom prst="line">
            <a:avLst/>
          </a:prstGeom>
          <a:noFill/>
          <a:ln w="15240">
            <a:solidFill>
              <a:srgbClr val="2E865F"/>
            </a:solidFill>
            <a:prstDash val="solid"/>
          </a:ln>
        </p:spPr>
      </p:sp>
      <p:sp>
        <p:nvSpPr>
          <p:cNvPr id="1763694789" name="Text 21"/>
          <p:cNvSpPr/>
          <p:nvPr/>
        </p:nvSpPr>
        <p:spPr bwMode="auto">
          <a:xfrm>
            <a:off x="400388" y="3282696"/>
            <a:ext cx="1645920" cy="768096"/>
          </a:xfrm>
          <a:prstGeom prst="rect">
            <a:avLst/>
          </a:prstGeom>
          <a:noFill/>
          <a:ln/>
        </p:spPr>
        <p:txBody>
          <a:bodyPr wrap="square" lIns="0" tIns="0" rIns="0" bIns="0" rtlCol="0" anchor="ctr"/>
          <a:lstStyle/>
          <a:p>
            <a:pPr marL="0" indent="0" algn="ctr">
              <a:buNone/>
              <a:defRPr/>
            </a:pPr>
            <a:r>
              <a:rPr lang="en-US" sz="1000" b="1">
                <a:solidFill>
                  <a:srgbClr val="0D1B21"/>
                </a:solidFill>
                <a:latin typeface="Asana"/>
                <a:ea typeface="Asana"/>
                <a:cs typeface="Asana"/>
              </a:rPr>
              <a:t>irrigation timing</a:t>
            </a:r>
            <a:endParaRPr sz="1000">
              <a:latin typeface="Asana"/>
              <a:cs typeface="Asana"/>
            </a:endParaRPr>
          </a:p>
          <a:p>
            <a:pPr marL="0" indent="0" algn="ctr">
              <a:buNone/>
              <a:defRPr/>
            </a:pPr>
            <a:r>
              <a:rPr lang="en-US" sz="1000" b="1">
                <a:solidFill>
                  <a:srgbClr val="0D1B21"/>
                </a:solidFill>
                <a:latin typeface="Asana"/>
                <a:ea typeface="Asana"/>
                <a:cs typeface="Asana"/>
              </a:rPr>
              <a:t>crop stress</a:t>
            </a:r>
            <a:endParaRPr sz="1000">
              <a:latin typeface="Asana"/>
              <a:cs typeface="Asana"/>
            </a:endParaRPr>
          </a:p>
          <a:p>
            <a:pPr marL="0" indent="0" algn="ctr">
              <a:buNone/>
              <a:defRPr/>
            </a:pPr>
            <a:r>
              <a:rPr lang="en-US" sz="1000" b="1">
                <a:solidFill>
                  <a:srgbClr val="0D1B21"/>
                </a:solidFill>
                <a:latin typeface="Asana"/>
                <a:ea typeface="Asana"/>
                <a:cs typeface="Asana"/>
              </a:rPr>
              <a:t>water loss</a:t>
            </a:r>
            <a:endParaRPr sz="1000">
              <a:latin typeface="Asana"/>
              <a:cs typeface="Asana"/>
            </a:endParaRPr>
          </a:p>
        </p:txBody>
      </p:sp>
      <p:sp>
        <p:nvSpPr>
          <p:cNvPr id="24711567" name="Shape 22"/>
          <p:cNvSpPr/>
          <p:nvPr/>
        </p:nvSpPr>
        <p:spPr bwMode="auto">
          <a:xfrm>
            <a:off x="2662470" y="2313431"/>
            <a:ext cx="2121408" cy="2194560"/>
          </a:xfrm>
          <a:prstGeom prst="rect">
            <a:avLst/>
          </a:prstGeom>
          <a:solidFill>
            <a:srgbClr val="EFE7D5"/>
          </a:solidFill>
          <a:ln w="10160">
            <a:solidFill>
              <a:srgbClr val="B4533B"/>
            </a:solidFill>
            <a:prstDash val="solid"/>
          </a:ln>
        </p:spPr>
        <p:txBody>
          <a:bodyPr anchor="ctr"/>
          <a:p>
            <a:pPr algn="ctr">
              <a:defRPr/>
            </a:pPr>
            <a:endParaRPr>
              <a:latin typeface="Asana"/>
              <a:cs typeface="Asana"/>
            </a:endParaRPr>
          </a:p>
        </p:txBody>
      </p:sp>
      <p:sp>
        <p:nvSpPr>
          <p:cNvPr id="823448699" name="Shape 23"/>
          <p:cNvSpPr/>
          <p:nvPr/>
        </p:nvSpPr>
        <p:spPr bwMode="auto">
          <a:xfrm>
            <a:off x="2662470" y="2313431"/>
            <a:ext cx="2121408" cy="109728"/>
          </a:xfrm>
          <a:prstGeom prst="rect">
            <a:avLst/>
          </a:prstGeom>
          <a:solidFill>
            <a:srgbClr val="B4533B"/>
          </a:solidFill>
          <a:ln w="12700">
            <a:solidFill>
              <a:srgbClr val="B4533B"/>
            </a:solidFill>
            <a:prstDash val="solid"/>
          </a:ln>
        </p:spPr>
        <p:txBody>
          <a:bodyPr anchor="ctr"/>
          <a:p>
            <a:pPr algn="ctr">
              <a:defRPr/>
            </a:pPr>
            <a:endParaRPr>
              <a:latin typeface="Asana"/>
              <a:cs typeface="Asana"/>
            </a:endParaRPr>
          </a:p>
        </p:txBody>
      </p:sp>
      <p:sp>
        <p:nvSpPr>
          <p:cNvPr id="522849490" name="Text 24"/>
          <p:cNvSpPr/>
          <p:nvPr/>
        </p:nvSpPr>
        <p:spPr bwMode="auto">
          <a:xfrm>
            <a:off x="2827062" y="2642615"/>
            <a:ext cx="1792224" cy="146304"/>
          </a:xfrm>
          <a:prstGeom prst="rect">
            <a:avLst/>
          </a:prstGeom>
          <a:noFill/>
          <a:ln/>
        </p:spPr>
        <p:txBody>
          <a:bodyPr wrap="square" lIns="0" tIns="0" rIns="0" bIns="0" rtlCol="0" anchor="ctr"/>
          <a:lstStyle/>
          <a:p>
            <a:pPr marL="0" indent="0" algn="ctr">
              <a:buNone/>
              <a:defRPr/>
            </a:pPr>
            <a:r>
              <a:rPr lang="en-US" sz="700" b="1">
                <a:solidFill>
                  <a:srgbClr val="B4533B"/>
                </a:solidFill>
                <a:latin typeface="Asana"/>
                <a:ea typeface="Asana"/>
                <a:cs typeface="Asana"/>
              </a:rPr>
              <a:t>WORKERS</a:t>
            </a:r>
            <a:endParaRPr sz="700">
              <a:latin typeface="Asana"/>
              <a:cs typeface="Asana"/>
            </a:endParaRPr>
          </a:p>
        </p:txBody>
      </p:sp>
      <p:sp>
        <p:nvSpPr>
          <p:cNvPr id="1395143264" name="Shape 25"/>
          <p:cNvSpPr/>
          <p:nvPr/>
        </p:nvSpPr>
        <p:spPr bwMode="auto">
          <a:xfrm>
            <a:off x="2990781" y="3026663"/>
            <a:ext cx="1389888" cy="0"/>
          </a:xfrm>
          <a:prstGeom prst="line">
            <a:avLst/>
          </a:prstGeom>
          <a:noFill/>
          <a:ln w="15240">
            <a:solidFill>
              <a:srgbClr val="B4533B"/>
            </a:solidFill>
            <a:prstDash val="solid"/>
          </a:ln>
        </p:spPr>
      </p:sp>
      <p:sp>
        <p:nvSpPr>
          <p:cNvPr id="1496646792" name="Text 26"/>
          <p:cNvSpPr/>
          <p:nvPr/>
        </p:nvSpPr>
        <p:spPr bwMode="auto">
          <a:xfrm>
            <a:off x="2900214" y="3282696"/>
            <a:ext cx="1645920" cy="768096"/>
          </a:xfrm>
          <a:prstGeom prst="rect">
            <a:avLst/>
          </a:prstGeom>
          <a:noFill/>
          <a:ln/>
        </p:spPr>
        <p:txBody>
          <a:bodyPr wrap="square" lIns="0" tIns="0" rIns="0" bIns="0" rtlCol="0" anchor="ctr"/>
          <a:lstStyle/>
          <a:p>
            <a:pPr marL="0" indent="0" algn="ctr">
              <a:buNone/>
              <a:defRPr/>
            </a:pPr>
            <a:r>
              <a:rPr lang="en-US" sz="1000" b="1">
                <a:solidFill>
                  <a:srgbClr val="0D1B21"/>
                </a:solidFill>
                <a:latin typeface="Asana"/>
                <a:ea typeface="Asana"/>
                <a:cs typeface="Asana"/>
              </a:rPr>
              <a:t>heat exposure</a:t>
            </a:r>
            <a:endParaRPr sz="1000">
              <a:latin typeface="Asana"/>
              <a:cs typeface="Asana"/>
            </a:endParaRPr>
          </a:p>
          <a:p>
            <a:pPr marL="0" indent="0" algn="ctr">
              <a:buNone/>
              <a:defRPr/>
            </a:pPr>
            <a:r>
              <a:rPr lang="en-US" sz="1000" b="1">
                <a:solidFill>
                  <a:srgbClr val="0D1B21"/>
                </a:solidFill>
                <a:latin typeface="Asana"/>
                <a:ea typeface="Asana"/>
                <a:cs typeface="Asana"/>
              </a:rPr>
              <a:t>unsafe windows</a:t>
            </a:r>
            <a:endParaRPr sz="1000">
              <a:latin typeface="Asana"/>
              <a:cs typeface="Asana"/>
            </a:endParaRPr>
          </a:p>
          <a:p>
            <a:pPr marL="0" indent="0" algn="ctr">
              <a:buNone/>
              <a:defRPr/>
            </a:pPr>
            <a:r>
              <a:rPr lang="en-US" sz="1000" b="1">
                <a:solidFill>
                  <a:srgbClr val="0D1B21"/>
                </a:solidFill>
                <a:latin typeface="Asana"/>
                <a:ea typeface="Asana"/>
                <a:cs typeface="Asana"/>
              </a:rPr>
              <a:t>hydration guidance</a:t>
            </a:r>
            <a:endParaRPr sz="1000">
              <a:latin typeface="Asana"/>
              <a:cs typeface="Asana"/>
            </a:endParaRPr>
          </a:p>
        </p:txBody>
      </p:sp>
      <p:sp>
        <p:nvSpPr>
          <p:cNvPr id="1997887578" name="Shape 27"/>
          <p:cNvSpPr/>
          <p:nvPr/>
        </p:nvSpPr>
        <p:spPr bwMode="auto">
          <a:xfrm>
            <a:off x="5063447" y="2313431"/>
            <a:ext cx="2121408" cy="2194560"/>
          </a:xfrm>
          <a:prstGeom prst="rect">
            <a:avLst/>
          </a:prstGeom>
          <a:solidFill>
            <a:srgbClr val="EFE7D5"/>
          </a:solidFill>
          <a:ln w="10160">
            <a:solidFill>
              <a:srgbClr val="C28722"/>
            </a:solidFill>
            <a:prstDash val="solid"/>
          </a:ln>
        </p:spPr>
        <p:txBody>
          <a:bodyPr anchor="ctr"/>
          <a:p>
            <a:pPr algn="ctr">
              <a:defRPr/>
            </a:pPr>
            <a:endParaRPr>
              <a:latin typeface="Asana"/>
              <a:cs typeface="Asana"/>
            </a:endParaRPr>
          </a:p>
        </p:txBody>
      </p:sp>
      <p:sp>
        <p:nvSpPr>
          <p:cNvPr id="1745451843" name="Shape 28"/>
          <p:cNvSpPr/>
          <p:nvPr/>
        </p:nvSpPr>
        <p:spPr bwMode="auto">
          <a:xfrm>
            <a:off x="5057605" y="2305261"/>
            <a:ext cx="2121408" cy="109728"/>
          </a:xfrm>
          <a:prstGeom prst="rect">
            <a:avLst/>
          </a:prstGeom>
          <a:solidFill>
            <a:srgbClr val="C28722"/>
          </a:solidFill>
          <a:ln w="12700">
            <a:solidFill>
              <a:srgbClr val="C28722"/>
            </a:solidFill>
            <a:prstDash val="solid"/>
          </a:ln>
        </p:spPr>
        <p:txBody>
          <a:bodyPr anchor="ctr"/>
          <a:p>
            <a:pPr algn="ctr">
              <a:defRPr/>
            </a:pPr>
            <a:endParaRPr>
              <a:latin typeface="Asana"/>
              <a:cs typeface="Asana"/>
            </a:endParaRPr>
          </a:p>
        </p:txBody>
      </p:sp>
      <p:sp>
        <p:nvSpPr>
          <p:cNvPr id="378072337" name="Text 29"/>
          <p:cNvSpPr/>
          <p:nvPr/>
        </p:nvSpPr>
        <p:spPr bwMode="auto">
          <a:xfrm>
            <a:off x="5228039" y="2642615"/>
            <a:ext cx="1792224" cy="146304"/>
          </a:xfrm>
          <a:prstGeom prst="rect">
            <a:avLst/>
          </a:prstGeom>
          <a:noFill/>
          <a:ln/>
        </p:spPr>
        <p:txBody>
          <a:bodyPr wrap="square" lIns="0" tIns="0" rIns="0" bIns="0" rtlCol="0" anchor="ctr"/>
          <a:lstStyle/>
          <a:p>
            <a:pPr marL="0" indent="0" algn="ctr">
              <a:buNone/>
              <a:defRPr/>
            </a:pPr>
            <a:r>
              <a:rPr lang="en-US" sz="700" b="1">
                <a:solidFill>
                  <a:srgbClr val="C28722"/>
                </a:solidFill>
                <a:latin typeface="Asana"/>
                <a:ea typeface="Asana"/>
                <a:cs typeface="Asana"/>
              </a:rPr>
              <a:t>BUSINESS</a:t>
            </a:r>
            <a:endParaRPr sz="700">
              <a:latin typeface="Asana"/>
              <a:cs typeface="Asana"/>
            </a:endParaRPr>
          </a:p>
        </p:txBody>
      </p:sp>
      <p:sp>
        <p:nvSpPr>
          <p:cNvPr id="1629679626" name="Shape 30"/>
          <p:cNvSpPr/>
          <p:nvPr/>
        </p:nvSpPr>
        <p:spPr bwMode="auto">
          <a:xfrm>
            <a:off x="5408793" y="3026663"/>
            <a:ext cx="1389888" cy="0"/>
          </a:xfrm>
          <a:prstGeom prst="line">
            <a:avLst/>
          </a:prstGeom>
          <a:noFill/>
          <a:ln w="15240">
            <a:solidFill>
              <a:srgbClr val="C28722"/>
            </a:solidFill>
            <a:prstDash val="solid"/>
          </a:ln>
        </p:spPr>
      </p:sp>
      <p:sp>
        <p:nvSpPr>
          <p:cNvPr id="1828106553" name="Text 31"/>
          <p:cNvSpPr/>
          <p:nvPr/>
        </p:nvSpPr>
        <p:spPr bwMode="auto">
          <a:xfrm>
            <a:off x="5301191" y="3282696"/>
            <a:ext cx="1645920" cy="768096"/>
          </a:xfrm>
          <a:prstGeom prst="rect">
            <a:avLst/>
          </a:prstGeom>
          <a:noFill/>
          <a:ln/>
        </p:spPr>
        <p:txBody>
          <a:bodyPr wrap="square" lIns="0" tIns="0" rIns="0" bIns="0" rtlCol="0" anchor="ctr"/>
          <a:lstStyle/>
          <a:p>
            <a:pPr marL="0" indent="0" algn="ctr">
              <a:buNone/>
              <a:defRPr/>
            </a:pPr>
            <a:r>
              <a:rPr lang="en-US" sz="1000" b="1">
                <a:solidFill>
                  <a:srgbClr val="0D1B21"/>
                </a:solidFill>
                <a:latin typeface="Asana"/>
                <a:ea typeface="Asana"/>
                <a:cs typeface="Asana"/>
              </a:rPr>
              <a:t>route risk</a:t>
            </a:r>
            <a:endParaRPr sz="1000">
              <a:latin typeface="Asana"/>
              <a:cs typeface="Asana"/>
            </a:endParaRPr>
          </a:p>
          <a:p>
            <a:pPr marL="0" indent="0" algn="ctr">
              <a:buNone/>
              <a:defRPr/>
            </a:pPr>
            <a:r>
              <a:rPr lang="en-US" sz="1000" b="1">
                <a:solidFill>
                  <a:srgbClr val="0D1B21"/>
                </a:solidFill>
                <a:latin typeface="Asana"/>
                <a:ea typeface="Asana"/>
                <a:cs typeface="Asana"/>
              </a:rPr>
              <a:t>continuity</a:t>
            </a:r>
            <a:endParaRPr sz="1000">
              <a:latin typeface="Asana"/>
              <a:cs typeface="Asana"/>
            </a:endParaRPr>
          </a:p>
          <a:p>
            <a:pPr marL="0" indent="0" algn="ctr">
              <a:buNone/>
              <a:defRPr/>
            </a:pPr>
            <a:r>
              <a:rPr lang="en-US" sz="1000" b="1">
                <a:solidFill>
                  <a:srgbClr val="0D1B21"/>
                </a:solidFill>
                <a:latin typeface="Asana"/>
                <a:ea typeface="Asana"/>
                <a:cs typeface="Asana"/>
              </a:rPr>
              <a:t>fuel pressure</a:t>
            </a:r>
            <a:endParaRPr sz="1000">
              <a:latin typeface="Asana"/>
              <a:cs typeface="Asana"/>
            </a:endParaRPr>
          </a:p>
        </p:txBody>
      </p:sp>
      <p:sp>
        <p:nvSpPr>
          <p:cNvPr id="732562216" name="Shape 32"/>
          <p:cNvSpPr/>
          <p:nvPr/>
        </p:nvSpPr>
        <p:spPr bwMode="auto">
          <a:xfrm>
            <a:off x="7464424" y="2313431"/>
            <a:ext cx="2121408" cy="2194560"/>
          </a:xfrm>
          <a:prstGeom prst="rect">
            <a:avLst/>
          </a:prstGeom>
          <a:solidFill>
            <a:srgbClr val="EFE7D5"/>
          </a:solidFill>
          <a:ln w="10160">
            <a:solidFill>
              <a:srgbClr val="2C7F9E"/>
            </a:solidFill>
            <a:prstDash val="solid"/>
          </a:ln>
        </p:spPr>
        <p:txBody>
          <a:bodyPr anchor="ctr"/>
          <a:p>
            <a:pPr algn="ctr">
              <a:defRPr/>
            </a:pPr>
            <a:endParaRPr>
              <a:latin typeface="Asana"/>
              <a:cs typeface="Asana"/>
            </a:endParaRPr>
          </a:p>
        </p:txBody>
      </p:sp>
      <p:sp>
        <p:nvSpPr>
          <p:cNvPr id="772406820" name="Shape 33"/>
          <p:cNvSpPr/>
          <p:nvPr/>
        </p:nvSpPr>
        <p:spPr bwMode="auto">
          <a:xfrm>
            <a:off x="7464424" y="2305261"/>
            <a:ext cx="2121408" cy="109728"/>
          </a:xfrm>
          <a:prstGeom prst="rect">
            <a:avLst/>
          </a:prstGeom>
          <a:solidFill>
            <a:srgbClr val="2C7F9E"/>
          </a:solidFill>
          <a:ln w="12700">
            <a:solidFill>
              <a:srgbClr val="2C7F9E"/>
            </a:solidFill>
            <a:prstDash val="solid"/>
          </a:ln>
        </p:spPr>
        <p:txBody>
          <a:bodyPr anchor="ctr"/>
          <a:p>
            <a:pPr algn="ctr">
              <a:defRPr/>
            </a:pPr>
            <a:endParaRPr>
              <a:latin typeface="Asana"/>
              <a:cs typeface="Asana"/>
            </a:endParaRPr>
          </a:p>
        </p:txBody>
      </p:sp>
      <p:sp>
        <p:nvSpPr>
          <p:cNvPr id="266316268" name="Text 34"/>
          <p:cNvSpPr/>
          <p:nvPr/>
        </p:nvSpPr>
        <p:spPr bwMode="auto">
          <a:xfrm>
            <a:off x="7635240" y="2642615"/>
            <a:ext cx="1792224" cy="146304"/>
          </a:xfrm>
          <a:prstGeom prst="rect">
            <a:avLst/>
          </a:prstGeom>
          <a:noFill/>
          <a:ln/>
        </p:spPr>
        <p:txBody>
          <a:bodyPr wrap="square" lIns="0" tIns="0" rIns="0" bIns="0" rtlCol="0" anchor="ctr"/>
          <a:lstStyle/>
          <a:p>
            <a:pPr marL="0" indent="0" algn="ctr">
              <a:buNone/>
              <a:defRPr/>
            </a:pPr>
            <a:r>
              <a:rPr lang="en-US" sz="700" b="1">
                <a:solidFill>
                  <a:srgbClr val="2C7F9E"/>
                </a:solidFill>
                <a:latin typeface="Asana"/>
                <a:ea typeface="Asana"/>
                <a:cs typeface="Asana"/>
              </a:rPr>
              <a:t>GRID TEAMS</a:t>
            </a:r>
            <a:endParaRPr sz="700">
              <a:latin typeface="Asana"/>
              <a:cs typeface="Asana"/>
            </a:endParaRPr>
          </a:p>
        </p:txBody>
      </p:sp>
      <p:sp>
        <p:nvSpPr>
          <p:cNvPr id="8117568" name="Shape 35"/>
          <p:cNvSpPr/>
          <p:nvPr/>
        </p:nvSpPr>
        <p:spPr bwMode="auto">
          <a:xfrm>
            <a:off x="7836408" y="3026663"/>
            <a:ext cx="1389888" cy="0"/>
          </a:xfrm>
          <a:prstGeom prst="line">
            <a:avLst/>
          </a:prstGeom>
          <a:noFill/>
          <a:ln w="15240">
            <a:solidFill>
              <a:srgbClr val="2C7F9E"/>
            </a:solidFill>
            <a:prstDash val="solid"/>
          </a:ln>
        </p:spPr>
      </p:sp>
      <p:sp>
        <p:nvSpPr>
          <p:cNvPr id="977737130" name="Text 36"/>
          <p:cNvSpPr/>
          <p:nvPr/>
        </p:nvSpPr>
        <p:spPr bwMode="auto">
          <a:xfrm>
            <a:off x="7708392" y="3282696"/>
            <a:ext cx="1645920" cy="768096"/>
          </a:xfrm>
          <a:prstGeom prst="rect">
            <a:avLst/>
          </a:prstGeom>
          <a:noFill/>
          <a:ln/>
        </p:spPr>
        <p:txBody>
          <a:bodyPr wrap="square" lIns="0" tIns="0" rIns="0" bIns="0" rtlCol="0" anchor="ctr"/>
          <a:lstStyle/>
          <a:p>
            <a:pPr marL="0" indent="0" algn="ctr">
              <a:buNone/>
              <a:defRPr/>
            </a:pPr>
            <a:r>
              <a:rPr lang="en-US" sz="1000" b="1">
                <a:solidFill>
                  <a:srgbClr val="0D1B21"/>
                </a:solidFill>
                <a:latin typeface="Asana"/>
                <a:ea typeface="Asana"/>
                <a:cs typeface="Asana"/>
              </a:rPr>
              <a:t>cooling load</a:t>
            </a:r>
            <a:endParaRPr sz="1000">
              <a:latin typeface="Asana"/>
              <a:cs typeface="Asana"/>
            </a:endParaRPr>
          </a:p>
          <a:p>
            <a:pPr marL="0" indent="0" algn="ctr">
              <a:buNone/>
              <a:defRPr/>
            </a:pPr>
            <a:r>
              <a:rPr lang="en-US" sz="1000" b="1">
                <a:solidFill>
                  <a:srgbClr val="0D1B21"/>
                </a:solidFill>
                <a:latin typeface="Asana"/>
                <a:ea typeface="Asana"/>
                <a:cs typeface="Asana"/>
              </a:rPr>
              <a:t>capacity pressure</a:t>
            </a:r>
            <a:endParaRPr sz="1000">
              <a:latin typeface="Asana"/>
              <a:cs typeface="Asana"/>
            </a:endParaRPr>
          </a:p>
          <a:p>
            <a:pPr marL="0" indent="0" algn="ctr">
              <a:buNone/>
              <a:defRPr/>
            </a:pPr>
            <a:r>
              <a:rPr lang="en-US" sz="1000" b="1">
                <a:solidFill>
                  <a:srgbClr val="0D1B21"/>
                </a:solidFill>
                <a:latin typeface="Asana"/>
                <a:ea typeface="Asana"/>
                <a:cs typeface="Asana"/>
              </a:rPr>
              <a:t>transformer stress</a:t>
            </a:r>
            <a:endParaRPr sz="1000">
              <a:latin typeface="Asana"/>
              <a:cs typeface="Asana"/>
            </a:endParaRPr>
          </a:p>
        </p:txBody>
      </p:sp>
      <p:sp>
        <p:nvSpPr>
          <p:cNvPr id="29705021" name="Shape 37"/>
          <p:cNvSpPr/>
          <p:nvPr/>
        </p:nvSpPr>
        <p:spPr bwMode="auto">
          <a:xfrm>
            <a:off x="9838943" y="2313431"/>
            <a:ext cx="2121408" cy="2194560"/>
          </a:xfrm>
          <a:prstGeom prst="rect">
            <a:avLst/>
          </a:prstGeom>
          <a:solidFill>
            <a:srgbClr val="EFE7D5"/>
          </a:solidFill>
          <a:ln w="10160">
            <a:solidFill>
              <a:srgbClr val="C53E2F"/>
            </a:solidFill>
            <a:prstDash val="solid"/>
          </a:ln>
        </p:spPr>
        <p:txBody>
          <a:bodyPr anchor="ctr"/>
          <a:p>
            <a:pPr algn="ctr">
              <a:defRPr/>
            </a:pPr>
            <a:endParaRPr>
              <a:latin typeface="Asana"/>
              <a:cs typeface="Asana"/>
            </a:endParaRPr>
          </a:p>
        </p:txBody>
      </p:sp>
      <p:sp>
        <p:nvSpPr>
          <p:cNvPr id="826200159" name="Shape 38"/>
          <p:cNvSpPr/>
          <p:nvPr/>
        </p:nvSpPr>
        <p:spPr bwMode="auto">
          <a:xfrm>
            <a:off x="9838943" y="2313431"/>
            <a:ext cx="2121408" cy="109728"/>
          </a:xfrm>
          <a:prstGeom prst="rect">
            <a:avLst/>
          </a:prstGeom>
          <a:solidFill>
            <a:srgbClr val="C53E2F"/>
          </a:solidFill>
          <a:ln w="12700">
            <a:solidFill>
              <a:srgbClr val="C53E2F"/>
            </a:solidFill>
            <a:prstDash val="solid"/>
          </a:ln>
        </p:spPr>
        <p:txBody>
          <a:bodyPr anchor="ctr"/>
          <a:p>
            <a:pPr algn="ctr">
              <a:defRPr/>
            </a:pPr>
            <a:endParaRPr>
              <a:latin typeface="Asana"/>
              <a:cs typeface="Asana"/>
            </a:endParaRPr>
          </a:p>
        </p:txBody>
      </p:sp>
      <p:sp>
        <p:nvSpPr>
          <p:cNvPr id="1507895042" name="Text 39"/>
          <p:cNvSpPr/>
          <p:nvPr/>
        </p:nvSpPr>
        <p:spPr bwMode="auto">
          <a:xfrm>
            <a:off x="10003535" y="2642615"/>
            <a:ext cx="1792224" cy="146304"/>
          </a:xfrm>
          <a:prstGeom prst="rect">
            <a:avLst/>
          </a:prstGeom>
          <a:noFill/>
          <a:ln/>
        </p:spPr>
        <p:txBody>
          <a:bodyPr wrap="square" lIns="0" tIns="0" rIns="0" bIns="0" rtlCol="0" anchor="ctr"/>
          <a:lstStyle/>
          <a:p>
            <a:pPr marL="0" indent="0" algn="ctr">
              <a:buNone/>
              <a:defRPr/>
            </a:pPr>
            <a:r>
              <a:rPr lang="en-US" sz="700" b="1">
                <a:solidFill>
                  <a:srgbClr val="C53E2F"/>
                </a:solidFill>
                <a:latin typeface="Asana"/>
                <a:ea typeface="Asana"/>
                <a:cs typeface="Asana"/>
              </a:rPr>
              <a:t>EMERGENCY</a:t>
            </a:r>
            <a:endParaRPr sz="700">
              <a:latin typeface="Asana"/>
              <a:cs typeface="Asana"/>
            </a:endParaRPr>
          </a:p>
        </p:txBody>
      </p:sp>
      <p:sp>
        <p:nvSpPr>
          <p:cNvPr id="767500176" name="Shape 40"/>
          <p:cNvSpPr/>
          <p:nvPr/>
        </p:nvSpPr>
        <p:spPr bwMode="auto">
          <a:xfrm>
            <a:off x="10204704" y="3026663"/>
            <a:ext cx="1389888" cy="0"/>
          </a:xfrm>
          <a:prstGeom prst="line">
            <a:avLst/>
          </a:prstGeom>
          <a:noFill/>
          <a:ln w="15240">
            <a:solidFill>
              <a:srgbClr val="C53E2F"/>
            </a:solidFill>
            <a:prstDash val="solid"/>
          </a:ln>
        </p:spPr>
      </p:sp>
      <p:sp>
        <p:nvSpPr>
          <p:cNvPr id="412303351" name="Text 41"/>
          <p:cNvSpPr/>
          <p:nvPr/>
        </p:nvSpPr>
        <p:spPr bwMode="auto">
          <a:xfrm>
            <a:off x="10076688" y="3282696"/>
            <a:ext cx="1645920" cy="768096"/>
          </a:xfrm>
          <a:prstGeom prst="rect">
            <a:avLst/>
          </a:prstGeom>
          <a:noFill/>
          <a:ln/>
        </p:spPr>
        <p:txBody>
          <a:bodyPr wrap="square" lIns="0" tIns="0" rIns="0" bIns="0" rtlCol="0" anchor="ctr"/>
          <a:lstStyle/>
          <a:p>
            <a:pPr marL="0" indent="0" algn="ctr">
              <a:buNone/>
              <a:defRPr/>
            </a:pPr>
            <a:r>
              <a:rPr lang="en-US" sz="1000" b="1">
                <a:solidFill>
                  <a:srgbClr val="0D1B21"/>
                </a:solidFill>
                <a:latin typeface="Asana"/>
                <a:ea typeface="Asana"/>
                <a:cs typeface="Asana"/>
              </a:rPr>
              <a:t>severity</a:t>
            </a:r>
            <a:endParaRPr sz="1000">
              <a:latin typeface="Asana"/>
              <a:cs typeface="Asana"/>
            </a:endParaRPr>
          </a:p>
          <a:p>
            <a:pPr marL="0" indent="0" algn="ctr">
              <a:buNone/>
              <a:defRPr/>
            </a:pPr>
            <a:r>
              <a:rPr lang="en-US" sz="1000" b="1">
                <a:solidFill>
                  <a:srgbClr val="0D1B21"/>
                </a:solidFill>
                <a:latin typeface="Asana"/>
                <a:ea typeface="Asana"/>
                <a:cs typeface="Asana"/>
              </a:rPr>
              <a:t>confidence</a:t>
            </a:r>
            <a:endParaRPr sz="1000">
              <a:latin typeface="Asana"/>
              <a:cs typeface="Asana"/>
            </a:endParaRPr>
          </a:p>
          <a:p>
            <a:pPr marL="0" indent="0" algn="ctr">
              <a:buNone/>
              <a:defRPr/>
            </a:pPr>
            <a:r>
              <a:rPr lang="en-US" sz="1000" b="1">
                <a:solidFill>
                  <a:srgbClr val="0D1B21"/>
                </a:solidFill>
                <a:latin typeface="Asana"/>
                <a:ea typeface="Asana"/>
                <a:cs typeface="Asana"/>
              </a:rPr>
              <a:t>action protocol</a:t>
            </a:r>
            <a:endParaRPr sz="1000">
              <a:latin typeface="Asana"/>
              <a:cs typeface="Asana"/>
            </a:endParaRPr>
          </a:p>
        </p:txBody>
      </p:sp>
      <p:sp>
        <p:nvSpPr>
          <p:cNvPr id="83457842" name="Shape 42"/>
          <p:cNvSpPr/>
          <p:nvPr/>
        </p:nvSpPr>
        <p:spPr bwMode="auto">
          <a:xfrm>
            <a:off x="914400" y="5056632"/>
            <a:ext cx="10332720" cy="749808"/>
          </a:xfrm>
          <a:prstGeom prst="rect">
            <a:avLst/>
          </a:prstGeom>
          <a:solidFill>
            <a:srgbClr val="E8DFC9"/>
          </a:solidFill>
          <a:ln w="10160">
            <a:solidFill>
              <a:srgbClr val="A9A193"/>
            </a:solidFill>
            <a:prstDash val="solid"/>
          </a:ln>
        </p:spPr>
        <p:txBody>
          <a:bodyPr anchor="ctr"/>
          <a:p>
            <a:pPr algn="ctr">
              <a:defRPr/>
            </a:pPr>
            <a:endParaRPr>
              <a:latin typeface="Asana"/>
              <a:cs typeface="Asana"/>
            </a:endParaRPr>
          </a:p>
        </p:txBody>
      </p:sp>
      <p:sp>
        <p:nvSpPr>
          <p:cNvPr id="265933834" name="Text 43"/>
          <p:cNvSpPr/>
          <p:nvPr/>
        </p:nvSpPr>
        <p:spPr bwMode="auto">
          <a:xfrm>
            <a:off x="1170432" y="5285232"/>
            <a:ext cx="1097280" cy="109728"/>
          </a:xfrm>
          <a:prstGeom prst="rect">
            <a:avLst/>
          </a:prstGeom>
          <a:noFill/>
          <a:ln/>
        </p:spPr>
        <p:txBody>
          <a:bodyPr wrap="square" lIns="0" tIns="0" rIns="0" bIns="0" rtlCol="0" anchor="ctr"/>
          <a:lstStyle/>
          <a:p>
            <a:pPr marL="0" indent="0">
              <a:buNone/>
              <a:defRPr/>
            </a:pPr>
            <a:r>
              <a:rPr lang="en-US" sz="600" b="1">
                <a:solidFill>
                  <a:srgbClr val="108A98"/>
                </a:solidFill>
                <a:latin typeface="Asana"/>
                <a:ea typeface="Asana"/>
                <a:cs typeface="Asana"/>
              </a:rPr>
              <a:t>CURRENT BUILD</a:t>
            </a:r>
            <a:endParaRPr sz="600" b="1">
              <a:latin typeface="Asana"/>
              <a:cs typeface="Asana"/>
            </a:endParaRPr>
          </a:p>
        </p:txBody>
      </p:sp>
      <p:sp>
        <p:nvSpPr>
          <p:cNvPr id="337650693" name="Text 44"/>
          <p:cNvSpPr/>
          <p:nvPr/>
        </p:nvSpPr>
        <p:spPr bwMode="auto">
          <a:xfrm>
            <a:off x="2331720" y="5193792"/>
            <a:ext cx="8229600" cy="310896"/>
          </a:xfrm>
          <a:prstGeom prst="rect">
            <a:avLst/>
          </a:prstGeom>
          <a:noFill/>
          <a:ln/>
        </p:spPr>
        <p:txBody>
          <a:bodyPr wrap="square" lIns="254" tIns="254" rIns="254" bIns="254" rtlCol="0" anchor="t">
            <a:normAutofit/>
          </a:bodyPr>
          <a:lstStyle/>
          <a:p>
            <a:pPr marL="0" indent="0" algn="l">
              <a:buNone/>
              <a:defRPr/>
            </a:pPr>
            <a:r>
              <a:rPr lang="en-US" sz="900" b="0">
                <a:solidFill>
                  <a:srgbClr val="0D1B21"/>
                </a:solidFill>
                <a:latin typeface="Asana"/>
                <a:ea typeface="Asana"/>
                <a:cs typeface="Asana"/>
              </a:rPr>
              <a:t>FastAPI physics, MapLibre Asia map, WIaaS workflow, CrisisLens workflow, bilingual chat, neural speech, and structured decision output. The next production step is observability, managed secrets, source health checks, and calibrated regional validation.</a:t>
            </a:r>
            <a:endParaRPr sz="900" b="0">
              <a:latin typeface="Asana"/>
              <a:cs typeface="Asana"/>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fast" p14:dur="500" advClick="1">
        <p:fade thruBlk="0"/>
      </p:transition>
    </mc:Choice>
    <mc:Fallback>
      <p:transition spd="fast" advClick="1">
        <p:fade thruBlk="0"/>
      </p:transition>
    </mc:Fallback>
  </mc:AlternateContent>
</p:sld>
</file>

<file path=ppt/theme/_rels/theme1.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Arial"/>
        <a:cs typeface="Arial"/>
      </a:majorFont>
      <a:minorFont>
        <a:latin typeface="Arial Narrow"/>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ONLYOFFICE/9.4.0.129</Application>
  <PresentationFormat>On-screen Show (4:3)</PresentationFormat>
  <Paragraphs>0</Paragraphs>
  <Slides>12</Slides>
  <Notes>12</Notes>
  <HiddenSlides>0</HiddenSlides>
  <MMClips>2</MMClips>
  <ScaleCrop>0</ScaleCrop>
  <HeadingPairs>
    <vt:vector size="4" baseType="variant">
      <vt:variant>
        <vt:lpstr>Theme</vt:lpstr>
      </vt:variant>
      <vt:variant>
        <vt:i4>1</vt:i4>
      </vt:variant>
      <vt:variant>
        <vt:lpstr>Slide Titles</vt:lpstr>
      </vt:variant>
      <vt:variant>
        <vt:i4>12</vt:i4>
      </vt:variant>
    </vt:vector>
  </HeadingPairs>
  <TitlesOfParts>
    <vt:vector size="13"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Developed with Qoder + n8n orchestration</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WIaaS Asia Field Atlas</dc:title>
  <dc:subject>WIaaS Asia Alibaba Hackathon Pitch Deck</dc:subject>
  <dc:creator>Muhammad Abdullah</dc:creator>
  <cp:lastModifiedBy/>
  <cp:revision>2</cp:revision>
  <dcterms:created xsi:type="dcterms:W3CDTF">2026-09-05T10:51:54Z</dcterms:created>
  <dcterms:modified xsi:type="dcterms:W3CDTF">2026-09-05T11:39:28Z</dcterms:modified>
</cp:coreProperties>
</file>